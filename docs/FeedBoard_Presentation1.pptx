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78" r:id="rId5"/>
    <p:sldId id="259" r:id="rId6"/>
    <p:sldId id="279" r:id="rId7"/>
    <p:sldId id="262" r:id="rId8"/>
    <p:sldId id="260" r:id="rId9"/>
    <p:sldId id="261" r:id="rId10"/>
    <p:sldId id="265" r:id="rId11"/>
    <p:sldId id="271" r:id="rId12"/>
    <p:sldId id="272" r:id="rId13"/>
    <p:sldId id="277" r:id="rId14"/>
    <p:sldId id="263" r:id="rId15"/>
    <p:sldId id="267" r:id="rId16"/>
    <p:sldId id="270" r:id="rId17"/>
    <p:sldId id="274" r:id="rId18"/>
    <p:sldId id="273" r:id="rId19"/>
    <p:sldId id="264" r:id="rId20"/>
    <p:sldId id="266" r:id="rId21"/>
    <p:sldId id="275" r:id="rId22"/>
  </p:sldIdLst>
  <p:sldSz cx="12192000" cy="6858000"/>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958"/>
    <p:restoredTop sz="94742"/>
  </p:normalViewPr>
  <p:slideViewPr>
    <p:cSldViewPr snapToGrid="0" snapToObjects="1">
      <p:cViewPr varScale="1">
        <p:scale>
          <a:sx n="138" d="100"/>
          <a:sy n="138" d="100"/>
        </p:scale>
        <p:origin x="192" y="10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SLIDE 1: FeedBoard</a:t>
            </a:r>
          </a:p>
          <a:p>
            <a:r>
              <a:rPr dirty="0"/>
              <a:t>PRESENTATION CUE: Point to the FeedBoard welcome screen rather than reading the title.</a:t>
            </a:r>
          </a:p>
          <a:p>
            <a:endParaRPr dirty="0"/>
          </a:p>
          <a:p>
            <a:r>
              <a:rPr dirty="0"/>
              <a:t>FeedBoard is a website I built for planning grazing and checking feed availability. The idea comes from the paddock whiteboards used on farms. My goal is to keep the familiar information, like the morning and afternoon breaks, while making the calculations easier to update. I will show the farming problem, the design, the frontend and backend, what I have tested, and what still needs to happen before the website goes live.</a:t>
            </a:r>
          </a:p>
          <a:p>
            <a:endParaRPr dirty="0"/>
          </a:p>
          <a:p>
            <a:r>
              <a:rPr dirty="0"/>
              <a:t>EVIDENCE / FILES: First </a:t>
            </a:r>
            <a:r>
              <a:rPr dirty="0" err="1"/>
              <a:t>Page.png</a:t>
            </a:r>
            <a:r>
              <a:rPr dirty="0"/>
              <a:t>; FeedBoard project source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SLIDE 2: What is a grazing break?</a:t>
            </a:r>
          </a:p>
          <a:p>
            <a:r>
              <a:rPr dirty="0"/>
              <a:t>PRESENTATION CUE: Use the cartoon as a visual explanation before discussing the planner screen.</a:t>
            </a:r>
          </a:p>
          <a:p>
            <a:endParaRPr dirty="0"/>
          </a:p>
          <a:p>
            <a:r>
              <a:rPr dirty="0"/>
              <a:t>A paddock is a field, but the herd does not always graze the whole field at once. A grazing break is the section available until the next move. The diagram shows paddock one divided into an AM break, a PM break and another AM break. FeedBoard calculates an area for each break and continues into the next paddock when there is not enough area left. This matters because the website is not just choosing paddock names: it is allocating how much land the herd needs.</a:t>
            </a:r>
          </a:p>
          <a:p>
            <a:endParaRPr dirty="0"/>
          </a:p>
          <a:p>
            <a:r>
              <a:rPr dirty="0"/>
              <a:t>EVIDENCE / FILES: Cartoon Break </a:t>
            </a:r>
            <a:r>
              <a:rPr dirty="0" err="1"/>
              <a:t>example.png</a:t>
            </a:r>
            <a:r>
              <a:rPr dirty="0"/>
              <a:t>; </a:t>
            </a:r>
            <a:r>
              <a:rPr dirty="0" err="1"/>
              <a:t>calculatePaddockPlan.js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SLIDE 3: How grazing is planned now</a:t>
            </a:r>
          </a:p>
          <a:p>
            <a:r>
              <a:rPr dirty="0"/>
              <a:t>PRESENTATION CUE: Show the whiteboard photo and describe what its rows and columns mean.</a:t>
            </a:r>
          </a:p>
          <a:p>
            <a:endParaRPr dirty="0"/>
          </a:p>
          <a:p>
            <a:r>
              <a:rPr dirty="0"/>
              <a:t>This photo shows the sort of whiteboard used to plan grazing. A farmer can see which paddock each herd is moving to, on what day, and whether it is a morning or afternoon break. It works, but the numbers are entered manually. If the herd size or round length changes, someone has to work through the plan and feed figures again. I am not claiming measured time savings yet; the benefit FeedBoard is designed to provide is a clearer plan with less repeated manual work.</a:t>
            </a:r>
          </a:p>
          <a:p>
            <a:endParaRPr dirty="0"/>
          </a:p>
          <a:p>
            <a:r>
              <a:rPr dirty="0"/>
              <a:t>EVIDENCE / FILES: Photo of what farmers are currently doing instead of FeedBoard (whiteboard).jpeg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2AFAA-3463-7AA3-4CF2-D28B469803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0F659-A92E-A9B7-B95F-C5780B799B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CB7B3B1-E5C6-C400-3414-591375D13AC3}"/>
              </a:ext>
            </a:extLst>
          </p:cNvPr>
          <p:cNvSpPr>
            <a:spLocks noGrp="1"/>
          </p:cNvSpPr>
          <p:nvPr>
            <p:ph type="body" idx="1"/>
          </p:nvPr>
        </p:nvSpPr>
        <p:spPr/>
        <p:txBody>
          <a:bodyPr/>
          <a:lstStyle/>
          <a:p>
            <a:r>
              <a:rPr dirty="0"/>
              <a:t>SLIDE 2: What is a grazing break?</a:t>
            </a:r>
          </a:p>
          <a:p>
            <a:r>
              <a:rPr dirty="0"/>
              <a:t>PRESENTATION CUE: Use the cartoon as a visual explanation before discussing the planner screen.</a:t>
            </a:r>
          </a:p>
          <a:p>
            <a:endParaRPr dirty="0"/>
          </a:p>
          <a:p>
            <a:r>
              <a:rPr dirty="0"/>
              <a:t>A paddock is a field, but the herd does not always graze the whole field at once. A grazing break is the section available until the next move. The diagram shows paddock one divided into an AM break, a PM break and another AM break. FeedBoard calculates an area for each break and continues into the next paddock when there is not enough area left. This matters because the website is not just choosing paddock names: it is allocating how much land the herd needs.</a:t>
            </a:r>
          </a:p>
          <a:p>
            <a:endParaRPr dirty="0"/>
          </a:p>
          <a:p>
            <a:r>
              <a:rPr dirty="0"/>
              <a:t>EVIDENCE / FILES: Cartoon Break </a:t>
            </a:r>
            <a:r>
              <a:rPr dirty="0" err="1"/>
              <a:t>example.png</a:t>
            </a:r>
            <a:r>
              <a:rPr dirty="0"/>
              <a:t>; </a:t>
            </a:r>
            <a:r>
              <a:rPr dirty="0" err="1"/>
              <a:t>calculatePaddockPlan.js</a:t>
            </a:r>
            <a:endParaRPr dirty="0"/>
          </a:p>
        </p:txBody>
      </p:sp>
      <p:sp>
        <p:nvSpPr>
          <p:cNvPr id="4" name="Slide Number Placeholder 3">
            <a:extLst>
              <a:ext uri="{FF2B5EF4-FFF2-40B4-BE49-F238E27FC236}">
                <a16:creationId xmlns:a16="http://schemas.microsoft.com/office/drawing/2014/main" id="{616D1522-4BF2-3F7C-B63B-BD94495D612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5870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SLIDE 4: Who needs the information?</a:t>
            </a:r>
          </a:p>
          <a:p>
            <a:r>
              <a:t>PRESENTATION CUE: Point to each role and explain its different view of the same farm plan.</a:t>
            </a:r>
          </a:p>
          <a:p>
            <a:endParaRPr/>
          </a:p>
          <a:p>
            <a:r>
              <a:t>The intended users are farm managers, staff and owners. Managers are responsible for planning and need to adjust the paddock order and see feed figures. Staff need to understand where animals should go for each break, and owners benefit from a simple view of the plan. These needs were shaped around the existing farm workflow and the inputs the calculations require. Formal user testing and feedback are still next steps, so I would not present those as completed stakeholder interviews. At this stage each account has one farm, rather than separate staff permissions.</a:t>
            </a:r>
          </a:p>
          <a:p>
            <a:endParaRPr/>
          </a:p>
          <a:p>
            <a:r>
              <a:t>EVIDENCE / FILES: Whiteboard photo; FarmInfoPage.jsx; PlannerPage.jsx; MySQL schema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E2DAF-272A-D2E6-5E7C-B42443FB2C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E6C2AC-338C-7CB0-42E1-2904016DFB1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6E744B0-1DA6-5E90-639E-5FF61D564640}"/>
              </a:ext>
            </a:extLst>
          </p:cNvPr>
          <p:cNvSpPr>
            <a:spLocks noGrp="1"/>
          </p:cNvSpPr>
          <p:nvPr>
            <p:ph type="body" idx="1"/>
          </p:nvPr>
        </p:nvSpPr>
        <p:spPr/>
        <p:txBody>
          <a:bodyPr/>
          <a:lstStyle/>
          <a:p>
            <a:r>
              <a:rPr dirty="0"/>
              <a:t>SLIDE 2: What is a grazing break?</a:t>
            </a:r>
          </a:p>
          <a:p>
            <a:r>
              <a:rPr dirty="0"/>
              <a:t>PRESENTATION CUE: Use the cartoon as a visual explanation before discussing the planner screen.</a:t>
            </a:r>
          </a:p>
          <a:p>
            <a:endParaRPr dirty="0"/>
          </a:p>
          <a:p>
            <a:r>
              <a:rPr dirty="0"/>
              <a:t>A paddock is a field, but the herd does not always graze the whole field at once. A grazing break is the section available until the next move. The diagram shows paddock one divided into an AM break, a PM break and another AM break. FeedBoard calculates an area for each break and continues into the next paddock when there is not enough area left. This matters because the website is not just choosing paddock names: it is allocating how much land the herd needs.</a:t>
            </a:r>
          </a:p>
          <a:p>
            <a:endParaRPr dirty="0"/>
          </a:p>
          <a:p>
            <a:r>
              <a:rPr dirty="0"/>
              <a:t>EVIDENCE / FILES: Cartoon Break </a:t>
            </a:r>
            <a:r>
              <a:rPr dirty="0" err="1"/>
              <a:t>example.png</a:t>
            </a:r>
            <a:r>
              <a:rPr dirty="0"/>
              <a:t>; </a:t>
            </a:r>
            <a:r>
              <a:rPr dirty="0" err="1"/>
              <a:t>calculatePaddockPlan.js</a:t>
            </a:r>
            <a:endParaRPr dirty="0"/>
          </a:p>
        </p:txBody>
      </p:sp>
      <p:sp>
        <p:nvSpPr>
          <p:cNvPr id="4" name="Slide Number Placeholder 3">
            <a:extLst>
              <a:ext uri="{FF2B5EF4-FFF2-40B4-BE49-F238E27FC236}">
                <a16:creationId xmlns:a16="http://schemas.microsoft.com/office/drawing/2014/main" id="{549AE60A-819C-D26C-FD54-FA6E1C636A6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623019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SLIDE 7: UI design and reusable components</a:t>
            </a:r>
          </a:p>
          <a:p>
            <a:r>
              <a:rPr dirty="0"/>
              <a:t>PRESENTATION CUE: Point out that the button </a:t>
            </a:r>
            <a:r>
              <a:rPr dirty="0" err="1"/>
              <a:t>colours</a:t>
            </a:r>
            <a:r>
              <a:rPr dirty="0"/>
              <a:t> and forms stay the same across different pages.</a:t>
            </a:r>
          </a:p>
          <a:p>
            <a:endParaRPr dirty="0"/>
          </a:p>
          <a:p>
            <a:r>
              <a:rPr dirty="0"/>
              <a:t>I first worked through the layout and visual style using Figma, then built the interface in React, Vite and Tailwind. A lot of the site is made from reusable components: the same buttons, cards, form inputs and notices are used in setup, Farm Information and the planner. That makes the design consistent and makes it easier to update a component without rewriting every page. I aimed for clear labels, sensible spacing and a familiar whiteboard-style planning view.</a:t>
            </a:r>
          </a:p>
          <a:p>
            <a:endParaRPr dirty="0"/>
          </a:p>
          <a:p>
            <a:r>
              <a:rPr dirty="0"/>
              <a:t>EVIDENCE / FILES: </a:t>
            </a:r>
            <a:r>
              <a:rPr dirty="0" err="1"/>
              <a:t>Buttons.png</a:t>
            </a:r>
            <a:r>
              <a:rPr dirty="0"/>
              <a:t>; </a:t>
            </a:r>
            <a:r>
              <a:rPr dirty="0" err="1"/>
              <a:t>Cards.png</a:t>
            </a:r>
            <a:r>
              <a:rPr dirty="0"/>
              <a:t>; </a:t>
            </a:r>
            <a:r>
              <a:rPr dirty="0" err="1"/>
              <a:t>Notices.png</a:t>
            </a:r>
            <a:r>
              <a:rPr dirty="0"/>
              <a:t>; ui/src/components/</a:t>
            </a:r>
            <a:r>
              <a:rPr dirty="0" err="1"/>
              <a:t>primaryUI</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SLIDE 5: User stories</a:t>
            </a:r>
          </a:p>
          <a:p>
            <a:r>
              <a:rPr dirty="0"/>
              <a:t>PRESENTATION CUE: The screenshot is the full set of ten stories; talk through only the four examples on the right.</a:t>
            </a:r>
          </a:p>
          <a:p>
            <a:endParaRPr dirty="0"/>
          </a:p>
          <a:p>
            <a:r>
              <a:rPr dirty="0"/>
              <a:t>I wrote user stories to turn the farming requirements into tasks the website had to perform. The high-priority stories cover setting up a farm, managing herds and paddocks, producing a grazing plan, working out feed availability, and saving changes. Weather is a medium-priority feature because it adds context but does not drive the calculations. I have put the full set of ten stories on the slide, but I would focus on these four because they describe the main user journey.</a:t>
            </a:r>
          </a:p>
          <a:p>
            <a:endParaRPr dirty="0"/>
          </a:p>
          <a:p>
            <a:r>
              <a:rPr dirty="0"/>
              <a:t>EVIDENCE / FILES: User </a:t>
            </a:r>
            <a:r>
              <a:rPr dirty="0" err="1"/>
              <a:t>story.png</a:t>
            </a:r>
            <a:r>
              <a:rPr dirty="0"/>
              <a:t>; FeedBoard user story 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User journey</a:t>
            </a:r>
          </a:p>
          <a:p>
            <a:endParaRPr dirty="0"/>
          </a:p>
          <a:p>
            <a:r>
              <a:rPr dirty="0"/>
              <a:t>A new farmer starts on the welcome page, creates an account or signs in, and completes the farm setup. Setup gathers targets, move times, herds and paddocks. Once setup is complete, the farmer can edit Farm Information and use the planner to review breaks and grazing order. An existing account with a saved farm loads that information after login.</a:t>
            </a:r>
          </a:p>
          <a:p>
            <a:endParaRPr dirty="0"/>
          </a:p>
          <a:p>
            <a:r>
              <a:rPr dirty="0"/>
              <a:t>This slide describes what the farmer sees. The Delivery section shows the underlying folder-level request and response path.</a:t>
            </a:r>
          </a:p>
          <a:p>
            <a:endParaRPr dirty="0"/>
          </a:p>
          <a:p>
            <a:r>
              <a:rPr dirty="0"/>
              <a:t>CODE REFERENCES: ui/src/</a:t>
            </a:r>
            <a:r>
              <a:rPr dirty="0" err="1"/>
              <a:t>App.jsx</a:t>
            </a:r>
            <a:r>
              <a:rPr dirty="0"/>
              <a:t>; ui/src/components/</a:t>
            </a:r>
            <a:r>
              <a:rPr dirty="0" err="1"/>
              <a:t>Workspace.jsx</a:t>
            </a:r>
            <a:r>
              <a:rPr dirty="0"/>
              <a:t>; ui/src/pages/Auth; ui/src/pages/Setup; ui/src/pages/</a:t>
            </a:r>
            <a:r>
              <a:rPr dirty="0" err="1"/>
              <a:t>FarmInfo</a:t>
            </a:r>
            <a:r>
              <a:rPr dirty="0"/>
              <a:t>; ui/src/pages/Planner.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Project planning</a:t>
            </a:r>
          </a:p>
          <a:p>
            <a:endParaRPr/>
          </a:p>
          <a:p>
            <a:r>
              <a:t>I broke the project into planning and research, interface design, frontend development, calculations, backend and database work, testing and documentation. The two checklist images show that breakdown. Separating calculations and shared components made it possible to work on and check each part.</a:t>
            </a:r>
          </a:p>
          <a:p>
            <a:endParaRPr/>
          </a:p>
          <a:p>
            <a:r>
              <a:t>The main implementation areas are visible in the current website. Remaining work includes completing the README and Git evidence, extending and documenting testing, and preparing production hosting. No measured time totals or completed Git milestones are claimed by this checklist.</a:t>
            </a:r>
          </a:p>
          <a:p>
            <a:endParaRPr/>
          </a:p>
          <a:p>
            <a:r>
              <a:t>EVIDENCE: both supplied development checklist images and the project source.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SLIDE 16: Frontend structure</a:t>
            </a:r>
          </a:p>
          <a:p>
            <a:r>
              <a:rPr dirty="0"/>
              <a:t>PRESENTATION CUE: Point to the actual folders shown in the VS Code screenshot.</a:t>
            </a:r>
          </a:p>
          <a:p>
            <a:endParaRPr dirty="0"/>
          </a:p>
          <a:p>
            <a:r>
              <a:rPr dirty="0"/>
              <a:t>This is the structure of the frontend. The pages folder contains the main screens. Components are split between general-purpose controls such as cards and buttons, and feature components for authentication, farm information and planning. Hooks manage React data and interactions. Services handle API calls and related </a:t>
            </a:r>
            <a:r>
              <a:rPr dirty="0" err="1"/>
              <a:t>behaviour</a:t>
            </a:r>
            <a:r>
              <a:rPr dirty="0"/>
              <a:t>, so the components do not each have to duplicate that code. There are also utilities and tests. This separation made it possible to update the website while keeping the calculations and shared UI easier to maintain.</a:t>
            </a:r>
          </a:p>
          <a:p>
            <a:endParaRPr dirty="0"/>
          </a:p>
          <a:p>
            <a:r>
              <a:rPr dirty="0"/>
              <a:t>EVIDENCE / FILES: ui </a:t>
            </a:r>
            <a:r>
              <a:rPr dirty="0" err="1"/>
              <a:t>structure.png</a:t>
            </a:r>
            <a:r>
              <a:rPr dirty="0"/>
              <a:t>; ui/src/pages; ui/src/components; ui/src/hooks; ui/src/services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SLIDE 17: Backend structure</a:t>
            </a:r>
          </a:p>
          <a:p>
            <a:r>
              <a:t>PRESENTATION CUE: Describe the path of a request and show where the code lives.</a:t>
            </a:r>
          </a:p>
          <a:p>
            <a:endParaRPr/>
          </a:p>
          <a:p>
            <a:r>
              <a:t>I organised the Express backend with routes, controllers, models, middleware, services, calculations, SQL and tests. Routes decide which controller handles a request. Controllers manage the HTTP request and response. Models perform database work, including transactions, and the calculation modules keep the farming maths separate. Middleware handles common tasks such as authentication, validation, request limits and error responses. It is an MVC-style structure; I used functions and modules rather than adding classes where they did not add value.</a:t>
            </a:r>
          </a:p>
          <a:p>
            <a:endParaRPr/>
          </a:p>
          <a:p>
            <a:r>
              <a:t>EVIDENCE / FILES: backend structure.png; backend/routes; backend/controllers; backend/models; backend/middleware; backend/calculations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0F1B4-1975-ED1F-B46F-C2F3365E45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A85408-7D60-B8A2-841D-EC8E51A9E0C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3BD16C6-063A-4153-3EB7-EEE58AEAEDD2}"/>
              </a:ext>
            </a:extLst>
          </p:cNvPr>
          <p:cNvSpPr>
            <a:spLocks noGrp="1"/>
          </p:cNvSpPr>
          <p:nvPr>
            <p:ph type="body" idx="1"/>
          </p:nvPr>
        </p:nvSpPr>
        <p:spPr/>
        <p:txBody>
          <a:bodyPr/>
          <a:lstStyle/>
          <a:p>
            <a:r>
              <a:rPr dirty="0"/>
              <a:t>SLIDE 7: UI design and reusable components</a:t>
            </a:r>
          </a:p>
          <a:p>
            <a:r>
              <a:rPr dirty="0"/>
              <a:t>PRESENTATION CUE: Point out that the button </a:t>
            </a:r>
            <a:r>
              <a:rPr dirty="0" err="1"/>
              <a:t>colours</a:t>
            </a:r>
            <a:r>
              <a:rPr dirty="0"/>
              <a:t> and forms stay the same across different pages.</a:t>
            </a:r>
          </a:p>
          <a:p>
            <a:endParaRPr dirty="0"/>
          </a:p>
          <a:p>
            <a:r>
              <a:rPr dirty="0"/>
              <a:t>I first worked through the layout and visual style using Figma, then built the interface in React, Vite and Tailwind. A lot of the site is made from reusable components: the same buttons, cards, form inputs and notices are used in setup, Farm Information and the planner. That makes the design consistent and makes it easier to update a component without rewriting every page. I aimed for clear labels, sensible spacing and a familiar whiteboard-style planning view.</a:t>
            </a:r>
          </a:p>
          <a:p>
            <a:endParaRPr dirty="0"/>
          </a:p>
          <a:p>
            <a:r>
              <a:rPr dirty="0"/>
              <a:t>EVIDENCE / FILES: </a:t>
            </a:r>
            <a:r>
              <a:rPr dirty="0" err="1"/>
              <a:t>Buttons.png</a:t>
            </a:r>
            <a:r>
              <a:rPr dirty="0"/>
              <a:t>; </a:t>
            </a:r>
            <a:r>
              <a:rPr dirty="0" err="1"/>
              <a:t>Cards.png</a:t>
            </a:r>
            <a:r>
              <a:rPr dirty="0"/>
              <a:t>; </a:t>
            </a:r>
            <a:r>
              <a:rPr dirty="0" err="1"/>
              <a:t>Notices.png</a:t>
            </a:r>
            <a:r>
              <a:rPr dirty="0"/>
              <a:t>; ui/src/components/</a:t>
            </a:r>
            <a:r>
              <a:rPr dirty="0" err="1"/>
              <a:t>primaryUI</a:t>
            </a:r>
            <a:endParaRPr dirty="0"/>
          </a:p>
        </p:txBody>
      </p:sp>
      <p:sp>
        <p:nvSpPr>
          <p:cNvPr id="4" name="Slide Number Placeholder 3">
            <a:extLst>
              <a:ext uri="{FF2B5EF4-FFF2-40B4-BE49-F238E27FC236}">
                <a16:creationId xmlns:a16="http://schemas.microsoft.com/office/drawing/2014/main" id="{49A76CAD-E9EF-A7C3-4900-5845C53FD61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0176047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Security requirements</a:t>
            </a:r>
          </a:p>
          <a:p>
            <a:r>
              <a:rPr dirty="0"/>
              <a:t>PRESENTATION CUE: Explain that these protections are implemented in different parts of the backend and work together. You do not need to read all six cards.</a:t>
            </a:r>
          </a:p>
          <a:p>
            <a:endParaRPr dirty="0"/>
          </a:p>
          <a:p>
            <a:r>
              <a:rPr dirty="0"/>
              <a:t>Argon2id passwords: backend/controllers/</a:t>
            </a:r>
            <a:r>
              <a:rPr dirty="0" err="1"/>
              <a:t>authController.js</a:t>
            </a:r>
            <a:r>
              <a:rPr dirty="0"/>
              <a:t> imports the argon2 package and sets type to argon2.argon2id. At registration, it calls argon2.hash(password, </a:t>
            </a:r>
            <a:r>
              <a:rPr dirty="0" err="1"/>
              <a:t>hashOptions</a:t>
            </a:r>
            <a:r>
              <a:rPr dirty="0"/>
              <a:t>), then </a:t>
            </a:r>
            <a:r>
              <a:rPr dirty="0" err="1"/>
              <a:t>userModel</a:t>
            </a:r>
            <a:r>
              <a:rPr dirty="0"/>
              <a:t> stores only </a:t>
            </a:r>
            <a:r>
              <a:rPr dirty="0" err="1"/>
              <a:t>password_hash</a:t>
            </a:r>
            <a:r>
              <a:rPr dirty="0"/>
              <a:t> in MySQL. At login, argon2.verify compares the submitted password with that stored hash. Argon2id is a deliberately slow, memory-hard password algorithm, unlike general-purpose SHA-256.</a:t>
            </a:r>
          </a:p>
          <a:p>
            <a:endParaRPr dirty="0"/>
          </a:p>
          <a:p>
            <a:r>
              <a:rPr dirty="0"/>
              <a:t>Secure sessions: backend/config/</a:t>
            </a:r>
            <a:r>
              <a:rPr dirty="0" err="1"/>
              <a:t>session.js</a:t>
            </a:r>
            <a:r>
              <a:rPr dirty="0"/>
              <a:t> uses express-session and express-</a:t>
            </a:r>
            <a:r>
              <a:rPr dirty="0" err="1"/>
              <a:t>mysql</a:t>
            </a:r>
            <a:r>
              <a:rPr dirty="0"/>
              <a:t>-session with the MySQL sessions table. The browser receives a session cookie marked </a:t>
            </a:r>
            <a:r>
              <a:rPr dirty="0" err="1"/>
              <a:t>HttpOnly</a:t>
            </a:r>
            <a:r>
              <a:rPr dirty="0"/>
              <a:t> and </a:t>
            </a:r>
            <a:r>
              <a:rPr dirty="0" err="1"/>
              <a:t>SameSite</a:t>
            </a:r>
            <a:r>
              <a:rPr dirty="0"/>
              <a:t>=Lax; Secure is enabled in production. Successful login in </a:t>
            </a:r>
            <a:r>
              <a:rPr dirty="0" err="1"/>
              <a:t>authController.js</a:t>
            </a:r>
            <a:r>
              <a:rPr dirty="0"/>
              <a:t> regenerates the session ID and stores the user ID and authentication time. backend/middleware/</a:t>
            </a:r>
            <a:r>
              <a:rPr dirty="0" err="1"/>
              <a:t>middleware.js</a:t>
            </a:r>
            <a:r>
              <a:rPr dirty="0"/>
              <a:t> enforces an eight-hour absolute limit from login. This is not an eight-hour inactivity timer.</a:t>
            </a:r>
          </a:p>
          <a:p>
            <a:endParaRPr dirty="0"/>
          </a:p>
          <a:p>
            <a:r>
              <a:rPr dirty="0"/>
              <a:t>Helmet: backend/</a:t>
            </a:r>
            <a:r>
              <a:rPr dirty="0" err="1"/>
              <a:t>server.js</a:t>
            </a:r>
            <a:r>
              <a:rPr dirty="0"/>
              <a:t> calls </a:t>
            </a:r>
            <a:r>
              <a:rPr dirty="0" err="1"/>
              <a:t>app.use</a:t>
            </a:r>
            <a:r>
              <a:rPr dirty="0"/>
              <a:t>(helmet(...)) to add security-related HTTP response headers, including a Content Security Policy. </a:t>
            </a:r>
            <a:r>
              <a:rPr dirty="0" err="1"/>
              <a:t>upgradeInsecureRequests</a:t>
            </a:r>
            <a:r>
              <a:rPr dirty="0"/>
              <a:t> is disabled for local development. The server also configures CORS and checks the allowed frontend origin. CORS is not authentication; protected API routes still require an authenticated user.</a:t>
            </a:r>
          </a:p>
          <a:p>
            <a:endParaRPr dirty="0"/>
          </a:p>
          <a:p>
            <a:r>
              <a:rPr dirty="0"/>
              <a:t>Express Rate Limit: backend/middleware/</a:t>
            </a:r>
            <a:r>
              <a:rPr dirty="0" err="1"/>
              <a:t>middleware.js</a:t>
            </a:r>
            <a:r>
              <a:rPr dirty="0"/>
              <a:t> configures limits separately: general API 1,200 requests per 15 minutes; account attempts 30 per 15 minutes; email attempts 10 per 15 minutes (successful requests are skipped by this email limiter); weather 30 per minute; calculations 120 per minute per user. It uses the default in-memory store; distributed hosting would need an appropriate shared store.</a:t>
            </a:r>
          </a:p>
          <a:p>
            <a:endParaRPr dirty="0"/>
          </a:p>
          <a:p>
            <a:r>
              <a:rPr dirty="0"/>
              <a:t>CSRF tokens: </a:t>
            </a:r>
            <a:r>
              <a:rPr dirty="0" err="1"/>
              <a:t>middleware.js</a:t>
            </a:r>
            <a:r>
              <a:rPr dirty="0"/>
              <a:t> uses Node's </a:t>
            </a:r>
            <a:r>
              <a:rPr dirty="0" err="1"/>
              <a:t>crypto.randomBytes</a:t>
            </a:r>
            <a:r>
              <a:rPr dirty="0"/>
              <a:t>(32) to generate a random session token. The frontend includes it as X-CSRF-Token on changing requests. </a:t>
            </a:r>
            <a:r>
              <a:rPr dirty="0" err="1"/>
              <a:t>requireCsrf</a:t>
            </a:r>
            <a:r>
              <a:rPr dirty="0"/>
              <a:t> validates the format and uses </a:t>
            </a:r>
            <a:r>
              <a:rPr dirty="0" err="1"/>
              <a:t>crypto.timingSafeEqual</a:t>
            </a:r>
            <a:r>
              <a:rPr dirty="0"/>
              <a:t>() to compare it against the token stored in the session. This helps protect a logged-in farmer against unwanted cross-site writes.</a:t>
            </a:r>
          </a:p>
          <a:p>
            <a:endParaRPr dirty="0"/>
          </a:p>
          <a:p>
            <a:r>
              <a:rPr dirty="0"/>
              <a:t>MySQL2 data integrity: backend/config/</a:t>
            </a:r>
            <a:r>
              <a:rPr dirty="0" err="1"/>
              <a:t>db.js</a:t>
            </a:r>
            <a:r>
              <a:rPr dirty="0"/>
              <a:t> uses mysql2/promise for pooled connections and </a:t>
            </a:r>
            <a:r>
              <a:rPr dirty="0" err="1"/>
              <a:t>parameterised</a:t>
            </a:r>
            <a:r>
              <a:rPr dirty="0"/>
              <a:t> SQL. </a:t>
            </a:r>
            <a:r>
              <a:rPr dirty="0" err="1"/>
              <a:t>farmModel.js</a:t>
            </a:r>
            <a:r>
              <a:rPr dirty="0"/>
              <a:t> starts transactions with </a:t>
            </a:r>
            <a:r>
              <a:rPr dirty="0" err="1"/>
              <a:t>beginTransaction</a:t>
            </a:r>
            <a:r>
              <a:rPr dirty="0"/>
              <a:t>(), uses commit() after successful linked changes and rollback() when an operation fails. Saved farm ID and version checks block stale or mismatched edits. Protected routes also use session user identity to scope records to the current account.</a:t>
            </a:r>
          </a:p>
          <a:p>
            <a:endParaRPr dirty="0"/>
          </a:p>
          <a:p>
            <a:r>
              <a:rPr dirty="0"/>
              <a:t>Production: The local implementation is not by itself proof of production security. FeedBoard still needs correctly configured HTTPS, hosting secrets, backups, monitoring and further testing before deployment. The browser draft is stored locally and is not encrypted; database-at-rest encryption cannot be assumed from the source.</a:t>
            </a:r>
          </a:p>
          <a:p>
            <a:endParaRPr dirty="0"/>
          </a:p>
          <a:p>
            <a:r>
              <a:rPr dirty="0"/>
              <a:t>CODE REFERENCES: backend/</a:t>
            </a:r>
            <a:r>
              <a:rPr dirty="0" err="1"/>
              <a:t>server.js</a:t>
            </a:r>
            <a:r>
              <a:rPr dirty="0"/>
              <a:t>; backend/config/</a:t>
            </a:r>
            <a:r>
              <a:rPr dirty="0" err="1"/>
              <a:t>session.js</a:t>
            </a:r>
            <a:r>
              <a:rPr dirty="0"/>
              <a:t>; backend/controllers/</a:t>
            </a:r>
            <a:r>
              <a:rPr dirty="0" err="1"/>
              <a:t>authController.js</a:t>
            </a:r>
            <a:r>
              <a:rPr dirty="0"/>
              <a:t>; backend/models/</a:t>
            </a:r>
            <a:r>
              <a:rPr dirty="0" err="1"/>
              <a:t>userModel.js</a:t>
            </a:r>
            <a:r>
              <a:rPr dirty="0"/>
              <a:t>; backend/middleware/</a:t>
            </a:r>
            <a:r>
              <a:rPr dirty="0" err="1"/>
              <a:t>middleware.js</a:t>
            </a:r>
            <a:r>
              <a:rPr dirty="0"/>
              <a:t>; backend/config/</a:t>
            </a:r>
            <a:r>
              <a:rPr dirty="0" err="1"/>
              <a:t>db.js</a:t>
            </a:r>
            <a:r>
              <a:rPr dirty="0"/>
              <a:t>; backend/models/</a:t>
            </a:r>
            <a:r>
              <a:rPr dirty="0" err="1"/>
              <a:t>farmModel.js</a:t>
            </a:r>
            <a:r>
              <a:rPr dirty="0"/>
              <a:t>; ui/src/hooks/</a:t>
            </a:r>
            <a:r>
              <a:rPr dirty="0" err="1"/>
              <a:t>useFarmData.js</a:t>
            </a:r>
            <a:r>
              <a:rPr dirty="0"/>
              <a:t>; ui/src/services/</a:t>
            </a:r>
            <a:r>
              <a:rPr dirty="0" err="1"/>
              <a:t>api.js</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Testing and validation</a:t>
            </a:r>
          </a:p>
          <a:p>
            <a:endParaRPr dirty="0"/>
          </a:p>
          <a:p>
            <a:r>
              <a:rPr dirty="0"/>
              <a:t>The screenshots record four frontend unit tests, twenty-three backend tests and thirteen API test entries passing. Node.js provides </a:t>
            </a:r>
            <a:r>
              <a:rPr dirty="0" err="1"/>
              <a:t>node:test</a:t>
            </a:r>
            <a:r>
              <a:rPr dirty="0"/>
              <a:t> for running the tests and </a:t>
            </a:r>
            <a:r>
              <a:rPr dirty="0" err="1"/>
              <a:t>node:assert</a:t>
            </a:r>
            <a:r>
              <a:rPr dirty="0"/>
              <a:t>/strict for checking expected results. The API tests use built-in fetch to make real HTTP requests.</a:t>
            </a:r>
          </a:p>
          <a:p>
            <a:endParaRPr dirty="0"/>
          </a:p>
          <a:p>
            <a:r>
              <a:rPr dirty="0"/>
              <a:t>Frontend unit tests cover paddock importing, validation, linked crop records and browser draft storage. The backend total includes calculation and mutation unit tests plus database persistence tests using an in-memory SQLite database. The API integration suite starts Express and uses a separate MySQL test database. It checks login, saving and loading, resource CRUD, rejected invalid writes, rollback, weather caching and farm deletion/recreation. The thirteen reported entries include the parent test group.</a:t>
            </a:r>
          </a:p>
          <a:p>
            <a:endParaRPr dirty="0"/>
          </a:p>
          <a:p>
            <a:r>
              <a:rPr dirty="0"/>
              <a:t>These are the recorded results, not a claim that every possible user interaction is covered. Additional frontend test files exist in the supplied code and are not represented by the four-test screenshot. The test report should record the cases, expected results, actual results and any remaining gaps. Browser, mobile and farmer scenario testing remain part of release verification.</a:t>
            </a:r>
          </a:p>
          <a:p>
            <a:endParaRPr dirty="0"/>
          </a:p>
          <a:p>
            <a:r>
              <a:rPr dirty="0"/>
              <a:t>COMMANDS: ui: node --test tests/*.</a:t>
            </a:r>
            <a:r>
              <a:rPr dirty="0" err="1"/>
              <a:t>js</a:t>
            </a:r>
            <a:r>
              <a:rPr dirty="0"/>
              <a:t>; backend: </a:t>
            </a:r>
            <a:r>
              <a:rPr dirty="0" err="1"/>
              <a:t>npm</a:t>
            </a:r>
            <a:r>
              <a:rPr dirty="0"/>
              <a:t> test; backend API: </a:t>
            </a:r>
            <a:r>
              <a:rPr dirty="0" err="1"/>
              <a:t>npm</a:t>
            </a:r>
            <a:r>
              <a:rPr dirty="0"/>
              <a:t> run </a:t>
            </a:r>
            <a:r>
              <a:rPr dirty="0" err="1"/>
              <a:t>test:api</a:t>
            </a:r>
            <a:r>
              <a:rPr dirty="0"/>
              <a:t>.</a:t>
            </a:r>
          </a:p>
          <a:p>
            <a:endParaRPr dirty="0"/>
          </a:p>
          <a:p>
            <a:r>
              <a:rPr dirty="0"/>
              <a:t>EVIDENCE: the three supplied test screenshots and ui/tests; backend/tests.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SLIDE 15: Farm information and feed calculations</a:t>
            </a:r>
          </a:p>
          <a:p>
            <a:r>
              <a:rPr dirty="0"/>
              <a:t>PRESENTATION CUE: Explain the farm information cards, then show the crop feed section.</a:t>
            </a:r>
          </a:p>
          <a:p>
            <a:endParaRPr dirty="0"/>
          </a:p>
          <a:p>
            <a:r>
              <a:rPr dirty="0"/>
              <a:t>Farm Information lets the farmer add and edit herds, paddocks and crops. Each herd has animal numbers and a target intake. Paddocks have names, hectares and optionally a herd assignment. Crop records are linked to crop paddocks and include yield, feeding rate, receiving herd and start date. FeedBoard estimates pasture intake per animal and crop contribution, then compares the total with the target intake. Crop days remaining and the finish date are estimates based on the values entered, rather than measured feed on the day.</a:t>
            </a:r>
          </a:p>
          <a:p>
            <a:endParaRPr dirty="0"/>
          </a:p>
          <a:p>
            <a:r>
              <a:rPr dirty="0"/>
              <a:t>EVIDENCE / FILES: Full page farm information (herds).</a:t>
            </a:r>
            <a:r>
              <a:rPr dirty="0" err="1"/>
              <a:t>png</a:t>
            </a:r>
            <a:r>
              <a:rPr dirty="0"/>
              <a:t>; Crop </a:t>
            </a:r>
            <a:r>
              <a:rPr dirty="0" err="1"/>
              <a:t>calculation.png</a:t>
            </a:r>
            <a:r>
              <a:rPr dirty="0"/>
              <a:t>; </a:t>
            </a:r>
            <a:r>
              <a:rPr dirty="0" err="1"/>
              <a:t>calculateFeedMetrics.js</a:t>
            </a:r>
            <a:r>
              <a:rPr dirty="0"/>
              <a:t>; </a:t>
            </a:r>
            <a:r>
              <a:rPr dirty="0" err="1"/>
              <a:t>CropMetric.js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SLIDE 19: MySQL and CRUD</a:t>
            </a:r>
          </a:p>
          <a:p>
            <a:r>
              <a:rPr dirty="0"/>
              <a:t>PRESENTATION CUE: Use the entity diagram to explain relationships, not every column.</a:t>
            </a:r>
          </a:p>
          <a:p>
            <a:endParaRPr dirty="0"/>
          </a:p>
          <a:p>
            <a:r>
              <a:rPr dirty="0"/>
              <a:t>FeedBoard uses MySQL to persist farm information. The tables separate users and farms, herds, paddocks, crops and saved planner queues. The relationships use primary keys and foreign keys. Crop records link to a paddock and a receiving herd, and queues store the paddock order for each herd. The Express API supports create, read, update and delete operations for farm-related records. Mutations are validated and run in transactions so an invalid linked change can be rolled back. The website does not need a Delete Farm button for the backend to support safe farm recreation.</a:t>
            </a:r>
          </a:p>
          <a:p>
            <a:endParaRPr dirty="0"/>
          </a:p>
          <a:p>
            <a:r>
              <a:rPr dirty="0"/>
              <a:t>EVIDENCE / FILES: Entity </a:t>
            </a:r>
            <a:r>
              <a:rPr dirty="0" err="1"/>
              <a:t>diagram.png</a:t>
            </a:r>
            <a:r>
              <a:rPr dirty="0"/>
              <a:t>; backend/</a:t>
            </a:r>
            <a:r>
              <a:rPr dirty="0" err="1"/>
              <a:t>sql</a:t>
            </a:r>
            <a:r>
              <a:rPr dirty="0"/>
              <a:t>/001_initial.sql; </a:t>
            </a:r>
            <a:r>
              <a:rPr dirty="0" err="1"/>
              <a:t>farmModel.js</a:t>
            </a:r>
            <a:r>
              <a:rPr dirty="0"/>
              <a:t>; </a:t>
            </a:r>
            <a:r>
              <a:rPr dirty="0" err="1"/>
              <a:t>farmMutation.js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User and data flow</a:t>
            </a:r>
          </a:p>
          <a:p>
            <a:endParaRPr dirty="0"/>
          </a:p>
          <a:p>
            <a:r>
              <a:rPr dirty="0"/>
              <a:t>This diagram follows a successful save and its response. The user edits a page or component. Workspace shares the </a:t>
            </a:r>
            <a:r>
              <a:rPr dirty="0" err="1"/>
              <a:t>useFarmData</a:t>
            </a:r>
            <a:r>
              <a:rPr dirty="0"/>
              <a:t> hook with the pages. The hook updates local state and writes a browser draft immediately, then schedules valid changes for saving. ui/src/services/</a:t>
            </a:r>
            <a:r>
              <a:rPr dirty="0" err="1"/>
              <a:t>farmChanges.js</a:t>
            </a:r>
            <a:r>
              <a:rPr dirty="0"/>
              <a:t> chooses the relevant resource operation, while ui/src/services/</a:t>
            </a:r>
            <a:r>
              <a:rPr dirty="0" err="1"/>
              <a:t>api.js</a:t>
            </a:r>
            <a:r>
              <a:rPr dirty="0"/>
              <a:t> sends the HTTP request. Initial setup uses POST /</a:t>
            </a:r>
            <a:r>
              <a:rPr dirty="0" err="1"/>
              <a:t>api</a:t>
            </a:r>
            <a:r>
              <a:rPr dirty="0"/>
              <a:t>/farm. Later changes use the relevant POST, PATCH, PUT or DELETE resource route.</a:t>
            </a:r>
          </a:p>
          <a:p>
            <a:endParaRPr dirty="0"/>
          </a:p>
          <a:p>
            <a:r>
              <a:rPr dirty="0"/>
              <a:t>backend/</a:t>
            </a:r>
            <a:r>
              <a:rPr dirty="0" err="1"/>
              <a:t>server.js</a:t>
            </a:r>
            <a:r>
              <a:rPr dirty="0"/>
              <a:t> applies global middleware, including origin checks, rate limits, JSON parsing and sessions. backend/routes/</a:t>
            </a:r>
            <a:r>
              <a:rPr dirty="0" err="1"/>
              <a:t>farmRoute.js</a:t>
            </a:r>
            <a:r>
              <a:rPr dirty="0"/>
              <a:t> matches the endpoint and invokes route-specific backend/middleware checks. backend/controllers/</a:t>
            </a:r>
            <a:r>
              <a:rPr dirty="0" err="1"/>
              <a:t>farmController.js</a:t>
            </a:r>
            <a:r>
              <a:rPr dirty="0"/>
              <a:t> passes the authenticated user ID to the model. backend/models/</a:t>
            </a:r>
            <a:r>
              <a:rPr dirty="0" err="1"/>
              <a:t>farmModel.js</a:t>
            </a:r>
            <a:r>
              <a:rPr dirty="0"/>
              <a:t> checks ownership and the expected farm identity and version. It calls backend/services/</a:t>
            </a:r>
            <a:r>
              <a:rPr dirty="0" err="1"/>
              <a:t>farmMutation.js</a:t>
            </a:r>
            <a:r>
              <a:rPr dirty="0"/>
              <a:t> for resource change rules and uses the database pool from backend/config/</a:t>
            </a:r>
            <a:r>
              <a:rPr dirty="0" err="1"/>
              <a:t>db.js</a:t>
            </a:r>
            <a:r>
              <a:rPr dirty="0"/>
              <a:t> to read and write MySQL inside a transaction. Initial setup follows its own </a:t>
            </a:r>
            <a:r>
              <a:rPr dirty="0" err="1"/>
              <a:t>createFarm</a:t>
            </a:r>
            <a:r>
              <a:rPr dirty="0"/>
              <a:t> function.</a:t>
            </a:r>
          </a:p>
          <a:p>
            <a:endParaRPr dirty="0"/>
          </a:p>
          <a:p>
            <a:r>
              <a:rPr dirty="0"/>
              <a:t>On success, database results return to the model. The model returns the confirmed farm data, farm ID and version to the controller, which sends a JSON response. Frontend services acknowledge the save. The hook checkpoints the returned version and updates the visible state while preserving newer edits. React renders the pages and components, showing saved status to the user. The successful response does not travel backwards through route matching and authentication middleware.</a:t>
            </a:r>
          </a:p>
          <a:p>
            <a:endParaRPr dirty="0"/>
          </a:p>
          <a:p>
            <a:r>
              <a:rPr dirty="0"/>
              <a:t>Loading an existing farm uses GET /</a:t>
            </a:r>
            <a:r>
              <a:rPr dirty="0" err="1"/>
              <a:t>api</a:t>
            </a:r>
            <a:r>
              <a:rPr dirty="0"/>
              <a:t>/farm through the same protected server, route, controller and model layers. The model reads the user's records from MySQL and the response returns through the same frontend layers. Loading does not run the farm mutation service.</a:t>
            </a:r>
          </a:p>
          <a:p>
            <a:endParaRPr dirty="0"/>
          </a:p>
          <a:p>
            <a:r>
              <a:rPr dirty="0"/>
              <a:t>CALCULATIONS ARE A SEPARATE REQUEST: ui/src/hooks/</a:t>
            </a:r>
            <a:r>
              <a:rPr dirty="0" err="1"/>
              <a:t>useFarmCalculations.js</a:t>
            </a:r>
            <a:r>
              <a:rPr dirty="0"/>
              <a:t> calls ui/src/services/</a:t>
            </a:r>
            <a:r>
              <a:rPr dirty="0" err="1"/>
              <a:t>api.js</a:t>
            </a:r>
            <a:r>
              <a:rPr dirty="0"/>
              <a:t>, which posts the current farm draft to /</a:t>
            </a:r>
            <a:r>
              <a:rPr dirty="0" err="1"/>
              <a:t>api</a:t>
            </a:r>
            <a:r>
              <a:rPr dirty="0"/>
              <a:t>/farm/calculate. After route and middleware checks, backend/controllers/</a:t>
            </a:r>
            <a:r>
              <a:rPr dirty="0" err="1"/>
              <a:t>calculationController.js</a:t>
            </a:r>
            <a:r>
              <a:rPr dirty="0"/>
              <a:t> calls backend/calculations. It returns calculated JSON through frontend services and hooks to the active page. This calculation request does not write to MySQL. Weather also uses a separate request through backend/controllers and backend/services/</a:t>
            </a:r>
            <a:r>
              <a:rPr dirty="0" err="1"/>
              <a:t>weatherService.js</a:t>
            </a:r>
            <a:r>
              <a:rPr dirty="0"/>
              <a:t> to MET Norway, with caching.</a:t>
            </a:r>
          </a:p>
          <a:p>
            <a:endParaRPr dirty="0"/>
          </a:p>
          <a:p>
            <a:r>
              <a:rPr dirty="0"/>
              <a:t>CODE REFERENCES: ui/src/components/</a:t>
            </a:r>
            <a:r>
              <a:rPr dirty="0" err="1"/>
              <a:t>Workspace.jsx</a:t>
            </a:r>
            <a:r>
              <a:rPr dirty="0"/>
              <a:t>; ui/src/hooks/</a:t>
            </a:r>
            <a:r>
              <a:rPr dirty="0" err="1"/>
              <a:t>useFarmData.js</a:t>
            </a:r>
            <a:r>
              <a:rPr dirty="0"/>
              <a:t>; ui/src/hooks/</a:t>
            </a:r>
            <a:r>
              <a:rPr dirty="0" err="1"/>
              <a:t>useFarmCalculations.js</a:t>
            </a:r>
            <a:r>
              <a:rPr dirty="0"/>
              <a:t>; ui/src/services/</a:t>
            </a:r>
            <a:r>
              <a:rPr dirty="0" err="1"/>
              <a:t>farmChanges.js</a:t>
            </a:r>
            <a:r>
              <a:rPr dirty="0"/>
              <a:t>; ui/src/services/</a:t>
            </a:r>
            <a:r>
              <a:rPr dirty="0" err="1"/>
              <a:t>api.js</a:t>
            </a:r>
            <a:r>
              <a:rPr dirty="0"/>
              <a:t>; ui/src/services/</a:t>
            </a:r>
            <a:r>
              <a:rPr dirty="0" err="1"/>
              <a:t>draftStorage.js</a:t>
            </a:r>
            <a:r>
              <a:rPr dirty="0"/>
              <a:t>; backend/</a:t>
            </a:r>
            <a:r>
              <a:rPr dirty="0" err="1"/>
              <a:t>server.js</a:t>
            </a:r>
            <a:r>
              <a:rPr dirty="0"/>
              <a:t>; backend/routes/</a:t>
            </a:r>
            <a:r>
              <a:rPr dirty="0" err="1"/>
              <a:t>farmRoute.js</a:t>
            </a:r>
            <a:r>
              <a:rPr dirty="0"/>
              <a:t>; backend/middleware; backend/controllers/</a:t>
            </a:r>
            <a:r>
              <a:rPr dirty="0" err="1"/>
              <a:t>farmController.js</a:t>
            </a:r>
            <a:r>
              <a:rPr dirty="0"/>
              <a:t>; backend/controllers/</a:t>
            </a:r>
            <a:r>
              <a:rPr dirty="0" err="1"/>
              <a:t>calculationController.js</a:t>
            </a:r>
            <a:r>
              <a:rPr dirty="0"/>
              <a:t>; backend/models/</a:t>
            </a:r>
            <a:r>
              <a:rPr dirty="0" err="1"/>
              <a:t>farmModel.js</a:t>
            </a:r>
            <a:r>
              <a:rPr dirty="0"/>
              <a:t>; backend/services/</a:t>
            </a:r>
            <a:r>
              <a:rPr dirty="0" err="1"/>
              <a:t>farmMutation.js</a:t>
            </a:r>
            <a:r>
              <a:rPr dirty="0"/>
              <a:t>; backend/config/</a:t>
            </a:r>
            <a:r>
              <a:rPr dirty="0" err="1"/>
              <a:t>db.js</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README, Git and documentation</a:t>
            </a:r>
          </a:p>
          <a:p>
            <a:endParaRPr dirty="0"/>
          </a:p>
          <a:p>
            <a:r>
              <a:rPr dirty="0"/>
              <a:t>Project materials describe the problem, stakeholders, user stories, screen designs and code structure. A developer also needs clear setup and maintenance instructions.</a:t>
            </a:r>
          </a:p>
          <a:p>
            <a:endParaRPr dirty="0"/>
          </a:p>
          <a:p>
            <a:r>
              <a:rPr dirty="0"/>
              <a:t>The README still needs the FeedBoard description, prerequisites, UI and backend installation steps, environment variable examples, MySQL setup and the commands for development and testing. The README in the supplied project is still the starter template.</a:t>
            </a:r>
          </a:p>
          <a:p>
            <a:endParaRPr dirty="0"/>
          </a:p>
          <a:p>
            <a:r>
              <a:rPr dirty="0"/>
              <a:t>Git evidence should include meaningful commits, the feature branches and their merges, and a tagged release. The slides do not claim these have already been completed because the current repository history has not been verified. Add the actual repository link and evidence when ready.</a:t>
            </a:r>
          </a:p>
          <a:p>
            <a:endParaRPr dirty="0"/>
          </a:p>
          <a:p>
            <a:r>
              <a:rPr dirty="0"/>
              <a:t>EVIDENCE: supplied project </a:t>
            </a:r>
            <a:r>
              <a:rPr dirty="0" err="1"/>
              <a:t>README.md</a:t>
            </a:r>
            <a:r>
              <a:rPr dirty="0"/>
              <a:t>, frontend and backend folder structure, project planning materials.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Planning and next steps</a:t>
            </a:r>
          </a:p>
          <a:p>
            <a:endParaRPr dirty="0"/>
          </a:p>
          <a:p>
            <a:r>
              <a:rPr dirty="0"/>
              <a:t>The next work includes documenting the project, recording Git evidence and completing a testing report. Browser and mobile testing should cover full user journeys, including setup, editing, saving, returning to an existing account and invalid input.</a:t>
            </a:r>
          </a:p>
          <a:p>
            <a:endParaRPr dirty="0"/>
          </a:p>
          <a:p>
            <a:r>
              <a:rPr dirty="0"/>
              <a:t>Future product improvements include shared farm access and more flexible crop-to-herd allocation. These require additional permissions, UI work and regression tests.</a:t>
            </a:r>
          </a:p>
          <a:p>
            <a:endParaRPr dirty="0"/>
          </a:p>
          <a:p>
            <a:r>
              <a:rPr dirty="0"/>
              <a:t>Production preparation includes packaging the app with Docker, configuring AWS hosting and a production MySQL database, and setting up the HTTPS domain. Backups, monitoring and recovery procedures need to be checked before launch. The deployed application should then be tested with farmer feedback.</a:t>
            </a:r>
          </a:p>
          <a:p>
            <a:endParaRPr dirty="0"/>
          </a:p>
          <a:p>
            <a:r>
              <a:rPr dirty="0"/>
              <a:t>These are planned tasks. The supplied code does not establish a completed FeedBoard deployment, a measured effort estimate or a fixed launch date.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SLIDE 20: Conclusion</a:t>
            </a:r>
          </a:p>
          <a:p>
            <a:r>
              <a:rPr dirty="0"/>
              <a:t>PRESENTATION CUE: Return to the main purpose rather than listing every technology again.</a:t>
            </a:r>
          </a:p>
          <a:p>
            <a:endParaRPr dirty="0"/>
          </a:p>
          <a:p>
            <a:r>
              <a:rPr dirty="0"/>
              <a:t>The aim of FeedBoard was to take a familiar farm planning process and make it easier to update. The current application lets a farmer enter farm and herd information, plan the next grazing breaks, and review feed calculations. It has a React frontend, an Express API and MySQL storage, and the unit and API tests shown earlier are passing. It is not a production service yet. My next steps are to finish the developer documentation, test more thoroughly with users and prepare the hosting, backups and deployment. Thank you — I am happy to demonstrate a screen or take questions.</a:t>
            </a:r>
          </a:p>
          <a:p>
            <a:endParaRPr dirty="0"/>
          </a:p>
          <a:p>
            <a:r>
              <a:rPr dirty="0"/>
              <a:t>EVIDENCE / FILES: Today's grazing </a:t>
            </a:r>
            <a:r>
              <a:rPr dirty="0" err="1"/>
              <a:t>card.png</a:t>
            </a:r>
            <a:r>
              <a:rPr dirty="0"/>
              <a:t>; project code and test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4"/>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EC07817-2C33-4C65-A6E9-911287D10190}"/>
              </a:ext>
            </a:extLst>
          </p:cNvPr>
          <p:cNvSpPr>
            <a:spLocks noGrp="1"/>
          </p:cNvSpPr>
          <p:nvPr/>
        </p:nvSpPr>
        <p:spPr>
          <a:xfrm>
            <a:off x="0" y="0"/>
            <a:ext cx="4709160" cy="6858000"/>
          </a:xfrm>
          <a:prstGeom prst="rect">
            <a:avLst/>
          </a:prstGeom>
          <a:solidFill>
            <a:srgbClr val="E5ECDD"/>
          </a:solidFill>
          <a:ln w="12700">
            <a:solidFill>
              <a:srgbClr val="E5ECDD"/>
            </a:solidFill>
            <a:prstDash val="solid"/>
          </a:ln>
        </p:spPr>
        <p:txBody>
          <a:bodyPr/>
          <a:lstStyle/>
          <a:p>
            <a:endParaRPr/>
          </a:p>
        </p:txBody>
      </p:sp>
      <p:pic>
        <p:nvPicPr>
          <p:cNvPr id="3" name="Image 0">
            <a:extLst>
              <a:ext uri="{FF2B5EF4-FFF2-40B4-BE49-F238E27FC236}">
                <a16:creationId xmlns:a16="http://schemas.microsoft.com/office/drawing/2014/main" id="{97324DD3-76CC-4B94-8E80-4DBE64121C56}"/>
              </a:ext>
            </a:extLst>
          </p:cNvPr>
          <p:cNvPicPr>
            <a:picLocks noChangeAspect="1"/>
          </p:cNvPicPr>
          <p:nvPr/>
        </p:nvPicPr>
        <p:blipFill>
          <a:blip r:embed="rId3"/>
          <a:stretch>
            <a:fillRect/>
          </a:stretch>
        </p:blipFill>
        <p:spPr>
          <a:xfrm>
            <a:off x="704088" y="603504"/>
            <a:ext cx="2759570" cy="905256"/>
          </a:xfrm>
          <a:prstGeom prst="rect">
            <a:avLst/>
          </a:prstGeom>
        </p:spPr>
      </p:pic>
      <p:sp>
        <p:nvSpPr>
          <p:cNvPr id="4" name="Text 1">
            <a:extLst>
              <a:ext uri="{FF2B5EF4-FFF2-40B4-BE49-F238E27FC236}">
                <a16:creationId xmlns:a16="http://schemas.microsoft.com/office/drawing/2014/main" id="{8B6F1C48-F9F1-49FC-A56A-DC9DCB51D049}"/>
              </a:ext>
            </a:extLst>
          </p:cNvPr>
          <p:cNvSpPr>
            <a:spLocks noGrp="1"/>
          </p:cNvSpPr>
          <p:nvPr/>
        </p:nvSpPr>
        <p:spPr>
          <a:xfrm>
            <a:off x="704088" y="1920240"/>
            <a:ext cx="3971925" cy="2305050"/>
          </a:xfrm>
          <a:prstGeom prst="rect">
            <a:avLst/>
          </a:prstGeom>
          <a:noFill/>
        </p:spPr>
        <p:txBody>
          <a:bodyPr wrap="square" lIns="0" tIns="0" rIns="0" bIns="0" anchor="t">
            <a:noAutofit/>
          </a:bodyPr>
          <a:lstStyle>
            <a:defPPr algn="l">
              <a:defRPr sz="3162" b="1">
                <a:solidFill>
                  <a:srgbClr val="193F2A"/>
                </a:solidFill>
                <a:latin typeface="Aptos"/>
                <a:ea typeface="Aptos"/>
                <a:cs typeface="Aptos"/>
              </a:defRPr>
            </a:defPPr>
          </a:lstStyle>
          <a:p>
            <a:pPr algn="l">
              <a:defRPr sz="3162" b="1">
                <a:solidFill>
                  <a:srgbClr val="193F2A"/>
                </a:solidFill>
                <a:latin typeface="Aptos"/>
                <a:ea typeface="Aptos"/>
                <a:cs typeface="Aptos"/>
              </a:defRPr>
            </a:pPr>
            <a:r>
              <a:rPr sz="3162" b="1" dirty="0">
                <a:solidFill>
                  <a:srgbClr val="193F2A"/>
                </a:solidFill>
                <a:latin typeface="Aptos"/>
                <a:ea typeface="Aptos"/>
                <a:cs typeface="Aptos"/>
              </a:rPr>
              <a:t>A clearer grazing plan,</a:t>
            </a:r>
            <a:r>
              <a:rPr lang="en-AU" sz="3400" b="1" dirty="0">
                <a:solidFill>
                  <a:srgbClr val="193F2A"/>
                </a:solidFill>
                <a:latin typeface="Aptos"/>
                <a:ea typeface="Aptos"/>
                <a:cs typeface="Aptos"/>
              </a:rPr>
              <a:t> </a:t>
            </a:r>
            <a:r>
              <a:rPr sz="3162" b="1" dirty="0">
                <a:solidFill>
                  <a:srgbClr val="193F2A"/>
                </a:solidFill>
                <a:latin typeface="Aptos"/>
                <a:ea typeface="Aptos"/>
                <a:cs typeface="Aptos"/>
              </a:rPr>
              <a:t>with math's built in.</a:t>
            </a:r>
            <a:endParaRPr sz="3400" dirty="0"/>
          </a:p>
        </p:txBody>
      </p:sp>
      <p:sp>
        <p:nvSpPr>
          <p:cNvPr id="6" name="Shape 3">
            <a:extLst>
              <a:ext uri="{FF2B5EF4-FFF2-40B4-BE49-F238E27FC236}">
                <a16:creationId xmlns:a16="http://schemas.microsoft.com/office/drawing/2014/main" id="{C75BC4F9-47AE-4C69-B45C-5EFE60B9293E}"/>
              </a:ext>
            </a:extLst>
          </p:cNvPr>
          <p:cNvSpPr>
            <a:spLocks noGrp="1"/>
          </p:cNvSpPr>
          <p:nvPr/>
        </p:nvSpPr>
        <p:spPr>
          <a:xfrm>
            <a:off x="731520" y="5696712"/>
            <a:ext cx="2231136" cy="310896"/>
          </a:xfrm>
          <a:prstGeom prst="roundRect">
            <a:avLst>
              <a:gd name="adj" fmla="val 35294"/>
            </a:avLst>
          </a:prstGeom>
          <a:solidFill>
            <a:srgbClr val="FFFFFF"/>
          </a:solidFill>
          <a:ln w="8890">
            <a:solidFill>
              <a:srgbClr val="FFFFFF"/>
            </a:solidFill>
            <a:prstDash val="solid"/>
          </a:ln>
        </p:spPr>
        <p:txBody>
          <a:bodyPr/>
          <a:lstStyle/>
          <a:p>
            <a:endParaRPr/>
          </a:p>
        </p:txBody>
      </p:sp>
      <p:sp>
        <p:nvSpPr>
          <p:cNvPr id="7" name="Text 4">
            <a:extLst>
              <a:ext uri="{FF2B5EF4-FFF2-40B4-BE49-F238E27FC236}">
                <a16:creationId xmlns:a16="http://schemas.microsoft.com/office/drawing/2014/main" id="{A9738A6B-0289-40D5-864B-E9968C78F25B}"/>
              </a:ext>
            </a:extLst>
          </p:cNvPr>
          <p:cNvSpPr>
            <a:spLocks noGrp="1"/>
          </p:cNvSpPr>
          <p:nvPr/>
        </p:nvSpPr>
        <p:spPr>
          <a:xfrm>
            <a:off x="850392" y="5724144"/>
            <a:ext cx="1993392" cy="228600"/>
          </a:xfrm>
          <a:prstGeom prst="rect">
            <a:avLst/>
          </a:prstGeom>
          <a:noFill/>
        </p:spPr>
        <p:txBody>
          <a:bodyPr wrap="square" lIns="0" tIns="0" rIns="0" bIns="0" anchor="ctr">
            <a:normAutofit/>
          </a:bodyPr>
          <a:lstStyle/>
          <a:p>
            <a:pPr marL="0" indent="0">
              <a:buNone/>
            </a:pPr>
            <a:r>
              <a:rPr sz="1200" b="1">
                <a:solidFill>
                  <a:srgbClr val="193F2A"/>
                </a:solidFill>
                <a:latin typeface="Aptos"/>
                <a:ea typeface="Aptos"/>
                <a:cs typeface="Aptos"/>
              </a:rPr>
              <a:t>PROJECT PRESENTATION</a:t>
            </a:r>
            <a:endParaRPr sz="1200"/>
          </a:p>
        </p:txBody>
      </p:sp>
      <p:sp>
        <p:nvSpPr>
          <p:cNvPr id="8" name="Shape 5">
            <a:extLst>
              <a:ext uri="{FF2B5EF4-FFF2-40B4-BE49-F238E27FC236}">
                <a16:creationId xmlns:a16="http://schemas.microsoft.com/office/drawing/2014/main" id="{B787CFEF-CE5C-44E2-9F7D-AB7448374D97}"/>
              </a:ext>
            </a:extLst>
          </p:cNvPr>
          <p:cNvSpPr>
            <a:spLocks noGrp="1"/>
          </p:cNvSpPr>
          <p:nvPr/>
        </p:nvSpPr>
        <p:spPr>
          <a:xfrm>
            <a:off x="5074920" y="630936"/>
            <a:ext cx="6601968" cy="5111496"/>
          </a:xfrm>
          <a:prstGeom prst="roundRect">
            <a:avLst>
              <a:gd name="adj" fmla="val 2434"/>
            </a:avLst>
          </a:prstGeom>
          <a:solidFill>
            <a:srgbClr val="FFFFFF"/>
          </a:solidFill>
          <a:ln w="8890">
            <a:solidFill>
              <a:srgbClr val="D9E2D9"/>
            </a:solidFill>
            <a:prstDash val="solid"/>
          </a:ln>
        </p:spPr>
        <p:txBody>
          <a:bodyPr/>
          <a:lstStyle/>
          <a:p>
            <a:endParaRPr/>
          </a:p>
        </p:txBody>
      </p:sp>
      <p:pic>
        <p:nvPicPr>
          <p:cNvPr id="9" name="Image 1">
            <a:extLst>
              <a:ext uri="{FF2B5EF4-FFF2-40B4-BE49-F238E27FC236}">
                <a16:creationId xmlns:a16="http://schemas.microsoft.com/office/drawing/2014/main" id="{E8D54C96-2BFA-4E3B-A05D-10D56ADC3362}"/>
              </a:ext>
            </a:extLst>
          </p:cNvPr>
          <p:cNvPicPr>
            <a:picLocks noChangeAspect="1"/>
          </p:cNvPicPr>
          <p:nvPr/>
        </p:nvPicPr>
        <p:blipFill>
          <a:blip r:embed="rId4"/>
          <a:stretch>
            <a:fillRect/>
          </a:stretch>
        </p:blipFill>
        <p:spPr>
          <a:xfrm>
            <a:off x="5138928" y="1311488"/>
            <a:ext cx="6473952" cy="3750392"/>
          </a:xfrm>
          <a:prstGeom prst="rect">
            <a:avLst/>
          </a:prstGeom>
        </p:spPr>
      </p:pic>
      <p:sp>
        <p:nvSpPr>
          <p:cNvPr id="10" name="Text 6">
            <a:extLst>
              <a:ext uri="{FF2B5EF4-FFF2-40B4-BE49-F238E27FC236}">
                <a16:creationId xmlns:a16="http://schemas.microsoft.com/office/drawing/2014/main" id="{A835BF6D-B44E-42BA-931B-516FA38B3573}"/>
              </a:ext>
            </a:extLst>
          </p:cNvPr>
          <p:cNvSpPr>
            <a:spLocks noGrp="1"/>
          </p:cNvSpPr>
          <p:nvPr/>
        </p:nvSpPr>
        <p:spPr>
          <a:xfrm>
            <a:off x="5285232" y="5888736"/>
            <a:ext cx="6263640" cy="338328"/>
          </a:xfrm>
          <a:prstGeom prst="rect">
            <a:avLst/>
          </a:prstGeom>
          <a:noFill/>
        </p:spPr>
        <p:txBody>
          <a:bodyPr wrap="square" lIns="0" tIns="0" rIns="0" bIns="0" anchor="ctr">
            <a:normAutofit/>
          </a:bodyPr>
          <a:lstStyle/>
          <a:p>
            <a:pPr marL="0" indent="0">
              <a:buNone/>
            </a:pPr>
            <a:r>
              <a:rPr sz="1400">
                <a:solidFill>
                  <a:srgbClr val="62736A"/>
                </a:solidFill>
                <a:latin typeface="Aptos"/>
                <a:ea typeface="Aptos"/>
                <a:cs typeface="Aptos"/>
              </a:rPr>
              <a:t>An alternative to handwritten paddock plans</a:t>
            </a:r>
            <a:endParaRPr sz="1400"/>
          </a:p>
        </p:txBody>
      </p:sp>
    </p:spTree>
    <p:extLst>
      <p:ext uri="{BB962C8B-B14F-4D97-AF65-F5344CB8AC3E}">
        <p14:creationId xmlns:p14="http://schemas.microsoft.com/office/powerpoint/2010/main" val="723526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4"/>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7F6F14E-4F47-4CA3-AC17-AB12EAFDD511}"/>
              </a:ext>
            </a:extLst>
          </p:cNvPr>
          <p:cNvSpPr>
            <a:spLocks noGrp="1"/>
          </p:cNvSpPr>
          <p:nvPr/>
        </p:nvSpPr>
        <p:spPr>
          <a:xfrm>
            <a:off x="0" y="0"/>
            <a:ext cx="105156" cy="6858000"/>
          </a:xfrm>
          <a:prstGeom prst="rect">
            <a:avLst/>
          </a:prstGeom>
          <a:solidFill>
            <a:srgbClr val="2D7040"/>
          </a:solidFill>
          <a:ln w="12700">
            <a:solidFill>
              <a:srgbClr val="2D7040">
                <a:alpha val="0"/>
              </a:srgbClr>
            </a:solidFill>
            <a:prstDash val="solid"/>
          </a:ln>
        </p:spPr>
        <p:txBody>
          <a:bodyPr/>
          <a:lstStyle/>
          <a:p>
            <a:endParaRPr/>
          </a:p>
        </p:txBody>
      </p:sp>
      <p:sp>
        <p:nvSpPr>
          <p:cNvPr id="4" name="Text 2">
            <a:extLst>
              <a:ext uri="{FF2B5EF4-FFF2-40B4-BE49-F238E27FC236}">
                <a16:creationId xmlns:a16="http://schemas.microsoft.com/office/drawing/2014/main" id="{3340B6FF-EA63-4262-A0FD-56B508678890}"/>
              </a:ext>
            </a:extLst>
          </p:cNvPr>
          <p:cNvSpPr>
            <a:spLocks noGrp="1"/>
          </p:cNvSpPr>
          <p:nvPr/>
        </p:nvSpPr>
        <p:spPr>
          <a:xfrm>
            <a:off x="658368" y="758952"/>
            <a:ext cx="10698480" cy="502920"/>
          </a:xfrm>
          <a:prstGeom prst="rect">
            <a:avLst/>
          </a:prstGeom>
          <a:noFill/>
        </p:spPr>
        <p:txBody>
          <a:bodyPr wrap="square" lIns="0" tIns="0" rIns="0" bIns="0" anchor="ctr">
            <a:normAutofit/>
          </a:bodyPr>
          <a:lstStyle/>
          <a:p>
            <a:pPr marL="0" indent="0">
              <a:buNone/>
            </a:pPr>
            <a:r>
              <a:rPr sz="3000" b="1" dirty="0">
                <a:solidFill>
                  <a:srgbClr val="193F2A"/>
                </a:solidFill>
                <a:latin typeface="Aptos"/>
                <a:ea typeface="Aptos"/>
                <a:cs typeface="Aptos"/>
              </a:rPr>
              <a:t>What is a grazing break?</a:t>
            </a:r>
            <a:endParaRPr sz="3000" dirty="0"/>
          </a:p>
        </p:txBody>
      </p:sp>
      <p:sp>
        <p:nvSpPr>
          <p:cNvPr id="5" name="Text 3">
            <a:extLst>
              <a:ext uri="{FF2B5EF4-FFF2-40B4-BE49-F238E27FC236}">
                <a16:creationId xmlns:a16="http://schemas.microsoft.com/office/drawing/2014/main" id="{02F6AB26-1ABF-4646-B220-15CE5157E13E}"/>
              </a:ext>
            </a:extLst>
          </p:cNvPr>
          <p:cNvSpPr>
            <a:spLocks noGrp="1"/>
          </p:cNvSpPr>
          <p:nvPr/>
        </p:nvSpPr>
        <p:spPr>
          <a:xfrm>
            <a:off x="676656" y="1298448"/>
            <a:ext cx="10424160" cy="292608"/>
          </a:xfrm>
          <a:prstGeom prst="rect">
            <a:avLst/>
          </a:prstGeom>
          <a:noFill/>
        </p:spPr>
        <p:txBody>
          <a:bodyPr wrap="square" lIns="0" tIns="0" rIns="0" bIns="0" anchor="ctr">
            <a:normAutofit/>
          </a:bodyPr>
          <a:lstStyle/>
          <a:p>
            <a:pPr marL="0" indent="0">
              <a:buNone/>
            </a:pPr>
            <a:r>
              <a:rPr sz="1400">
                <a:solidFill>
                  <a:srgbClr val="62736A"/>
                </a:solidFill>
                <a:latin typeface="Aptos"/>
                <a:ea typeface="Aptos"/>
                <a:cs typeface="Aptos"/>
              </a:rPr>
              <a:t>One paddock can be grazed in smaller sections over several moves</a:t>
            </a:r>
            <a:endParaRPr sz="1400"/>
          </a:p>
        </p:txBody>
      </p:sp>
      <p:sp>
        <p:nvSpPr>
          <p:cNvPr id="6" name="Text 4">
            <a:extLst>
              <a:ext uri="{FF2B5EF4-FFF2-40B4-BE49-F238E27FC236}">
                <a16:creationId xmlns:a16="http://schemas.microsoft.com/office/drawing/2014/main" id="{85BD8676-2582-4B72-9008-8D0D96345D81}"/>
              </a:ext>
            </a:extLst>
          </p:cNvPr>
          <p:cNvSpPr>
            <a:spLocks noGrp="1"/>
          </p:cNvSpPr>
          <p:nvPr/>
        </p:nvSpPr>
        <p:spPr>
          <a:xfrm>
            <a:off x="10561320" y="338328"/>
            <a:ext cx="1005840" cy="274320"/>
          </a:xfrm>
          <a:prstGeom prst="rect">
            <a:avLst/>
          </a:prstGeom>
          <a:noFill/>
        </p:spPr>
        <p:txBody>
          <a:bodyPr wrap="square" lIns="0" tIns="0" rIns="0" bIns="0" anchor="ctr">
            <a:normAutofit/>
          </a:bodyPr>
          <a:lstStyle/>
          <a:p>
            <a:pPr marL="0" indent="0" algn="r">
              <a:buNone/>
            </a:pPr>
            <a:r>
              <a:rPr sz="1400" b="1" dirty="0">
                <a:solidFill>
                  <a:srgbClr val="193F2A"/>
                </a:solidFill>
                <a:latin typeface="Aptos"/>
                <a:ea typeface="Aptos"/>
                <a:cs typeface="Aptos"/>
              </a:rPr>
              <a:t>FeedBoard</a:t>
            </a:r>
            <a:endParaRPr sz="1400" dirty="0"/>
          </a:p>
        </p:txBody>
      </p:sp>
      <p:sp>
        <p:nvSpPr>
          <p:cNvPr id="7" name="Shape 5">
            <a:extLst>
              <a:ext uri="{FF2B5EF4-FFF2-40B4-BE49-F238E27FC236}">
                <a16:creationId xmlns:a16="http://schemas.microsoft.com/office/drawing/2014/main" id="{284FDF87-F7CF-47EF-AAB6-EFE9E5492BAD}"/>
              </a:ext>
            </a:extLst>
          </p:cNvPr>
          <p:cNvSpPr>
            <a:spLocks noGrp="1"/>
          </p:cNvSpPr>
          <p:nvPr/>
        </p:nvSpPr>
        <p:spPr>
          <a:xfrm>
            <a:off x="658368" y="6492240"/>
            <a:ext cx="10844784" cy="0"/>
          </a:xfrm>
          <a:prstGeom prst="line">
            <a:avLst/>
          </a:prstGeom>
          <a:noFill/>
          <a:ln w="11430">
            <a:solidFill>
              <a:srgbClr val="D9E2D9"/>
            </a:solidFill>
            <a:prstDash val="solid"/>
          </a:ln>
        </p:spPr>
        <p:txBody>
          <a:bodyPr/>
          <a:lstStyle/>
          <a:p>
            <a:endParaRPr/>
          </a:p>
        </p:txBody>
      </p:sp>
      <p:sp>
        <p:nvSpPr>
          <p:cNvPr id="8" name="Text 6">
            <a:extLst>
              <a:ext uri="{FF2B5EF4-FFF2-40B4-BE49-F238E27FC236}">
                <a16:creationId xmlns:a16="http://schemas.microsoft.com/office/drawing/2014/main" id="{AFC70635-3B22-4FDE-BF93-185D1651EB41}"/>
              </a:ext>
            </a:extLst>
          </p:cNvPr>
          <p:cNvSpPr>
            <a:spLocks noGrp="1"/>
          </p:cNvSpPr>
          <p:nvPr/>
        </p:nvSpPr>
        <p:spPr>
          <a:xfrm>
            <a:off x="667512" y="6556248"/>
            <a:ext cx="4114800" cy="155448"/>
          </a:xfrm>
          <a:prstGeom prst="rect">
            <a:avLst/>
          </a:prstGeom>
          <a:noFill/>
        </p:spPr>
        <p:txBody>
          <a:bodyPr wrap="square" lIns="0" tIns="0" rIns="0" bIns="0" anchor="ctr">
            <a:normAutofit/>
          </a:bodyPr>
          <a:lstStyle/>
          <a:p>
            <a:pPr marL="0" indent="0">
              <a:buNone/>
            </a:pPr>
            <a:r>
              <a:rPr sz="900" b="1" spc="60">
                <a:solidFill>
                  <a:srgbClr val="62736A"/>
                </a:solidFill>
                <a:latin typeface="Aptos"/>
                <a:ea typeface="Aptos"/>
                <a:cs typeface="Aptos"/>
              </a:rPr>
              <a:t>GRAZING + FEED PLANNING</a:t>
            </a:r>
            <a:endParaRPr sz="900"/>
          </a:p>
        </p:txBody>
      </p:sp>
      <p:sp>
        <p:nvSpPr>
          <p:cNvPr id="9" name="Text 7">
            <a:extLst>
              <a:ext uri="{FF2B5EF4-FFF2-40B4-BE49-F238E27FC236}">
                <a16:creationId xmlns:a16="http://schemas.microsoft.com/office/drawing/2014/main" id="{CA3BA298-CCA5-46D3-A7F9-AD7CA5681C88}"/>
              </a:ext>
            </a:extLst>
          </p:cNvPr>
          <p:cNvSpPr>
            <a:spLocks noGrp="1"/>
          </p:cNvSpPr>
          <p:nvPr/>
        </p:nvSpPr>
        <p:spPr>
          <a:xfrm>
            <a:off x="10789920" y="6528816"/>
            <a:ext cx="676656" cy="201168"/>
          </a:xfrm>
          <a:prstGeom prst="rect">
            <a:avLst/>
          </a:prstGeom>
          <a:noFill/>
        </p:spPr>
        <p:txBody>
          <a:bodyPr wrap="square" lIns="0" tIns="0" rIns="0" bIns="0" anchor="ctr">
            <a:normAutofit/>
          </a:bodyPr>
          <a:lstStyle/>
          <a:p>
            <a:pPr marL="0" indent="0" algn="r">
              <a:buNone/>
            </a:pPr>
            <a:endParaRPr sz="1000"/>
          </a:p>
        </p:txBody>
      </p:sp>
      <p:sp>
        <p:nvSpPr>
          <p:cNvPr id="10" name="Shape 8">
            <a:extLst>
              <a:ext uri="{FF2B5EF4-FFF2-40B4-BE49-F238E27FC236}">
                <a16:creationId xmlns:a16="http://schemas.microsoft.com/office/drawing/2014/main" id="{8F67E9BD-90BE-43BA-ACF2-1E32C8CB461D}"/>
              </a:ext>
            </a:extLst>
          </p:cNvPr>
          <p:cNvSpPr>
            <a:spLocks noGrp="1"/>
          </p:cNvSpPr>
          <p:nvPr/>
        </p:nvSpPr>
        <p:spPr>
          <a:xfrm>
            <a:off x="749808" y="1627632"/>
            <a:ext cx="6793992" cy="4517136"/>
          </a:xfrm>
          <a:prstGeom prst="roundRect">
            <a:avLst>
              <a:gd name="adj" fmla="val 2429"/>
            </a:avLst>
          </a:prstGeom>
          <a:solidFill>
            <a:srgbClr val="FFFFFF"/>
          </a:solidFill>
          <a:ln w="8890">
            <a:solidFill>
              <a:srgbClr val="D9E2D9"/>
            </a:solidFill>
            <a:prstDash val="solid"/>
          </a:ln>
        </p:spPr>
        <p:txBody>
          <a:bodyPr/>
          <a:lstStyle/>
          <a:p>
            <a:endParaRPr/>
          </a:p>
        </p:txBody>
      </p:sp>
      <p:sp>
        <p:nvSpPr>
          <p:cNvPr id="13" name="Text 10">
            <a:extLst>
              <a:ext uri="{FF2B5EF4-FFF2-40B4-BE49-F238E27FC236}">
                <a16:creationId xmlns:a16="http://schemas.microsoft.com/office/drawing/2014/main" id="{0376CFC8-67BD-4822-B468-B4F0661FDA8F}"/>
              </a:ext>
            </a:extLst>
          </p:cNvPr>
          <p:cNvSpPr>
            <a:spLocks noGrp="1"/>
          </p:cNvSpPr>
          <p:nvPr/>
        </p:nvSpPr>
        <p:spPr>
          <a:xfrm>
            <a:off x="8119872" y="1819655"/>
            <a:ext cx="2980944" cy="987552"/>
          </a:xfrm>
          <a:prstGeom prst="rect">
            <a:avLst/>
          </a:prstGeom>
          <a:noFill/>
        </p:spPr>
        <p:txBody>
          <a:bodyPr wrap="square" lIns="0" tIns="0" rIns="0" bIns="0" anchor="ctr">
            <a:normAutofit/>
          </a:bodyPr>
          <a:lstStyle/>
          <a:p>
            <a:pPr marL="0" indent="0">
              <a:buNone/>
            </a:pPr>
            <a:r>
              <a:rPr sz="2100" b="1">
                <a:solidFill>
                  <a:srgbClr val="193F2A"/>
                </a:solidFill>
                <a:latin typeface="Aptos"/>
                <a:ea typeface="Aptos"/>
                <a:cs typeface="Aptos"/>
              </a:rPr>
              <a:t>One paddock can split into several breaks</a:t>
            </a:r>
            <a:endParaRPr sz="2100"/>
          </a:p>
        </p:txBody>
      </p:sp>
      <p:sp>
        <p:nvSpPr>
          <p:cNvPr id="14" name="Text 11">
            <a:extLst>
              <a:ext uri="{FF2B5EF4-FFF2-40B4-BE49-F238E27FC236}">
                <a16:creationId xmlns:a16="http://schemas.microsoft.com/office/drawing/2014/main" id="{27DD474E-131B-4207-B0E3-1B3DEDE4F329}"/>
              </a:ext>
            </a:extLst>
          </p:cNvPr>
          <p:cNvSpPr>
            <a:spLocks noGrp="1"/>
          </p:cNvSpPr>
          <p:nvPr/>
        </p:nvSpPr>
        <p:spPr>
          <a:xfrm>
            <a:off x="8119872" y="2596896"/>
            <a:ext cx="2743200" cy="457200"/>
          </a:xfrm>
          <a:prstGeom prst="rect">
            <a:avLst/>
          </a:prstGeom>
          <a:noFill/>
        </p:spPr>
        <p:txBody>
          <a:bodyPr wrap="square" lIns="0" tIns="0" rIns="0" bIns="0" anchor="ctr">
            <a:normAutofit/>
          </a:bodyPr>
          <a:lstStyle/>
          <a:p>
            <a:pPr marL="0" indent="0">
              <a:buNone/>
            </a:pPr>
            <a:r>
              <a:rPr sz="1500">
                <a:solidFill>
                  <a:srgbClr val="62736A"/>
                </a:solidFill>
                <a:latin typeface="Aptos"/>
                <a:ea typeface="Aptos"/>
                <a:cs typeface="Aptos"/>
              </a:rPr>
              <a:t>AM and PM allocations.</a:t>
            </a:r>
            <a:endParaRPr sz="1500"/>
          </a:p>
        </p:txBody>
      </p:sp>
      <p:sp>
        <p:nvSpPr>
          <p:cNvPr id="15" name="Shape 12">
            <a:extLst>
              <a:ext uri="{FF2B5EF4-FFF2-40B4-BE49-F238E27FC236}">
                <a16:creationId xmlns:a16="http://schemas.microsoft.com/office/drawing/2014/main" id="{4CEA998E-0B60-4486-B01F-71A7846E11CF}"/>
              </a:ext>
            </a:extLst>
          </p:cNvPr>
          <p:cNvSpPr>
            <a:spLocks noGrp="1"/>
          </p:cNvSpPr>
          <p:nvPr/>
        </p:nvSpPr>
        <p:spPr>
          <a:xfrm>
            <a:off x="8129016" y="3209544"/>
            <a:ext cx="2798064" cy="0"/>
          </a:xfrm>
          <a:prstGeom prst="line">
            <a:avLst/>
          </a:prstGeom>
          <a:noFill/>
          <a:ln w="19050">
            <a:solidFill>
              <a:srgbClr val="D9E2D9"/>
            </a:solidFill>
            <a:prstDash val="solid"/>
          </a:ln>
        </p:spPr>
        <p:txBody>
          <a:bodyPr/>
          <a:lstStyle/>
          <a:p>
            <a:endParaRPr/>
          </a:p>
        </p:txBody>
      </p:sp>
      <p:sp>
        <p:nvSpPr>
          <p:cNvPr id="16" name="Text 13">
            <a:extLst>
              <a:ext uri="{FF2B5EF4-FFF2-40B4-BE49-F238E27FC236}">
                <a16:creationId xmlns:a16="http://schemas.microsoft.com/office/drawing/2014/main" id="{8EB37245-B354-4DA8-BFFC-34BB03F1FB1D}"/>
              </a:ext>
            </a:extLst>
          </p:cNvPr>
          <p:cNvSpPr>
            <a:spLocks noGrp="1"/>
          </p:cNvSpPr>
          <p:nvPr/>
        </p:nvSpPr>
        <p:spPr>
          <a:xfrm>
            <a:off x="8119872" y="3438144"/>
            <a:ext cx="2834640" cy="365760"/>
          </a:xfrm>
          <a:prstGeom prst="rect">
            <a:avLst/>
          </a:prstGeom>
          <a:noFill/>
        </p:spPr>
        <p:txBody>
          <a:bodyPr wrap="square" lIns="0" tIns="0" rIns="0" bIns="0" anchor="ctr">
            <a:normAutofit/>
          </a:bodyPr>
          <a:lstStyle/>
          <a:p>
            <a:pPr marL="0" indent="0">
              <a:buNone/>
            </a:pPr>
            <a:r>
              <a:rPr sz="2100" b="1">
                <a:solidFill>
                  <a:srgbClr val="193F2A"/>
                </a:solidFill>
                <a:latin typeface="Aptos"/>
                <a:ea typeface="Aptos"/>
                <a:cs typeface="Aptos"/>
              </a:rPr>
              <a:t>Break</a:t>
            </a:r>
            <a:endParaRPr sz="2100"/>
          </a:p>
        </p:txBody>
      </p:sp>
      <p:sp>
        <p:nvSpPr>
          <p:cNvPr id="17" name="Text 14">
            <a:extLst>
              <a:ext uri="{FF2B5EF4-FFF2-40B4-BE49-F238E27FC236}">
                <a16:creationId xmlns:a16="http://schemas.microsoft.com/office/drawing/2014/main" id="{A33DF7A9-4B4D-4040-92B6-0A670D283986}"/>
              </a:ext>
            </a:extLst>
          </p:cNvPr>
          <p:cNvSpPr>
            <a:spLocks noGrp="1"/>
          </p:cNvSpPr>
          <p:nvPr/>
        </p:nvSpPr>
        <p:spPr>
          <a:xfrm>
            <a:off x="8119872" y="3904488"/>
            <a:ext cx="2816352" cy="886968"/>
          </a:xfrm>
          <a:prstGeom prst="rect">
            <a:avLst/>
          </a:prstGeom>
          <a:noFill/>
        </p:spPr>
        <p:txBody>
          <a:bodyPr wrap="square" lIns="0" tIns="0" rIns="0" bIns="0" anchor="t">
            <a:normAutofit/>
          </a:bodyPr>
          <a:lstStyle/>
          <a:p>
            <a:pPr marL="0" indent="0">
              <a:buNone/>
            </a:pPr>
            <a:r>
              <a:rPr sz="1500">
                <a:solidFill>
                  <a:srgbClr val="62736A"/>
                </a:solidFill>
                <a:latin typeface="Aptos"/>
                <a:ea typeface="Aptos"/>
                <a:cs typeface="Aptos"/>
              </a:rPr>
              <a:t>Farmer chooses paddock order</a:t>
            </a:r>
            <a:endParaRPr sz="1500"/>
          </a:p>
        </p:txBody>
      </p:sp>
      <p:pic>
        <p:nvPicPr>
          <p:cNvPr id="18" name="Picture 17">
            <a:extLst>
              <a:ext uri="{FF2B5EF4-FFF2-40B4-BE49-F238E27FC236}">
                <a16:creationId xmlns:a16="http://schemas.microsoft.com/office/drawing/2014/main" id="{0C60981D-074B-44D4-BDFB-6C33BC9A4E89}"/>
              </a:ext>
            </a:extLst>
          </p:cNvPr>
          <p:cNvPicPr>
            <a:picLocks noChangeAspect="1"/>
          </p:cNvPicPr>
          <p:nvPr/>
        </p:nvPicPr>
        <p:blipFill>
          <a:blip r:embed="rId3"/>
          <a:stretch/>
        </p:blipFill>
        <p:spPr>
          <a:xfrm>
            <a:off x="1255776" y="1828419"/>
            <a:ext cx="5755132" cy="4316349"/>
          </a:xfrm>
          <a:prstGeom prst="rect">
            <a:avLst/>
          </a:prstGeom>
        </p:spPr>
      </p:pic>
      <p:pic>
        <p:nvPicPr>
          <p:cNvPr id="19" name="Ink 18">
            <a:extLst>
              <a:ext uri="{FF2B5EF4-FFF2-40B4-BE49-F238E27FC236}">
                <a16:creationId xmlns:a16="http://schemas.microsoft.com/office/drawing/2014/main" id="{94E75079-5DA4-469B-A93F-0201B7377921}"/>
              </a:ext>
            </a:extLst>
          </p:cNvPr>
          <p:cNvPicPr>
            <a:picLocks noChangeAspect="1"/>
          </p:cNvPicPr>
          <p:nvPr/>
        </p:nvPicPr>
        <p:blipFill>
          <a:blip r:embed="rId4"/>
          <a:stretch>
            <a:fillRect/>
          </a:stretch>
        </p:blipFill>
        <p:spPr>
          <a:xfrm>
            <a:off x="3118733" y="3284131"/>
            <a:ext cx="72000" cy="72000"/>
          </a:xfrm>
          <a:prstGeom prst="rect">
            <a:avLst/>
          </a:prstGeom>
        </p:spPr>
      </p:pic>
      <p:pic>
        <p:nvPicPr>
          <p:cNvPr id="20" name="Ink 19">
            <a:extLst>
              <a:ext uri="{FF2B5EF4-FFF2-40B4-BE49-F238E27FC236}">
                <a16:creationId xmlns:a16="http://schemas.microsoft.com/office/drawing/2014/main" id="{129E6DEF-6C2B-4686-AFD6-3A8D3FAD7A13}"/>
              </a:ext>
            </a:extLst>
          </p:cNvPr>
          <p:cNvPicPr>
            <a:picLocks noChangeAspect="1"/>
          </p:cNvPicPr>
          <p:nvPr/>
        </p:nvPicPr>
        <p:blipFill>
          <a:blip r:embed="rId4"/>
          <a:stretch>
            <a:fillRect/>
          </a:stretch>
        </p:blipFill>
        <p:spPr>
          <a:xfrm>
            <a:off x="2857733" y="3285931"/>
            <a:ext cx="72000" cy="72000"/>
          </a:xfrm>
          <a:prstGeom prst="rect">
            <a:avLst/>
          </a:prstGeom>
        </p:spPr>
      </p:pic>
      <p:pic>
        <p:nvPicPr>
          <p:cNvPr id="21" name="Ink 20">
            <a:extLst>
              <a:ext uri="{FF2B5EF4-FFF2-40B4-BE49-F238E27FC236}">
                <a16:creationId xmlns:a16="http://schemas.microsoft.com/office/drawing/2014/main" id="{8E035B29-572F-4C48-A259-EC869E721A95}"/>
              </a:ext>
            </a:extLst>
          </p:cNvPr>
          <p:cNvPicPr>
            <a:picLocks noChangeAspect="1"/>
          </p:cNvPicPr>
          <p:nvPr/>
        </p:nvPicPr>
        <p:blipFill>
          <a:blip r:embed="rId4"/>
          <a:stretch>
            <a:fillRect/>
          </a:stretch>
        </p:blipFill>
        <p:spPr>
          <a:xfrm>
            <a:off x="2597093" y="3279811"/>
            <a:ext cx="72000" cy="72000"/>
          </a:xfrm>
          <a:prstGeom prst="rect">
            <a:avLst/>
          </a:prstGeom>
        </p:spPr>
      </p:pic>
      <p:pic>
        <p:nvPicPr>
          <p:cNvPr id="22" name="Ink 21">
            <a:extLst>
              <a:ext uri="{FF2B5EF4-FFF2-40B4-BE49-F238E27FC236}">
                <a16:creationId xmlns:a16="http://schemas.microsoft.com/office/drawing/2014/main" id="{78E620A9-B0EC-46BD-A8A1-5936647B62C2}"/>
              </a:ext>
            </a:extLst>
          </p:cNvPr>
          <p:cNvPicPr>
            <a:picLocks noChangeAspect="1"/>
          </p:cNvPicPr>
          <p:nvPr/>
        </p:nvPicPr>
        <p:blipFill>
          <a:blip r:embed="rId4"/>
          <a:stretch>
            <a:fillRect/>
          </a:stretch>
        </p:blipFill>
        <p:spPr>
          <a:xfrm>
            <a:off x="2315573" y="3279811"/>
            <a:ext cx="72000" cy="72000"/>
          </a:xfrm>
          <a:prstGeom prst="rect">
            <a:avLst/>
          </a:prstGeom>
        </p:spPr>
      </p:pic>
      <p:pic>
        <p:nvPicPr>
          <p:cNvPr id="23" name="Ink 22">
            <a:extLst>
              <a:ext uri="{FF2B5EF4-FFF2-40B4-BE49-F238E27FC236}">
                <a16:creationId xmlns:a16="http://schemas.microsoft.com/office/drawing/2014/main" id="{EF9F2B6D-9ECD-4D11-A15D-DB7FB4255FD6}"/>
              </a:ext>
            </a:extLst>
          </p:cNvPr>
          <p:cNvPicPr>
            <a:picLocks noChangeAspect="1"/>
          </p:cNvPicPr>
          <p:nvPr/>
        </p:nvPicPr>
        <p:blipFill>
          <a:blip r:embed="rId4"/>
          <a:stretch>
            <a:fillRect/>
          </a:stretch>
        </p:blipFill>
        <p:spPr>
          <a:xfrm>
            <a:off x="2059613" y="3255691"/>
            <a:ext cx="72000" cy="72000"/>
          </a:xfrm>
          <a:prstGeom prst="rect">
            <a:avLst/>
          </a:prstGeom>
        </p:spPr>
      </p:pic>
      <p:pic>
        <p:nvPicPr>
          <p:cNvPr id="24" name="Ink 23">
            <a:extLst>
              <a:ext uri="{FF2B5EF4-FFF2-40B4-BE49-F238E27FC236}">
                <a16:creationId xmlns:a16="http://schemas.microsoft.com/office/drawing/2014/main" id="{CFE37193-ED5E-47E8-B614-241BDFE1BCFA}"/>
              </a:ext>
            </a:extLst>
          </p:cNvPr>
          <p:cNvPicPr>
            <a:picLocks noChangeAspect="1"/>
          </p:cNvPicPr>
          <p:nvPr/>
        </p:nvPicPr>
        <p:blipFill>
          <a:blip r:embed="rId4"/>
          <a:stretch>
            <a:fillRect/>
          </a:stretch>
        </p:blipFill>
        <p:spPr>
          <a:xfrm>
            <a:off x="2008493" y="3267571"/>
            <a:ext cx="72000" cy="72000"/>
          </a:xfrm>
          <a:prstGeom prst="rect">
            <a:avLst/>
          </a:prstGeom>
        </p:spPr>
      </p:pic>
      <p:pic>
        <p:nvPicPr>
          <p:cNvPr id="27" name="Ink 26">
            <a:extLst>
              <a:ext uri="{FF2B5EF4-FFF2-40B4-BE49-F238E27FC236}">
                <a16:creationId xmlns:a16="http://schemas.microsoft.com/office/drawing/2014/main" id="{210E0FFF-6AF8-4F0E-AADC-1928BBA66213}"/>
              </a:ext>
            </a:extLst>
          </p:cNvPr>
          <p:cNvPicPr>
            <a:picLocks noChangeAspect="1"/>
          </p:cNvPicPr>
          <p:nvPr/>
        </p:nvPicPr>
        <p:blipFill>
          <a:blip r:embed="rId4"/>
          <a:stretch>
            <a:fillRect/>
          </a:stretch>
        </p:blipFill>
        <p:spPr>
          <a:xfrm>
            <a:off x="2056733" y="3275131"/>
            <a:ext cx="72000" cy="72000"/>
          </a:xfrm>
          <a:prstGeom prst="rect">
            <a:avLst/>
          </a:prstGeom>
        </p:spPr>
      </p:pic>
      <p:pic>
        <p:nvPicPr>
          <p:cNvPr id="30" name="Ink 29">
            <a:extLst>
              <a:ext uri="{FF2B5EF4-FFF2-40B4-BE49-F238E27FC236}">
                <a16:creationId xmlns:a16="http://schemas.microsoft.com/office/drawing/2014/main" id="{F592FD35-FE58-47A9-97E1-FB77AD0CCC91}"/>
              </a:ext>
            </a:extLst>
          </p:cNvPr>
          <p:cNvPicPr>
            <a:picLocks noChangeAspect="1"/>
          </p:cNvPicPr>
          <p:nvPr/>
        </p:nvPicPr>
        <p:blipFill>
          <a:blip r:embed="rId4"/>
          <a:stretch>
            <a:fillRect/>
          </a:stretch>
        </p:blipFill>
        <p:spPr>
          <a:xfrm>
            <a:off x="1868093" y="3999451"/>
            <a:ext cx="72000" cy="72000"/>
          </a:xfrm>
          <a:prstGeom prst="rect">
            <a:avLst/>
          </a:prstGeom>
        </p:spPr>
      </p:pic>
      <p:pic>
        <p:nvPicPr>
          <p:cNvPr id="31" name="Ink 30">
            <a:extLst>
              <a:ext uri="{FF2B5EF4-FFF2-40B4-BE49-F238E27FC236}">
                <a16:creationId xmlns:a16="http://schemas.microsoft.com/office/drawing/2014/main" id="{0415AB15-74EA-45FA-97E3-5DA14CC68242}"/>
              </a:ext>
            </a:extLst>
          </p:cNvPr>
          <p:cNvPicPr>
            <a:picLocks noChangeAspect="1"/>
          </p:cNvPicPr>
          <p:nvPr/>
        </p:nvPicPr>
        <p:blipFill>
          <a:blip r:embed="rId4"/>
          <a:stretch>
            <a:fillRect/>
          </a:stretch>
        </p:blipFill>
        <p:spPr>
          <a:xfrm>
            <a:off x="2065373" y="4016731"/>
            <a:ext cx="72000" cy="72000"/>
          </a:xfrm>
          <a:prstGeom prst="rect">
            <a:avLst/>
          </a:prstGeom>
        </p:spPr>
      </p:pic>
      <p:pic>
        <p:nvPicPr>
          <p:cNvPr id="32" name="Ink 31">
            <a:extLst>
              <a:ext uri="{FF2B5EF4-FFF2-40B4-BE49-F238E27FC236}">
                <a16:creationId xmlns:a16="http://schemas.microsoft.com/office/drawing/2014/main" id="{FC1D0E6D-34A8-443E-8469-68CFDFDA60A0}"/>
              </a:ext>
            </a:extLst>
          </p:cNvPr>
          <p:cNvPicPr>
            <a:picLocks noChangeAspect="1"/>
          </p:cNvPicPr>
          <p:nvPr/>
        </p:nvPicPr>
        <p:blipFill>
          <a:blip r:embed="rId4"/>
          <a:stretch>
            <a:fillRect/>
          </a:stretch>
        </p:blipFill>
        <p:spPr>
          <a:xfrm>
            <a:off x="2333933" y="4012051"/>
            <a:ext cx="72000" cy="72000"/>
          </a:xfrm>
          <a:prstGeom prst="rect">
            <a:avLst/>
          </a:prstGeom>
        </p:spPr>
      </p:pic>
      <p:pic>
        <p:nvPicPr>
          <p:cNvPr id="33" name="Ink 32">
            <a:extLst>
              <a:ext uri="{FF2B5EF4-FFF2-40B4-BE49-F238E27FC236}">
                <a16:creationId xmlns:a16="http://schemas.microsoft.com/office/drawing/2014/main" id="{66800C0F-9649-4050-A355-F129A51B7CD9}"/>
              </a:ext>
            </a:extLst>
          </p:cNvPr>
          <p:cNvPicPr>
            <a:picLocks noChangeAspect="1"/>
          </p:cNvPicPr>
          <p:nvPr/>
        </p:nvPicPr>
        <p:blipFill>
          <a:blip r:embed="rId4"/>
          <a:stretch>
            <a:fillRect/>
          </a:stretch>
        </p:blipFill>
        <p:spPr>
          <a:xfrm>
            <a:off x="2593853" y="4019971"/>
            <a:ext cx="72000" cy="72000"/>
          </a:xfrm>
          <a:prstGeom prst="rect">
            <a:avLst/>
          </a:prstGeom>
        </p:spPr>
      </p:pic>
      <p:pic>
        <p:nvPicPr>
          <p:cNvPr id="34" name="Ink 33">
            <a:extLst>
              <a:ext uri="{FF2B5EF4-FFF2-40B4-BE49-F238E27FC236}">
                <a16:creationId xmlns:a16="http://schemas.microsoft.com/office/drawing/2014/main" id="{B42D84C9-7212-468B-BDBB-90BC5F675263}"/>
              </a:ext>
            </a:extLst>
          </p:cNvPr>
          <p:cNvPicPr>
            <a:picLocks noChangeAspect="1"/>
          </p:cNvPicPr>
          <p:nvPr/>
        </p:nvPicPr>
        <p:blipFill>
          <a:blip r:embed="rId4"/>
          <a:stretch>
            <a:fillRect/>
          </a:stretch>
        </p:blipFill>
        <p:spPr>
          <a:xfrm>
            <a:off x="2881853" y="4015651"/>
            <a:ext cx="72000" cy="72000"/>
          </a:xfrm>
          <a:prstGeom prst="rect">
            <a:avLst/>
          </a:prstGeom>
        </p:spPr>
      </p:pic>
      <p:pic>
        <p:nvPicPr>
          <p:cNvPr id="35" name="Ink 34">
            <a:extLst>
              <a:ext uri="{FF2B5EF4-FFF2-40B4-BE49-F238E27FC236}">
                <a16:creationId xmlns:a16="http://schemas.microsoft.com/office/drawing/2014/main" id="{B130213C-1EC7-4245-84CD-D2B5ADEB3BCA}"/>
              </a:ext>
            </a:extLst>
          </p:cNvPr>
          <p:cNvPicPr>
            <a:picLocks noChangeAspect="1"/>
          </p:cNvPicPr>
          <p:nvPr/>
        </p:nvPicPr>
        <p:blipFill>
          <a:blip r:embed="rId4"/>
          <a:stretch>
            <a:fillRect/>
          </a:stretch>
        </p:blipFill>
        <p:spPr>
          <a:xfrm>
            <a:off x="3118013" y="4007731"/>
            <a:ext cx="72000" cy="72000"/>
          </a:xfrm>
          <a:prstGeom prst="rect">
            <a:avLst/>
          </a:prstGeom>
        </p:spPr>
      </p:pic>
      <p:pic>
        <p:nvPicPr>
          <p:cNvPr id="36" name="Ink 35">
            <a:extLst>
              <a:ext uri="{FF2B5EF4-FFF2-40B4-BE49-F238E27FC236}">
                <a16:creationId xmlns:a16="http://schemas.microsoft.com/office/drawing/2014/main" id="{8A51165A-188B-4DF2-AAAA-F138F13DAC03}"/>
              </a:ext>
            </a:extLst>
          </p:cNvPr>
          <p:cNvPicPr>
            <a:picLocks noChangeAspect="1"/>
          </p:cNvPicPr>
          <p:nvPr/>
        </p:nvPicPr>
        <p:blipFill>
          <a:blip r:embed="rId4"/>
          <a:stretch>
            <a:fillRect/>
          </a:stretch>
        </p:blipFill>
        <p:spPr>
          <a:xfrm>
            <a:off x="1891493" y="4631251"/>
            <a:ext cx="72000" cy="72000"/>
          </a:xfrm>
          <a:prstGeom prst="rect">
            <a:avLst/>
          </a:prstGeom>
        </p:spPr>
      </p:pic>
      <p:pic>
        <p:nvPicPr>
          <p:cNvPr id="37" name="Ink 36">
            <a:extLst>
              <a:ext uri="{FF2B5EF4-FFF2-40B4-BE49-F238E27FC236}">
                <a16:creationId xmlns:a16="http://schemas.microsoft.com/office/drawing/2014/main" id="{455DCC52-3A58-4D6A-BCC8-5CBD65C11E90}"/>
              </a:ext>
            </a:extLst>
          </p:cNvPr>
          <p:cNvPicPr>
            <a:picLocks noChangeAspect="1"/>
          </p:cNvPicPr>
          <p:nvPr/>
        </p:nvPicPr>
        <p:blipFill>
          <a:blip r:embed="rId4"/>
          <a:stretch>
            <a:fillRect/>
          </a:stretch>
        </p:blipFill>
        <p:spPr>
          <a:xfrm>
            <a:off x="2162213" y="4639171"/>
            <a:ext cx="72000" cy="72000"/>
          </a:xfrm>
          <a:prstGeom prst="rect">
            <a:avLst/>
          </a:prstGeom>
        </p:spPr>
      </p:pic>
      <p:pic>
        <p:nvPicPr>
          <p:cNvPr id="38" name="Ink 37">
            <a:extLst>
              <a:ext uri="{FF2B5EF4-FFF2-40B4-BE49-F238E27FC236}">
                <a16:creationId xmlns:a16="http://schemas.microsoft.com/office/drawing/2014/main" id="{1CB670E8-2985-466B-9B4F-0260CF2AD578}"/>
              </a:ext>
            </a:extLst>
          </p:cNvPr>
          <p:cNvPicPr>
            <a:picLocks noChangeAspect="1"/>
          </p:cNvPicPr>
          <p:nvPr/>
        </p:nvPicPr>
        <p:blipFill>
          <a:blip r:embed="rId5"/>
          <a:stretch>
            <a:fillRect/>
          </a:stretch>
        </p:blipFill>
        <p:spPr>
          <a:xfrm>
            <a:off x="2394413" y="4615051"/>
            <a:ext cx="88200" cy="72000"/>
          </a:xfrm>
          <a:prstGeom prst="rect">
            <a:avLst/>
          </a:prstGeom>
        </p:spPr>
      </p:pic>
      <p:pic>
        <p:nvPicPr>
          <p:cNvPr id="39" name="Ink 38">
            <a:extLst>
              <a:ext uri="{FF2B5EF4-FFF2-40B4-BE49-F238E27FC236}">
                <a16:creationId xmlns:a16="http://schemas.microsoft.com/office/drawing/2014/main" id="{328271AD-0151-4438-AF82-E169F1BBC845}"/>
              </a:ext>
            </a:extLst>
          </p:cNvPr>
          <p:cNvPicPr>
            <a:picLocks noChangeAspect="1"/>
          </p:cNvPicPr>
          <p:nvPr/>
        </p:nvPicPr>
        <p:blipFill>
          <a:blip r:embed="rId4"/>
          <a:stretch>
            <a:fillRect/>
          </a:stretch>
        </p:blipFill>
        <p:spPr>
          <a:xfrm>
            <a:off x="2702213" y="4630891"/>
            <a:ext cx="72000" cy="72000"/>
          </a:xfrm>
          <a:prstGeom prst="rect">
            <a:avLst/>
          </a:prstGeom>
        </p:spPr>
      </p:pic>
      <p:pic>
        <p:nvPicPr>
          <p:cNvPr id="40" name="Ink 39">
            <a:extLst>
              <a:ext uri="{FF2B5EF4-FFF2-40B4-BE49-F238E27FC236}">
                <a16:creationId xmlns:a16="http://schemas.microsoft.com/office/drawing/2014/main" id="{CFE9AF0A-450E-443B-8B26-B447FEF4D359}"/>
              </a:ext>
            </a:extLst>
          </p:cNvPr>
          <p:cNvPicPr>
            <a:picLocks noChangeAspect="1"/>
          </p:cNvPicPr>
          <p:nvPr/>
        </p:nvPicPr>
        <p:blipFill>
          <a:blip r:embed="rId4"/>
          <a:stretch>
            <a:fillRect/>
          </a:stretch>
        </p:blipFill>
        <p:spPr>
          <a:xfrm>
            <a:off x="2894453" y="4614691"/>
            <a:ext cx="72000" cy="72000"/>
          </a:xfrm>
          <a:prstGeom prst="rect">
            <a:avLst/>
          </a:prstGeom>
        </p:spPr>
      </p:pic>
      <p:pic>
        <p:nvPicPr>
          <p:cNvPr id="41" name="Ink 40">
            <a:extLst>
              <a:ext uri="{FF2B5EF4-FFF2-40B4-BE49-F238E27FC236}">
                <a16:creationId xmlns:a16="http://schemas.microsoft.com/office/drawing/2014/main" id="{0556A324-A9DA-4D00-BA07-A649B3724863}"/>
              </a:ext>
            </a:extLst>
          </p:cNvPr>
          <p:cNvPicPr>
            <a:picLocks noChangeAspect="1"/>
          </p:cNvPicPr>
          <p:nvPr/>
        </p:nvPicPr>
        <p:blipFill>
          <a:blip r:embed="rId4"/>
          <a:stretch>
            <a:fillRect/>
          </a:stretch>
        </p:blipFill>
        <p:spPr>
          <a:xfrm>
            <a:off x="3118373" y="4614691"/>
            <a:ext cx="72000" cy="72000"/>
          </a:xfrm>
          <a:prstGeom prst="rect">
            <a:avLst/>
          </a:prstGeom>
        </p:spPr>
      </p:pic>
      <p:pic>
        <p:nvPicPr>
          <p:cNvPr id="42" name="Ink 41">
            <a:extLst>
              <a:ext uri="{FF2B5EF4-FFF2-40B4-BE49-F238E27FC236}">
                <a16:creationId xmlns:a16="http://schemas.microsoft.com/office/drawing/2014/main" id="{809C06CF-BBA0-45E4-A652-3DA212A6D789}"/>
              </a:ext>
            </a:extLst>
          </p:cNvPr>
          <p:cNvPicPr>
            <a:picLocks noChangeAspect="1"/>
          </p:cNvPicPr>
          <p:nvPr/>
        </p:nvPicPr>
        <p:blipFill>
          <a:blip r:embed="rId4"/>
          <a:stretch>
            <a:fillRect/>
          </a:stretch>
        </p:blipFill>
        <p:spPr>
          <a:xfrm>
            <a:off x="1823093" y="3268291"/>
            <a:ext cx="72000" cy="72000"/>
          </a:xfrm>
          <a:prstGeom prst="rect">
            <a:avLst/>
          </a:prstGeom>
        </p:spPr>
      </p:pic>
      <p:sp>
        <p:nvSpPr>
          <p:cNvPr id="43" name="section-label">
            <a:extLst>
              <a:ext uri="{FF2B5EF4-FFF2-40B4-BE49-F238E27FC236}">
                <a16:creationId xmlns:a16="http://schemas.microsoft.com/office/drawing/2014/main" id="{A72C7B57-FF91-4A45-AE78-0F97B65B1AC5}"/>
              </a:ext>
            </a:extLst>
          </p:cNvPr>
          <p:cNvSpPr>
            <a:spLocks noGrp="1"/>
          </p:cNvSpPr>
          <p:nvPr/>
        </p:nvSpPr>
        <p:spPr>
          <a:xfrm>
            <a:off x="658368" y="342900"/>
            <a:ext cx="8382000" cy="228600"/>
          </a:xfrm>
          <a:prstGeom prst="rect">
            <a:avLst/>
          </a:prstGeom>
          <a:noFill/>
          <a:ln w="0">
            <a:noFill/>
          </a:ln>
        </p:spPr>
        <p:txBody>
          <a:bodyPr wrap="square" lIns="0" tIns="0" rIns="0" bIns="0" anchor="t">
            <a:noAutofit/>
          </a:bodyPr>
          <a:lstStyle>
            <a:defPPr algn="l">
              <a:defRPr sz="1100" b="1">
                <a:solidFill>
                  <a:srgbClr val="2D7040"/>
                </a:solidFill>
                <a:latin typeface="Aptos"/>
                <a:ea typeface="Aptos"/>
                <a:cs typeface="Aptos"/>
              </a:defRPr>
            </a:defPPr>
          </a:lstStyle>
          <a:p>
            <a:pPr algn="l">
              <a:defRPr sz="1100" b="1">
                <a:solidFill>
                  <a:srgbClr val="2D7040"/>
                </a:solidFill>
                <a:latin typeface="Aptos"/>
                <a:ea typeface="Aptos"/>
                <a:cs typeface="Aptos"/>
              </a:defRPr>
            </a:pPr>
            <a:r>
              <a:rPr sz="1100" b="1" dirty="0">
                <a:solidFill>
                  <a:srgbClr val="2D7040"/>
                </a:solidFill>
                <a:latin typeface="Aptos"/>
                <a:ea typeface="Aptos"/>
                <a:cs typeface="Aptos"/>
              </a:rPr>
              <a:t>01 / DEFINE </a:t>
            </a:r>
            <a:r>
              <a:rPr lang="en-NZ" sz="1100" b="1" dirty="0">
                <a:solidFill>
                  <a:srgbClr val="2D7040"/>
                </a:solidFill>
                <a:latin typeface="Aptos"/>
                <a:ea typeface="Aptos"/>
                <a:cs typeface="Aptos"/>
              </a:rPr>
              <a:t>–</a:t>
            </a:r>
            <a:r>
              <a:rPr sz="1100" b="1" dirty="0">
                <a:solidFill>
                  <a:srgbClr val="2D7040"/>
                </a:solidFill>
                <a:latin typeface="Aptos"/>
                <a:ea typeface="Aptos"/>
                <a:cs typeface="Aptos"/>
              </a:rPr>
              <a:t> </a:t>
            </a:r>
            <a:r>
              <a:rPr lang="en-AU" sz="1100" b="1" dirty="0">
                <a:solidFill>
                  <a:srgbClr val="2D7040"/>
                </a:solidFill>
                <a:latin typeface="Aptos"/>
                <a:ea typeface="Aptos"/>
                <a:cs typeface="Aptos"/>
              </a:rPr>
              <a:t>Business context</a:t>
            </a:r>
            <a:endParaRPr sz="1100" b="1" dirty="0">
              <a:solidFill>
                <a:srgbClr val="2D7040"/>
              </a:solidFill>
              <a:latin typeface="Aptos"/>
              <a:ea typeface="Aptos"/>
              <a:cs typeface="Aptos"/>
            </a:endParaRPr>
          </a:p>
        </p:txBody>
      </p:sp>
    </p:spTree>
    <p:extLst>
      <p:ext uri="{BB962C8B-B14F-4D97-AF65-F5344CB8AC3E}">
        <p14:creationId xmlns:p14="http://schemas.microsoft.com/office/powerpoint/2010/main" val="1191167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4"/>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DEB5802-0027-4FEC-9BDA-512E6BA31BC0}"/>
              </a:ext>
            </a:extLst>
          </p:cNvPr>
          <p:cNvSpPr>
            <a:spLocks noGrp="1"/>
          </p:cNvSpPr>
          <p:nvPr/>
        </p:nvSpPr>
        <p:spPr>
          <a:xfrm>
            <a:off x="0" y="0"/>
            <a:ext cx="105156" cy="6858000"/>
          </a:xfrm>
          <a:prstGeom prst="rect">
            <a:avLst/>
          </a:prstGeom>
          <a:solidFill>
            <a:srgbClr val="2D7040"/>
          </a:solidFill>
          <a:ln w="12700">
            <a:solidFill>
              <a:srgbClr val="2D7040">
                <a:alpha val="0"/>
              </a:srgbClr>
            </a:solidFill>
            <a:prstDash val="solid"/>
          </a:ln>
        </p:spPr>
        <p:txBody>
          <a:bodyPr/>
          <a:lstStyle/>
          <a:p>
            <a:endParaRPr/>
          </a:p>
        </p:txBody>
      </p:sp>
      <p:sp>
        <p:nvSpPr>
          <p:cNvPr id="4" name="Text 2">
            <a:extLst>
              <a:ext uri="{FF2B5EF4-FFF2-40B4-BE49-F238E27FC236}">
                <a16:creationId xmlns:a16="http://schemas.microsoft.com/office/drawing/2014/main" id="{ABFDEF7E-5D52-4ABF-BD46-650C5D59D923}"/>
              </a:ext>
            </a:extLst>
          </p:cNvPr>
          <p:cNvSpPr>
            <a:spLocks noGrp="1"/>
          </p:cNvSpPr>
          <p:nvPr/>
        </p:nvSpPr>
        <p:spPr>
          <a:xfrm>
            <a:off x="658368" y="758952"/>
            <a:ext cx="10698480" cy="502920"/>
          </a:xfrm>
          <a:prstGeom prst="rect">
            <a:avLst/>
          </a:prstGeom>
          <a:noFill/>
        </p:spPr>
        <p:txBody>
          <a:bodyPr wrap="square" lIns="0" tIns="0" rIns="0" bIns="0" anchor="ctr">
            <a:normAutofit/>
          </a:bodyPr>
          <a:lstStyle/>
          <a:p>
            <a:pPr marL="0" indent="0">
              <a:buNone/>
            </a:pPr>
            <a:r>
              <a:rPr sz="3000" b="1">
                <a:solidFill>
                  <a:srgbClr val="193F2A"/>
                </a:solidFill>
                <a:latin typeface="Aptos"/>
                <a:ea typeface="Aptos"/>
                <a:cs typeface="Aptos"/>
              </a:rPr>
              <a:t>How grazing is planned now</a:t>
            </a:r>
            <a:endParaRPr sz="3000"/>
          </a:p>
        </p:txBody>
      </p:sp>
      <p:sp>
        <p:nvSpPr>
          <p:cNvPr id="5" name="Text 3">
            <a:extLst>
              <a:ext uri="{FF2B5EF4-FFF2-40B4-BE49-F238E27FC236}">
                <a16:creationId xmlns:a16="http://schemas.microsoft.com/office/drawing/2014/main" id="{B2CD9ED5-1AB6-45F4-880A-D0F71DF16DB1}"/>
              </a:ext>
            </a:extLst>
          </p:cNvPr>
          <p:cNvSpPr>
            <a:spLocks noGrp="1"/>
          </p:cNvSpPr>
          <p:nvPr/>
        </p:nvSpPr>
        <p:spPr>
          <a:xfrm>
            <a:off x="676656" y="1298448"/>
            <a:ext cx="10424160" cy="292608"/>
          </a:xfrm>
          <a:prstGeom prst="rect">
            <a:avLst/>
          </a:prstGeom>
          <a:noFill/>
        </p:spPr>
        <p:txBody>
          <a:bodyPr wrap="square" lIns="0" tIns="0" rIns="0" bIns="0" anchor="ctr">
            <a:normAutofit/>
          </a:bodyPr>
          <a:lstStyle/>
          <a:p>
            <a:pPr marL="0" indent="0">
              <a:buNone/>
            </a:pPr>
            <a:r>
              <a:rPr sz="1400">
                <a:solidFill>
                  <a:srgbClr val="62736A"/>
                </a:solidFill>
                <a:latin typeface="Aptos"/>
                <a:ea typeface="Aptos"/>
                <a:cs typeface="Aptos"/>
              </a:rPr>
              <a:t>A practical workflow built around a whiteboard</a:t>
            </a:r>
            <a:endParaRPr sz="1400"/>
          </a:p>
        </p:txBody>
      </p:sp>
      <p:sp>
        <p:nvSpPr>
          <p:cNvPr id="6" name="Text 4">
            <a:extLst>
              <a:ext uri="{FF2B5EF4-FFF2-40B4-BE49-F238E27FC236}">
                <a16:creationId xmlns:a16="http://schemas.microsoft.com/office/drawing/2014/main" id="{D5A2BD5F-81E7-4C6F-9518-2312F82F953E}"/>
              </a:ext>
            </a:extLst>
          </p:cNvPr>
          <p:cNvSpPr>
            <a:spLocks noGrp="1"/>
          </p:cNvSpPr>
          <p:nvPr/>
        </p:nvSpPr>
        <p:spPr>
          <a:xfrm>
            <a:off x="10561320" y="338328"/>
            <a:ext cx="1005840" cy="274320"/>
          </a:xfrm>
          <a:prstGeom prst="rect">
            <a:avLst/>
          </a:prstGeom>
          <a:noFill/>
        </p:spPr>
        <p:txBody>
          <a:bodyPr wrap="square" lIns="0" tIns="0" rIns="0" bIns="0" anchor="ctr">
            <a:normAutofit/>
          </a:bodyPr>
          <a:lstStyle/>
          <a:p>
            <a:pPr marL="0" indent="0" algn="r">
              <a:buNone/>
            </a:pPr>
            <a:r>
              <a:rPr sz="1400" b="1" dirty="0">
                <a:solidFill>
                  <a:srgbClr val="193F2A"/>
                </a:solidFill>
                <a:latin typeface="Aptos"/>
                <a:ea typeface="Aptos"/>
                <a:cs typeface="Aptos"/>
              </a:rPr>
              <a:t>FeedBoard</a:t>
            </a:r>
            <a:endParaRPr sz="1400" dirty="0"/>
          </a:p>
        </p:txBody>
      </p:sp>
      <p:sp>
        <p:nvSpPr>
          <p:cNvPr id="7" name="Shape 5">
            <a:extLst>
              <a:ext uri="{FF2B5EF4-FFF2-40B4-BE49-F238E27FC236}">
                <a16:creationId xmlns:a16="http://schemas.microsoft.com/office/drawing/2014/main" id="{8B1A95FE-071D-46AA-A3B7-F1FA5AF02132}"/>
              </a:ext>
            </a:extLst>
          </p:cNvPr>
          <p:cNvSpPr>
            <a:spLocks noGrp="1"/>
          </p:cNvSpPr>
          <p:nvPr/>
        </p:nvSpPr>
        <p:spPr>
          <a:xfrm>
            <a:off x="658368" y="6492240"/>
            <a:ext cx="10844784" cy="0"/>
          </a:xfrm>
          <a:prstGeom prst="line">
            <a:avLst/>
          </a:prstGeom>
          <a:noFill/>
          <a:ln w="11430">
            <a:solidFill>
              <a:srgbClr val="D9E2D9"/>
            </a:solidFill>
            <a:prstDash val="solid"/>
          </a:ln>
        </p:spPr>
        <p:txBody>
          <a:bodyPr/>
          <a:lstStyle/>
          <a:p>
            <a:endParaRPr/>
          </a:p>
        </p:txBody>
      </p:sp>
      <p:sp>
        <p:nvSpPr>
          <p:cNvPr id="8" name="Text 6">
            <a:extLst>
              <a:ext uri="{FF2B5EF4-FFF2-40B4-BE49-F238E27FC236}">
                <a16:creationId xmlns:a16="http://schemas.microsoft.com/office/drawing/2014/main" id="{16474151-AC93-4985-A46E-C9EFECEB64BB}"/>
              </a:ext>
            </a:extLst>
          </p:cNvPr>
          <p:cNvSpPr>
            <a:spLocks noGrp="1"/>
          </p:cNvSpPr>
          <p:nvPr/>
        </p:nvSpPr>
        <p:spPr>
          <a:xfrm>
            <a:off x="667512" y="6556248"/>
            <a:ext cx="4114800" cy="155448"/>
          </a:xfrm>
          <a:prstGeom prst="rect">
            <a:avLst/>
          </a:prstGeom>
          <a:noFill/>
        </p:spPr>
        <p:txBody>
          <a:bodyPr wrap="square" lIns="0" tIns="0" rIns="0" bIns="0" anchor="ctr">
            <a:normAutofit/>
          </a:bodyPr>
          <a:lstStyle/>
          <a:p>
            <a:pPr marL="0" indent="0">
              <a:buNone/>
            </a:pPr>
            <a:r>
              <a:rPr sz="900" b="1" spc="60">
                <a:solidFill>
                  <a:srgbClr val="62736A"/>
                </a:solidFill>
                <a:latin typeface="Aptos"/>
                <a:ea typeface="Aptos"/>
                <a:cs typeface="Aptos"/>
              </a:rPr>
              <a:t>GRAZING + FEED PLANNING</a:t>
            </a:r>
            <a:endParaRPr sz="900"/>
          </a:p>
        </p:txBody>
      </p:sp>
      <p:sp>
        <p:nvSpPr>
          <p:cNvPr id="10" name="Shape 8">
            <a:extLst>
              <a:ext uri="{FF2B5EF4-FFF2-40B4-BE49-F238E27FC236}">
                <a16:creationId xmlns:a16="http://schemas.microsoft.com/office/drawing/2014/main" id="{5D5372A6-6028-4CEB-80D8-668EF986FB57}"/>
              </a:ext>
            </a:extLst>
          </p:cNvPr>
          <p:cNvSpPr>
            <a:spLocks noGrp="1"/>
          </p:cNvSpPr>
          <p:nvPr/>
        </p:nvSpPr>
        <p:spPr>
          <a:xfrm>
            <a:off x="786384" y="1709928"/>
            <a:ext cx="3730752" cy="4544568"/>
          </a:xfrm>
          <a:prstGeom prst="roundRect">
            <a:avLst>
              <a:gd name="adj" fmla="val 2941"/>
            </a:avLst>
          </a:prstGeom>
          <a:solidFill>
            <a:srgbClr val="FFFFFF"/>
          </a:solidFill>
          <a:ln w="8890">
            <a:solidFill>
              <a:srgbClr val="D9E2D9"/>
            </a:solidFill>
            <a:prstDash val="solid"/>
          </a:ln>
        </p:spPr>
        <p:txBody>
          <a:bodyPr/>
          <a:lstStyle/>
          <a:p>
            <a:endParaRPr/>
          </a:p>
        </p:txBody>
      </p:sp>
      <p:pic>
        <p:nvPicPr>
          <p:cNvPr id="11" name="Image 0">
            <a:extLst>
              <a:ext uri="{FF2B5EF4-FFF2-40B4-BE49-F238E27FC236}">
                <a16:creationId xmlns:a16="http://schemas.microsoft.com/office/drawing/2014/main" id="{04BEFE0D-D6BF-4CB3-8F4A-C0E8D1F1AA57}"/>
              </a:ext>
            </a:extLst>
          </p:cNvPr>
          <p:cNvPicPr>
            <a:picLocks noChangeAspect="1"/>
          </p:cNvPicPr>
          <p:nvPr/>
        </p:nvPicPr>
        <p:blipFill>
          <a:blip r:embed="rId3"/>
          <a:stretch>
            <a:fillRect/>
          </a:stretch>
        </p:blipFill>
        <p:spPr>
          <a:xfrm>
            <a:off x="981500" y="1773936"/>
            <a:ext cx="3340519" cy="4416552"/>
          </a:xfrm>
          <a:prstGeom prst="rect">
            <a:avLst/>
          </a:prstGeom>
        </p:spPr>
      </p:pic>
      <p:sp>
        <p:nvSpPr>
          <p:cNvPr id="12" name="Shape 9">
            <a:extLst>
              <a:ext uri="{FF2B5EF4-FFF2-40B4-BE49-F238E27FC236}">
                <a16:creationId xmlns:a16="http://schemas.microsoft.com/office/drawing/2014/main" id="{6F05C307-CB6E-40A1-BDDD-3EF5A392C48D}"/>
              </a:ext>
            </a:extLst>
          </p:cNvPr>
          <p:cNvSpPr>
            <a:spLocks noGrp="1"/>
          </p:cNvSpPr>
          <p:nvPr/>
        </p:nvSpPr>
        <p:spPr>
          <a:xfrm>
            <a:off x="4882896" y="1773936"/>
            <a:ext cx="6510528" cy="1243584"/>
          </a:xfrm>
          <a:prstGeom prst="roundRect">
            <a:avLst>
              <a:gd name="adj" fmla="val 8824"/>
            </a:avLst>
          </a:prstGeom>
          <a:solidFill>
            <a:srgbClr val="FFFFFF"/>
          </a:solidFill>
          <a:ln w="8890">
            <a:solidFill>
              <a:srgbClr val="D9E2D9"/>
            </a:solidFill>
            <a:prstDash val="solid"/>
          </a:ln>
        </p:spPr>
        <p:txBody>
          <a:bodyPr/>
          <a:lstStyle/>
          <a:p>
            <a:endParaRPr/>
          </a:p>
        </p:txBody>
      </p:sp>
      <p:sp>
        <p:nvSpPr>
          <p:cNvPr id="13" name="Shape 10">
            <a:extLst>
              <a:ext uri="{FF2B5EF4-FFF2-40B4-BE49-F238E27FC236}">
                <a16:creationId xmlns:a16="http://schemas.microsoft.com/office/drawing/2014/main" id="{30725BAD-F467-4545-815F-E766FB872BB4}"/>
              </a:ext>
            </a:extLst>
          </p:cNvPr>
          <p:cNvSpPr>
            <a:spLocks noGrp="1"/>
          </p:cNvSpPr>
          <p:nvPr/>
        </p:nvSpPr>
        <p:spPr>
          <a:xfrm>
            <a:off x="5029200" y="1901952"/>
            <a:ext cx="384048" cy="347472"/>
          </a:xfrm>
          <a:prstGeom prst="roundRect">
            <a:avLst>
              <a:gd name="adj" fmla="val 31579"/>
            </a:avLst>
          </a:prstGeom>
          <a:solidFill>
            <a:srgbClr val="E5ECDD"/>
          </a:solidFill>
          <a:ln w="8890">
            <a:solidFill>
              <a:srgbClr val="E5ECDD"/>
            </a:solidFill>
            <a:prstDash val="solid"/>
          </a:ln>
        </p:spPr>
        <p:txBody>
          <a:bodyPr/>
          <a:lstStyle/>
          <a:p>
            <a:endParaRPr/>
          </a:p>
        </p:txBody>
      </p:sp>
      <p:sp>
        <p:nvSpPr>
          <p:cNvPr id="14" name="Text 11">
            <a:extLst>
              <a:ext uri="{FF2B5EF4-FFF2-40B4-BE49-F238E27FC236}">
                <a16:creationId xmlns:a16="http://schemas.microsoft.com/office/drawing/2014/main" id="{720D8D74-BEC3-4AA7-B6EC-735987C8473E}"/>
              </a:ext>
            </a:extLst>
          </p:cNvPr>
          <p:cNvSpPr>
            <a:spLocks noGrp="1"/>
          </p:cNvSpPr>
          <p:nvPr/>
        </p:nvSpPr>
        <p:spPr>
          <a:xfrm>
            <a:off x="5029200" y="1911096"/>
            <a:ext cx="384048" cy="274320"/>
          </a:xfrm>
          <a:prstGeom prst="rect">
            <a:avLst/>
          </a:prstGeom>
          <a:noFill/>
        </p:spPr>
        <p:txBody>
          <a:bodyPr wrap="square" lIns="0" tIns="0" rIns="0" bIns="0" anchor="ctr">
            <a:normAutofit/>
          </a:bodyPr>
          <a:lstStyle/>
          <a:p>
            <a:pPr marL="0" indent="0" algn="ctr">
              <a:buNone/>
            </a:pPr>
            <a:r>
              <a:rPr sz="1200" b="1">
                <a:solidFill>
                  <a:srgbClr val="2D7040"/>
                </a:solidFill>
                <a:latin typeface="Aptos"/>
                <a:ea typeface="Aptos"/>
                <a:cs typeface="Aptos"/>
              </a:rPr>
              <a:t>1</a:t>
            </a:r>
            <a:endParaRPr sz="1200"/>
          </a:p>
        </p:txBody>
      </p:sp>
      <p:sp>
        <p:nvSpPr>
          <p:cNvPr id="15" name="Text 12">
            <a:extLst>
              <a:ext uri="{FF2B5EF4-FFF2-40B4-BE49-F238E27FC236}">
                <a16:creationId xmlns:a16="http://schemas.microsoft.com/office/drawing/2014/main" id="{4D18F114-6F50-4541-A19A-1FC26DD2D59D}"/>
              </a:ext>
            </a:extLst>
          </p:cNvPr>
          <p:cNvSpPr>
            <a:spLocks noGrp="1"/>
          </p:cNvSpPr>
          <p:nvPr/>
        </p:nvSpPr>
        <p:spPr>
          <a:xfrm>
            <a:off x="5541264" y="1911096"/>
            <a:ext cx="5641848" cy="310896"/>
          </a:xfrm>
          <a:prstGeom prst="rect">
            <a:avLst/>
          </a:prstGeom>
          <a:noFill/>
        </p:spPr>
        <p:txBody>
          <a:bodyPr wrap="square" lIns="0" tIns="0" rIns="0" bIns="0" anchor="ctr">
            <a:normAutofit/>
          </a:bodyPr>
          <a:lstStyle/>
          <a:p>
            <a:pPr marL="0" indent="0">
              <a:buNone/>
            </a:pPr>
            <a:r>
              <a:rPr sz="1700" b="1">
                <a:solidFill>
                  <a:srgbClr val="193F2A"/>
                </a:solidFill>
                <a:latin typeface="Aptos"/>
                <a:ea typeface="Aptos"/>
                <a:cs typeface="Aptos"/>
              </a:rPr>
              <a:t>Handwritten paddock plan</a:t>
            </a:r>
            <a:endParaRPr sz="1700"/>
          </a:p>
        </p:txBody>
      </p:sp>
      <p:sp>
        <p:nvSpPr>
          <p:cNvPr id="16" name="Text 13">
            <a:extLst>
              <a:ext uri="{FF2B5EF4-FFF2-40B4-BE49-F238E27FC236}">
                <a16:creationId xmlns:a16="http://schemas.microsoft.com/office/drawing/2014/main" id="{2CE28952-6350-48B7-854E-9E3E89744F36}"/>
              </a:ext>
            </a:extLst>
          </p:cNvPr>
          <p:cNvSpPr>
            <a:spLocks noGrp="1"/>
          </p:cNvSpPr>
          <p:nvPr/>
        </p:nvSpPr>
        <p:spPr>
          <a:xfrm>
            <a:off x="5541264" y="2331720"/>
            <a:ext cx="5623560" cy="612648"/>
          </a:xfrm>
          <a:prstGeom prst="rect">
            <a:avLst/>
          </a:prstGeom>
          <a:noFill/>
        </p:spPr>
        <p:txBody>
          <a:bodyPr wrap="square" lIns="0" tIns="0" rIns="0" bIns="0" anchor="t">
            <a:normAutofit/>
          </a:bodyPr>
          <a:lstStyle/>
          <a:p>
            <a:pPr marL="0" indent="0">
              <a:buNone/>
            </a:pPr>
            <a:r>
              <a:rPr sz="1300">
                <a:solidFill>
                  <a:srgbClr val="62736A"/>
                </a:solidFill>
                <a:latin typeface="Aptos"/>
                <a:ea typeface="Aptos"/>
                <a:cs typeface="Aptos"/>
              </a:rPr>
              <a:t>Paddock names, dates, herds and AM/PM breaks are recorded on a physical board.</a:t>
            </a:r>
            <a:endParaRPr sz="1300"/>
          </a:p>
        </p:txBody>
      </p:sp>
      <p:sp>
        <p:nvSpPr>
          <p:cNvPr id="17" name="Shape 14">
            <a:extLst>
              <a:ext uri="{FF2B5EF4-FFF2-40B4-BE49-F238E27FC236}">
                <a16:creationId xmlns:a16="http://schemas.microsoft.com/office/drawing/2014/main" id="{BB1B5D3D-7586-4B20-8939-66F7B60671C0}"/>
              </a:ext>
            </a:extLst>
          </p:cNvPr>
          <p:cNvSpPr>
            <a:spLocks noGrp="1"/>
          </p:cNvSpPr>
          <p:nvPr/>
        </p:nvSpPr>
        <p:spPr>
          <a:xfrm>
            <a:off x="4882896" y="3191256"/>
            <a:ext cx="6510528" cy="1243584"/>
          </a:xfrm>
          <a:prstGeom prst="roundRect">
            <a:avLst>
              <a:gd name="adj" fmla="val 8824"/>
            </a:avLst>
          </a:prstGeom>
          <a:solidFill>
            <a:srgbClr val="FFFFFF"/>
          </a:solidFill>
          <a:ln w="8890">
            <a:solidFill>
              <a:srgbClr val="D9E2D9"/>
            </a:solidFill>
            <a:prstDash val="solid"/>
          </a:ln>
        </p:spPr>
        <p:txBody>
          <a:bodyPr/>
          <a:lstStyle/>
          <a:p>
            <a:endParaRPr/>
          </a:p>
        </p:txBody>
      </p:sp>
      <p:sp>
        <p:nvSpPr>
          <p:cNvPr id="18" name="Shape 15">
            <a:extLst>
              <a:ext uri="{FF2B5EF4-FFF2-40B4-BE49-F238E27FC236}">
                <a16:creationId xmlns:a16="http://schemas.microsoft.com/office/drawing/2014/main" id="{3291E40C-5249-41A1-BF4C-1677B8B4829F}"/>
              </a:ext>
            </a:extLst>
          </p:cNvPr>
          <p:cNvSpPr>
            <a:spLocks noGrp="1"/>
          </p:cNvSpPr>
          <p:nvPr/>
        </p:nvSpPr>
        <p:spPr>
          <a:xfrm>
            <a:off x="5029200" y="3319272"/>
            <a:ext cx="384048" cy="347472"/>
          </a:xfrm>
          <a:prstGeom prst="roundRect">
            <a:avLst>
              <a:gd name="adj" fmla="val 31579"/>
            </a:avLst>
          </a:prstGeom>
          <a:solidFill>
            <a:srgbClr val="E5ECDD"/>
          </a:solidFill>
          <a:ln w="8890">
            <a:solidFill>
              <a:srgbClr val="E5ECDD"/>
            </a:solidFill>
            <a:prstDash val="solid"/>
          </a:ln>
        </p:spPr>
        <p:txBody>
          <a:bodyPr/>
          <a:lstStyle/>
          <a:p>
            <a:endParaRPr/>
          </a:p>
        </p:txBody>
      </p:sp>
      <p:sp>
        <p:nvSpPr>
          <p:cNvPr id="19" name="Text 16">
            <a:extLst>
              <a:ext uri="{FF2B5EF4-FFF2-40B4-BE49-F238E27FC236}">
                <a16:creationId xmlns:a16="http://schemas.microsoft.com/office/drawing/2014/main" id="{A9F3A28D-D514-4020-A1BA-7627EBD7929F}"/>
              </a:ext>
            </a:extLst>
          </p:cNvPr>
          <p:cNvSpPr>
            <a:spLocks noGrp="1"/>
          </p:cNvSpPr>
          <p:nvPr/>
        </p:nvSpPr>
        <p:spPr>
          <a:xfrm>
            <a:off x="5029200" y="3328416"/>
            <a:ext cx="384048" cy="274320"/>
          </a:xfrm>
          <a:prstGeom prst="rect">
            <a:avLst/>
          </a:prstGeom>
          <a:noFill/>
        </p:spPr>
        <p:txBody>
          <a:bodyPr wrap="square" lIns="0" tIns="0" rIns="0" bIns="0" anchor="ctr">
            <a:normAutofit/>
          </a:bodyPr>
          <a:lstStyle/>
          <a:p>
            <a:pPr marL="0" indent="0" algn="ctr">
              <a:buNone/>
            </a:pPr>
            <a:r>
              <a:rPr sz="1200" b="1">
                <a:solidFill>
                  <a:srgbClr val="2D7040"/>
                </a:solidFill>
                <a:latin typeface="Aptos"/>
                <a:ea typeface="Aptos"/>
                <a:cs typeface="Aptos"/>
              </a:rPr>
              <a:t>2</a:t>
            </a:r>
            <a:endParaRPr sz="1200"/>
          </a:p>
        </p:txBody>
      </p:sp>
      <p:sp>
        <p:nvSpPr>
          <p:cNvPr id="20" name="Text 17">
            <a:extLst>
              <a:ext uri="{FF2B5EF4-FFF2-40B4-BE49-F238E27FC236}">
                <a16:creationId xmlns:a16="http://schemas.microsoft.com/office/drawing/2014/main" id="{CFE648D3-C6E5-45DA-9637-43C4DB06C7CB}"/>
              </a:ext>
            </a:extLst>
          </p:cNvPr>
          <p:cNvSpPr>
            <a:spLocks noGrp="1"/>
          </p:cNvSpPr>
          <p:nvPr/>
        </p:nvSpPr>
        <p:spPr>
          <a:xfrm>
            <a:off x="5541264" y="3328416"/>
            <a:ext cx="5641848" cy="310896"/>
          </a:xfrm>
          <a:prstGeom prst="rect">
            <a:avLst/>
          </a:prstGeom>
          <a:noFill/>
        </p:spPr>
        <p:txBody>
          <a:bodyPr wrap="square" lIns="0" tIns="0" rIns="0" bIns="0" anchor="ctr">
            <a:normAutofit/>
          </a:bodyPr>
          <a:lstStyle/>
          <a:p>
            <a:pPr marL="0" indent="0">
              <a:buNone/>
            </a:pPr>
            <a:r>
              <a:rPr sz="1700" b="1">
                <a:solidFill>
                  <a:srgbClr val="193F2A"/>
                </a:solidFill>
                <a:latin typeface="Aptos"/>
                <a:ea typeface="Aptos"/>
                <a:cs typeface="Aptos"/>
              </a:rPr>
              <a:t>Manual feed calculations</a:t>
            </a:r>
            <a:endParaRPr sz="1700"/>
          </a:p>
        </p:txBody>
      </p:sp>
      <p:sp>
        <p:nvSpPr>
          <p:cNvPr id="21" name="Text 18">
            <a:extLst>
              <a:ext uri="{FF2B5EF4-FFF2-40B4-BE49-F238E27FC236}">
                <a16:creationId xmlns:a16="http://schemas.microsoft.com/office/drawing/2014/main" id="{FFF420A1-51D6-4217-A1F8-40323BD70E52}"/>
              </a:ext>
            </a:extLst>
          </p:cNvPr>
          <p:cNvSpPr>
            <a:spLocks noGrp="1"/>
          </p:cNvSpPr>
          <p:nvPr/>
        </p:nvSpPr>
        <p:spPr>
          <a:xfrm>
            <a:off x="5541264" y="3749040"/>
            <a:ext cx="5623560" cy="612648"/>
          </a:xfrm>
          <a:prstGeom prst="rect">
            <a:avLst/>
          </a:prstGeom>
          <a:noFill/>
        </p:spPr>
        <p:txBody>
          <a:bodyPr wrap="square" lIns="0" tIns="0" rIns="0" bIns="0" anchor="t">
            <a:normAutofit/>
          </a:bodyPr>
          <a:lstStyle/>
          <a:p>
            <a:pPr marL="0" indent="0">
              <a:buNone/>
            </a:pPr>
            <a:r>
              <a:rPr sz="1300" dirty="0">
                <a:solidFill>
                  <a:srgbClr val="62736A"/>
                </a:solidFill>
                <a:latin typeface="Aptos"/>
                <a:ea typeface="Aptos"/>
                <a:cs typeface="Aptos"/>
              </a:rPr>
              <a:t>Changes to herd numbers, round length or</a:t>
            </a:r>
            <a:r>
              <a:rPr lang="en-AU" sz="1300" dirty="0">
                <a:solidFill>
                  <a:srgbClr val="62736A"/>
                </a:solidFill>
                <a:latin typeface="Aptos"/>
                <a:ea typeface="Aptos"/>
                <a:cs typeface="Aptos"/>
              </a:rPr>
              <a:t> grass length </a:t>
            </a:r>
            <a:endParaRPr sz="1300" dirty="0"/>
          </a:p>
        </p:txBody>
      </p:sp>
      <p:sp>
        <p:nvSpPr>
          <p:cNvPr id="22" name="Shape 19">
            <a:extLst>
              <a:ext uri="{FF2B5EF4-FFF2-40B4-BE49-F238E27FC236}">
                <a16:creationId xmlns:a16="http://schemas.microsoft.com/office/drawing/2014/main" id="{A51F7540-C8EE-4494-A048-EC5AF3FBD1BB}"/>
              </a:ext>
            </a:extLst>
          </p:cNvPr>
          <p:cNvSpPr>
            <a:spLocks noGrp="1"/>
          </p:cNvSpPr>
          <p:nvPr/>
        </p:nvSpPr>
        <p:spPr>
          <a:xfrm>
            <a:off x="4882896" y="4727448"/>
            <a:ext cx="6510528" cy="1060704"/>
          </a:xfrm>
          <a:prstGeom prst="roundRect">
            <a:avLst>
              <a:gd name="adj" fmla="val 10345"/>
            </a:avLst>
          </a:prstGeom>
          <a:solidFill>
            <a:srgbClr val="E5ECDD"/>
          </a:solidFill>
          <a:ln w="8890">
            <a:solidFill>
              <a:srgbClr val="E5ECDD"/>
            </a:solidFill>
            <a:prstDash val="solid"/>
          </a:ln>
        </p:spPr>
        <p:txBody>
          <a:bodyPr/>
          <a:lstStyle/>
          <a:p>
            <a:endParaRPr/>
          </a:p>
        </p:txBody>
      </p:sp>
      <p:sp>
        <p:nvSpPr>
          <p:cNvPr id="23" name="Text 20">
            <a:extLst>
              <a:ext uri="{FF2B5EF4-FFF2-40B4-BE49-F238E27FC236}">
                <a16:creationId xmlns:a16="http://schemas.microsoft.com/office/drawing/2014/main" id="{50C9DFAF-4C05-4805-BC6A-495A64EE87B1}"/>
              </a:ext>
            </a:extLst>
          </p:cNvPr>
          <p:cNvSpPr>
            <a:spLocks noGrp="1"/>
          </p:cNvSpPr>
          <p:nvPr/>
        </p:nvSpPr>
        <p:spPr>
          <a:xfrm>
            <a:off x="5138928" y="4919472"/>
            <a:ext cx="2194560" cy="283464"/>
          </a:xfrm>
          <a:prstGeom prst="rect">
            <a:avLst/>
          </a:prstGeom>
          <a:noFill/>
        </p:spPr>
        <p:txBody>
          <a:bodyPr wrap="square" lIns="0" tIns="0" rIns="0" bIns="0" anchor="ctr">
            <a:normAutofit/>
          </a:bodyPr>
          <a:lstStyle/>
          <a:p>
            <a:pPr marL="0" indent="0">
              <a:buNone/>
            </a:pPr>
            <a:r>
              <a:rPr sz="1400" b="1">
                <a:solidFill>
                  <a:srgbClr val="2D7040"/>
                </a:solidFill>
                <a:latin typeface="Aptos"/>
                <a:ea typeface="Aptos"/>
                <a:cs typeface="Aptos"/>
              </a:rPr>
              <a:t>The opportunity</a:t>
            </a:r>
            <a:endParaRPr sz="1400"/>
          </a:p>
        </p:txBody>
      </p:sp>
      <p:sp>
        <p:nvSpPr>
          <p:cNvPr id="24" name="Text 21">
            <a:extLst>
              <a:ext uri="{FF2B5EF4-FFF2-40B4-BE49-F238E27FC236}">
                <a16:creationId xmlns:a16="http://schemas.microsoft.com/office/drawing/2014/main" id="{90AABB3E-FFEE-4D4D-B07B-1682B6B84EE0}"/>
              </a:ext>
            </a:extLst>
          </p:cNvPr>
          <p:cNvSpPr>
            <a:spLocks noGrp="1"/>
          </p:cNvSpPr>
          <p:nvPr/>
        </p:nvSpPr>
        <p:spPr>
          <a:xfrm>
            <a:off x="5138928" y="5294376"/>
            <a:ext cx="5980176" cy="356616"/>
          </a:xfrm>
          <a:prstGeom prst="rect">
            <a:avLst/>
          </a:prstGeom>
          <a:noFill/>
        </p:spPr>
        <p:txBody>
          <a:bodyPr wrap="square" lIns="0" tIns="0" rIns="0" bIns="0" anchor="ctr">
            <a:normAutofit/>
          </a:bodyPr>
          <a:lstStyle/>
          <a:p>
            <a:pPr marL="0" indent="0">
              <a:buNone/>
            </a:pPr>
            <a:r>
              <a:rPr sz="1900" b="1">
                <a:solidFill>
                  <a:srgbClr val="193F2A"/>
                </a:solidFill>
                <a:latin typeface="Aptos"/>
                <a:ea typeface="Aptos"/>
                <a:cs typeface="Aptos"/>
              </a:rPr>
              <a:t>Keep the familiar plan, but make it quicker to update.</a:t>
            </a:r>
            <a:endParaRPr sz="1900"/>
          </a:p>
        </p:txBody>
      </p:sp>
      <p:sp>
        <p:nvSpPr>
          <p:cNvPr id="25" name="section-label">
            <a:extLst>
              <a:ext uri="{FF2B5EF4-FFF2-40B4-BE49-F238E27FC236}">
                <a16:creationId xmlns:a16="http://schemas.microsoft.com/office/drawing/2014/main" id="{D469026C-32DA-4640-9EF0-CF5CE837E1A5}"/>
              </a:ext>
            </a:extLst>
          </p:cNvPr>
          <p:cNvSpPr>
            <a:spLocks noGrp="1"/>
          </p:cNvSpPr>
          <p:nvPr/>
        </p:nvSpPr>
        <p:spPr>
          <a:xfrm>
            <a:off x="658368" y="342900"/>
            <a:ext cx="8382000" cy="228600"/>
          </a:xfrm>
          <a:prstGeom prst="rect">
            <a:avLst/>
          </a:prstGeom>
          <a:noFill/>
          <a:ln w="0">
            <a:noFill/>
          </a:ln>
        </p:spPr>
        <p:txBody>
          <a:bodyPr wrap="square" lIns="0" tIns="0" rIns="0" bIns="0" anchor="t">
            <a:noAutofit/>
          </a:bodyPr>
          <a:lstStyle>
            <a:defPPr algn="l">
              <a:defRPr sz="1100" b="1">
                <a:solidFill>
                  <a:srgbClr val="2D7040"/>
                </a:solidFill>
                <a:latin typeface="Aptos"/>
                <a:ea typeface="Aptos"/>
                <a:cs typeface="Aptos"/>
              </a:defRPr>
            </a:defPPr>
          </a:lstStyle>
          <a:p>
            <a:pPr algn="l">
              <a:defRPr sz="1100" b="1">
                <a:solidFill>
                  <a:srgbClr val="2D7040"/>
                </a:solidFill>
                <a:latin typeface="Aptos"/>
                <a:ea typeface="Aptos"/>
                <a:cs typeface="Aptos"/>
              </a:defRPr>
            </a:pPr>
            <a:r>
              <a:rPr sz="1100" b="1" dirty="0">
                <a:solidFill>
                  <a:srgbClr val="2D7040"/>
                </a:solidFill>
                <a:latin typeface="Aptos"/>
                <a:ea typeface="Aptos"/>
                <a:cs typeface="Aptos"/>
              </a:rPr>
              <a:t>01 / DEFINE </a:t>
            </a:r>
            <a:r>
              <a:rPr lang="en-NZ" sz="1100" b="1" dirty="0">
                <a:solidFill>
                  <a:srgbClr val="2D7040"/>
                </a:solidFill>
                <a:latin typeface="Aptos"/>
                <a:ea typeface="Aptos"/>
                <a:cs typeface="Aptos"/>
              </a:rPr>
              <a:t>–</a:t>
            </a:r>
            <a:r>
              <a:rPr sz="1100" b="1" dirty="0">
                <a:solidFill>
                  <a:srgbClr val="2D7040"/>
                </a:solidFill>
                <a:latin typeface="Aptos"/>
                <a:ea typeface="Aptos"/>
                <a:cs typeface="Aptos"/>
              </a:rPr>
              <a:t> </a:t>
            </a:r>
            <a:r>
              <a:rPr lang="en-AU" sz="1100" b="1" dirty="0">
                <a:solidFill>
                  <a:srgbClr val="2D7040"/>
                </a:solidFill>
                <a:latin typeface="Aptos"/>
                <a:ea typeface="Aptos"/>
                <a:cs typeface="Aptos"/>
              </a:rPr>
              <a:t>Stakeholder problem </a:t>
            </a:r>
            <a:endParaRPr sz="1100" b="1" dirty="0">
              <a:solidFill>
                <a:srgbClr val="2D7040"/>
              </a:solidFill>
              <a:latin typeface="Aptos"/>
              <a:ea typeface="Aptos"/>
              <a:cs typeface="Aptos"/>
            </a:endParaRPr>
          </a:p>
        </p:txBody>
      </p:sp>
    </p:spTree>
    <p:extLst>
      <p:ext uri="{BB962C8B-B14F-4D97-AF65-F5344CB8AC3E}">
        <p14:creationId xmlns:p14="http://schemas.microsoft.com/office/powerpoint/2010/main" val="1726102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4"/>
        </a:solidFill>
        <a:effectLst/>
      </p:bgPr>
    </p:bg>
    <p:spTree>
      <p:nvGrpSpPr>
        <p:cNvPr id="1" name="">
          <a:extLst>
            <a:ext uri="{FF2B5EF4-FFF2-40B4-BE49-F238E27FC236}">
              <a16:creationId xmlns:a16="http://schemas.microsoft.com/office/drawing/2014/main" id="{83BDF906-4D45-71BA-BCD0-28232214AC2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6A0E626-4760-63CE-FC96-66E4AF1536B3}"/>
              </a:ext>
            </a:extLst>
          </p:cNvPr>
          <p:cNvSpPr>
            <a:spLocks noGrp="1"/>
          </p:cNvSpPr>
          <p:nvPr/>
        </p:nvSpPr>
        <p:spPr>
          <a:xfrm>
            <a:off x="0" y="0"/>
            <a:ext cx="105156" cy="6858000"/>
          </a:xfrm>
          <a:prstGeom prst="rect">
            <a:avLst/>
          </a:prstGeom>
          <a:solidFill>
            <a:srgbClr val="2D7040"/>
          </a:solidFill>
          <a:ln w="12700">
            <a:solidFill>
              <a:srgbClr val="2D7040">
                <a:alpha val="0"/>
              </a:srgbClr>
            </a:solidFill>
            <a:prstDash val="solid"/>
          </a:ln>
        </p:spPr>
        <p:txBody>
          <a:bodyPr/>
          <a:lstStyle/>
          <a:p>
            <a:endParaRPr/>
          </a:p>
        </p:txBody>
      </p:sp>
      <p:sp>
        <p:nvSpPr>
          <p:cNvPr id="4" name="Text 2">
            <a:extLst>
              <a:ext uri="{FF2B5EF4-FFF2-40B4-BE49-F238E27FC236}">
                <a16:creationId xmlns:a16="http://schemas.microsoft.com/office/drawing/2014/main" id="{69323424-694F-E190-8F0D-84BD7CA28B04}"/>
              </a:ext>
            </a:extLst>
          </p:cNvPr>
          <p:cNvSpPr>
            <a:spLocks noGrp="1"/>
          </p:cNvSpPr>
          <p:nvPr/>
        </p:nvSpPr>
        <p:spPr>
          <a:xfrm>
            <a:off x="658368" y="758952"/>
            <a:ext cx="10698480" cy="502920"/>
          </a:xfrm>
          <a:prstGeom prst="rect">
            <a:avLst/>
          </a:prstGeom>
          <a:noFill/>
        </p:spPr>
        <p:txBody>
          <a:bodyPr wrap="square" lIns="0" tIns="0" rIns="0" bIns="0" anchor="ctr">
            <a:normAutofit/>
          </a:bodyPr>
          <a:lstStyle/>
          <a:p>
            <a:pPr marL="0" indent="0">
              <a:buNone/>
            </a:pPr>
            <a:r>
              <a:rPr lang="en-AU" sz="3000" b="1" dirty="0">
                <a:solidFill>
                  <a:srgbClr val="193F2A"/>
                </a:solidFill>
                <a:latin typeface="Aptos"/>
                <a:ea typeface="Aptos"/>
                <a:cs typeface="Aptos"/>
              </a:rPr>
              <a:t>Stakeholder understanding </a:t>
            </a:r>
            <a:endParaRPr sz="3000" dirty="0"/>
          </a:p>
        </p:txBody>
      </p:sp>
      <p:sp>
        <p:nvSpPr>
          <p:cNvPr id="6" name="Text 4">
            <a:extLst>
              <a:ext uri="{FF2B5EF4-FFF2-40B4-BE49-F238E27FC236}">
                <a16:creationId xmlns:a16="http://schemas.microsoft.com/office/drawing/2014/main" id="{34911BAC-8A14-8554-E0D3-1A95009D6B5A}"/>
              </a:ext>
            </a:extLst>
          </p:cNvPr>
          <p:cNvSpPr>
            <a:spLocks noGrp="1"/>
          </p:cNvSpPr>
          <p:nvPr/>
        </p:nvSpPr>
        <p:spPr>
          <a:xfrm>
            <a:off x="10561320" y="338328"/>
            <a:ext cx="1005840" cy="274320"/>
          </a:xfrm>
          <a:prstGeom prst="rect">
            <a:avLst/>
          </a:prstGeom>
          <a:noFill/>
        </p:spPr>
        <p:txBody>
          <a:bodyPr wrap="square" lIns="0" tIns="0" rIns="0" bIns="0" anchor="ctr">
            <a:normAutofit/>
          </a:bodyPr>
          <a:lstStyle/>
          <a:p>
            <a:pPr marL="0" indent="0" algn="r">
              <a:buNone/>
            </a:pPr>
            <a:r>
              <a:rPr sz="1400" b="1" dirty="0">
                <a:solidFill>
                  <a:srgbClr val="193F2A"/>
                </a:solidFill>
                <a:latin typeface="Aptos"/>
                <a:ea typeface="Aptos"/>
                <a:cs typeface="Aptos"/>
              </a:rPr>
              <a:t>FeedBoard</a:t>
            </a:r>
            <a:endParaRPr sz="1400" dirty="0"/>
          </a:p>
        </p:txBody>
      </p:sp>
      <p:sp>
        <p:nvSpPr>
          <p:cNvPr id="7" name="Shape 5">
            <a:extLst>
              <a:ext uri="{FF2B5EF4-FFF2-40B4-BE49-F238E27FC236}">
                <a16:creationId xmlns:a16="http://schemas.microsoft.com/office/drawing/2014/main" id="{87E84E5C-A28E-69FE-8122-5A7210DBBD64}"/>
              </a:ext>
            </a:extLst>
          </p:cNvPr>
          <p:cNvSpPr>
            <a:spLocks noGrp="1"/>
          </p:cNvSpPr>
          <p:nvPr/>
        </p:nvSpPr>
        <p:spPr>
          <a:xfrm>
            <a:off x="658368" y="6492240"/>
            <a:ext cx="10844784" cy="0"/>
          </a:xfrm>
          <a:prstGeom prst="line">
            <a:avLst/>
          </a:prstGeom>
          <a:noFill/>
          <a:ln w="11430">
            <a:solidFill>
              <a:srgbClr val="D9E2D9"/>
            </a:solidFill>
            <a:prstDash val="solid"/>
          </a:ln>
        </p:spPr>
        <p:txBody>
          <a:bodyPr/>
          <a:lstStyle/>
          <a:p>
            <a:endParaRPr/>
          </a:p>
        </p:txBody>
      </p:sp>
      <p:sp>
        <p:nvSpPr>
          <p:cNvPr id="8" name="Text 6">
            <a:extLst>
              <a:ext uri="{FF2B5EF4-FFF2-40B4-BE49-F238E27FC236}">
                <a16:creationId xmlns:a16="http://schemas.microsoft.com/office/drawing/2014/main" id="{B0A5E5F8-085A-DEE3-6297-444A7C2CEC3C}"/>
              </a:ext>
            </a:extLst>
          </p:cNvPr>
          <p:cNvSpPr>
            <a:spLocks noGrp="1"/>
          </p:cNvSpPr>
          <p:nvPr/>
        </p:nvSpPr>
        <p:spPr>
          <a:xfrm>
            <a:off x="667512" y="6556248"/>
            <a:ext cx="4114800" cy="155448"/>
          </a:xfrm>
          <a:prstGeom prst="rect">
            <a:avLst/>
          </a:prstGeom>
          <a:noFill/>
        </p:spPr>
        <p:txBody>
          <a:bodyPr wrap="square" lIns="0" tIns="0" rIns="0" bIns="0" anchor="ctr">
            <a:normAutofit/>
          </a:bodyPr>
          <a:lstStyle/>
          <a:p>
            <a:pPr marL="0" indent="0">
              <a:buNone/>
            </a:pPr>
            <a:r>
              <a:rPr sz="900" b="1" spc="60">
                <a:solidFill>
                  <a:srgbClr val="62736A"/>
                </a:solidFill>
                <a:latin typeface="Aptos"/>
                <a:ea typeface="Aptos"/>
                <a:cs typeface="Aptos"/>
              </a:rPr>
              <a:t>GRAZING + FEED PLANNING</a:t>
            </a:r>
            <a:endParaRPr sz="900"/>
          </a:p>
        </p:txBody>
      </p:sp>
      <p:sp>
        <p:nvSpPr>
          <p:cNvPr id="9" name="Text 7">
            <a:extLst>
              <a:ext uri="{FF2B5EF4-FFF2-40B4-BE49-F238E27FC236}">
                <a16:creationId xmlns:a16="http://schemas.microsoft.com/office/drawing/2014/main" id="{DDA5AC2C-3853-006C-433B-CF8D35C0CE3F}"/>
              </a:ext>
            </a:extLst>
          </p:cNvPr>
          <p:cNvSpPr>
            <a:spLocks noGrp="1"/>
          </p:cNvSpPr>
          <p:nvPr/>
        </p:nvSpPr>
        <p:spPr>
          <a:xfrm>
            <a:off x="10789920" y="6528816"/>
            <a:ext cx="676656" cy="201168"/>
          </a:xfrm>
          <a:prstGeom prst="rect">
            <a:avLst/>
          </a:prstGeom>
          <a:noFill/>
        </p:spPr>
        <p:txBody>
          <a:bodyPr wrap="square" lIns="0" tIns="0" rIns="0" bIns="0" anchor="ctr">
            <a:normAutofit/>
          </a:bodyPr>
          <a:lstStyle/>
          <a:p>
            <a:pPr marL="0" indent="0" algn="r">
              <a:buNone/>
            </a:pPr>
            <a:endParaRPr sz="1000"/>
          </a:p>
        </p:txBody>
      </p:sp>
      <p:sp>
        <p:nvSpPr>
          <p:cNvPr id="13" name="Text 10">
            <a:extLst>
              <a:ext uri="{FF2B5EF4-FFF2-40B4-BE49-F238E27FC236}">
                <a16:creationId xmlns:a16="http://schemas.microsoft.com/office/drawing/2014/main" id="{813ECC83-64F8-87DC-0960-C3F887A9B7C8}"/>
              </a:ext>
            </a:extLst>
          </p:cNvPr>
          <p:cNvSpPr>
            <a:spLocks noGrp="1"/>
          </p:cNvSpPr>
          <p:nvPr/>
        </p:nvSpPr>
        <p:spPr>
          <a:xfrm>
            <a:off x="658368" y="1764107"/>
            <a:ext cx="4842666" cy="1405585"/>
          </a:xfrm>
          <a:prstGeom prst="rect">
            <a:avLst/>
          </a:prstGeom>
          <a:noFill/>
        </p:spPr>
        <p:txBody>
          <a:bodyPr wrap="square" lIns="0" tIns="0" rIns="0" bIns="0" anchor="ctr">
            <a:normAutofit/>
          </a:bodyPr>
          <a:lstStyle/>
          <a:p>
            <a:r>
              <a:rPr lang="en-NZ" sz="1700" b="1" dirty="0">
                <a:solidFill>
                  <a:srgbClr val="62736A"/>
                </a:solidFill>
              </a:rPr>
              <a:t>My background: </a:t>
            </a:r>
            <a:r>
              <a:rPr lang="en-NZ" sz="1400" dirty="0">
                <a:solidFill>
                  <a:srgbClr val="62736A"/>
                </a:solidFill>
              </a:rPr>
              <a:t>Bachelor of Agricultural Commerce at Lincoln University. I currently work as a Rural Banker and prior to this worked on various farms managing feed requirements. </a:t>
            </a:r>
            <a:endParaRPr lang="en-NZ" sz="1400" dirty="0"/>
          </a:p>
          <a:p>
            <a:endParaRPr lang="en-NZ" sz="1400" dirty="0">
              <a:solidFill>
                <a:srgbClr val="62736A"/>
              </a:solidFill>
            </a:endParaRPr>
          </a:p>
          <a:p>
            <a:r>
              <a:rPr lang="en-NZ" sz="1700" b="1" dirty="0">
                <a:solidFill>
                  <a:srgbClr val="62736A"/>
                </a:solidFill>
              </a:rPr>
              <a:t>Talked to farmers: </a:t>
            </a:r>
            <a:r>
              <a:rPr lang="en-NZ" sz="1400" dirty="0">
                <a:solidFill>
                  <a:srgbClr val="62736A"/>
                </a:solidFill>
              </a:rPr>
              <a:t>Spoke to several farmers and queried their needs. </a:t>
            </a:r>
          </a:p>
          <a:p>
            <a:endParaRPr lang="en-NZ" sz="1400" dirty="0">
              <a:solidFill>
                <a:srgbClr val="62736A"/>
              </a:solidFill>
            </a:endParaRPr>
          </a:p>
          <a:p>
            <a:pPr marL="0" indent="0">
              <a:buNone/>
            </a:pPr>
            <a:endParaRPr lang="en-NZ" sz="2100" dirty="0"/>
          </a:p>
        </p:txBody>
      </p:sp>
      <p:sp>
        <p:nvSpPr>
          <p:cNvPr id="16" name="Text 13">
            <a:extLst>
              <a:ext uri="{FF2B5EF4-FFF2-40B4-BE49-F238E27FC236}">
                <a16:creationId xmlns:a16="http://schemas.microsoft.com/office/drawing/2014/main" id="{A0A58789-3452-B833-3CA5-705BF268CCFC}"/>
              </a:ext>
            </a:extLst>
          </p:cNvPr>
          <p:cNvSpPr>
            <a:spLocks noGrp="1"/>
          </p:cNvSpPr>
          <p:nvPr/>
        </p:nvSpPr>
        <p:spPr>
          <a:xfrm>
            <a:off x="658368" y="3292973"/>
            <a:ext cx="4750875" cy="1405585"/>
          </a:xfrm>
          <a:prstGeom prst="rect">
            <a:avLst/>
          </a:prstGeom>
          <a:noFill/>
        </p:spPr>
        <p:txBody>
          <a:bodyPr wrap="square" lIns="0" tIns="0" rIns="0" bIns="0" anchor="ctr">
            <a:normAutofit/>
          </a:bodyPr>
          <a:lstStyle/>
          <a:p>
            <a:pPr marL="0" indent="0">
              <a:buNone/>
            </a:pPr>
            <a:r>
              <a:rPr lang="en-AU" sz="2100" b="1" dirty="0">
                <a:solidFill>
                  <a:schemeClr val="bg1">
                    <a:lumMod val="65000"/>
                  </a:schemeClr>
                </a:solidFill>
                <a:latin typeface="Aptos"/>
                <a:ea typeface="Aptos"/>
                <a:cs typeface="Aptos"/>
              </a:rPr>
              <a:t>Outcomes:</a:t>
            </a:r>
          </a:p>
          <a:p>
            <a:endParaRPr lang="en-NZ" sz="1300" b="1" dirty="0">
              <a:solidFill>
                <a:srgbClr val="62736A"/>
              </a:solidFill>
            </a:endParaRPr>
          </a:p>
          <a:p>
            <a:r>
              <a:rPr lang="en-NZ" sz="1300" b="1" dirty="0">
                <a:solidFill>
                  <a:srgbClr val="62736A"/>
                </a:solidFill>
              </a:rPr>
              <a:t>-Show how the calculation works.</a:t>
            </a:r>
          </a:p>
          <a:p>
            <a:r>
              <a:rPr lang="en-NZ" sz="1300" b="1" dirty="0">
                <a:solidFill>
                  <a:srgbClr val="62736A"/>
                </a:solidFill>
              </a:rPr>
              <a:t>-Make it easy to use.</a:t>
            </a:r>
          </a:p>
          <a:p>
            <a:r>
              <a:rPr lang="en-NZ" sz="1300" b="1" dirty="0">
                <a:solidFill>
                  <a:srgbClr val="62736A"/>
                </a:solidFill>
              </a:rPr>
              <a:t>-Simple no frills design.</a:t>
            </a:r>
          </a:p>
          <a:p>
            <a:endParaRPr sz="2100" dirty="0"/>
          </a:p>
        </p:txBody>
      </p:sp>
      <p:sp>
        <p:nvSpPr>
          <p:cNvPr id="43" name="section-label">
            <a:extLst>
              <a:ext uri="{FF2B5EF4-FFF2-40B4-BE49-F238E27FC236}">
                <a16:creationId xmlns:a16="http://schemas.microsoft.com/office/drawing/2014/main" id="{9BE41D58-D5AD-21FA-6782-9596E8B2BE84}"/>
              </a:ext>
            </a:extLst>
          </p:cNvPr>
          <p:cNvSpPr>
            <a:spLocks noGrp="1"/>
          </p:cNvSpPr>
          <p:nvPr/>
        </p:nvSpPr>
        <p:spPr>
          <a:xfrm>
            <a:off x="658368" y="342900"/>
            <a:ext cx="8382000" cy="228600"/>
          </a:xfrm>
          <a:prstGeom prst="rect">
            <a:avLst/>
          </a:prstGeom>
          <a:noFill/>
          <a:ln w="0">
            <a:noFill/>
          </a:ln>
        </p:spPr>
        <p:txBody>
          <a:bodyPr wrap="square" lIns="0" tIns="0" rIns="0" bIns="0" anchor="t">
            <a:noAutofit/>
          </a:bodyPr>
          <a:lstStyle>
            <a:defPPr algn="l">
              <a:defRPr sz="1100" b="1">
                <a:solidFill>
                  <a:srgbClr val="2D7040"/>
                </a:solidFill>
                <a:latin typeface="Aptos"/>
                <a:ea typeface="Aptos"/>
                <a:cs typeface="Aptos"/>
              </a:defRPr>
            </a:defPPr>
          </a:lstStyle>
          <a:p>
            <a:pPr algn="l">
              <a:defRPr sz="1100" b="1">
                <a:solidFill>
                  <a:srgbClr val="2D7040"/>
                </a:solidFill>
                <a:latin typeface="Aptos"/>
                <a:ea typeface="Aptos"/>
                <a:cs typeface="Aptos"/>
              </a:defRPr>
            </a:pPr>
            <a:r>
              <a:rPr sz="1100" b="1" dirty="0">
                <a:solidFill>
                  <a:srgbClr val="2D7040"/>
                </a:solidFill>
                <a:latin typeface="Aptos"/>
                <a:ea typeface="Aptos"/>
                <a:cs typeface="Aptos"/>
              </a:rPr>
              <a:t>01 / DEFINE </a:t>
            </a:r>
            <a:r>
              <a:rPr lang="en-NZ" sz="1100" b="1" dirty="0">
                <a:solidFill>
                  <a:srgbClr val="2D7040"/>
                </a:solidFill>
                <a:latin typeface="Aptos"/>
                <a:ea typeface="Aptos"/>
                <a:cs typeface="Aptos"/>
              </a:rPr>
              <a:t>–</a:t>
            </a:r>
            <a:r>
              <a:rPr sz="1100" b="1" dirty="0">
                <a:solidFill>
                  <a:srgbClr val="2D7040"/>
                </a:solidFill>
                <a:latin typeface="Aptos"/>
                <a:ea typeface="Aptos"/>
                <a:cs typeface="Aptos"/>
              </a:rPr>
              <a:t> </a:t>
            </a:r>
            <a:r>
              <a:rPr lang="en-AU" sz="1100" b="1" dirty="0">
                <a:solidFill>
                  <a:srgbClr val="2D7040"/>
                </a:solidFill>
                <a:latin typeface="Aptos"/>
                <a:ea typeface="Aptos"/>
                <a:cs typeface="Aptos"/>
              </a:rPr>
              <a:t>Stakeholder</a:t>
            </a:r>
            <a:endParaRPr sz="1100" b="1" dirty="0">
              <a:solidFill>
                <a:srgbClr val="2D7040"/>
              </a:solidFill>
              <a:latin typeface="Aptos"/>
              <a:ea typeface="Aptos"/>
              <a:cs typeface="Aptos"/>
            </a:endParaRPr>
          </a:p>
        </p:txBody>
      </p:sp>
      <p:pic>
        <p:nvPicPr>
          <p:cNvPr id="25" name="Picture 24">
            <a:extLst>
              <a:ext uri="{FF2B5EF4-FFF2-40B4-BE49-F238E27FC236}">
                <a16:creationId xmlns:a16="http://schemas.microsoft.com/office/drawing/2014/main" id="{EA305FB3-12A8-F5AB-594E-A8CB4EDC16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5010" y="3141849"/>
            <a:ext cx="6578622" cy="2885142"/>
          </a:xfrm>
          <a:prstGeom prst="rect">
            <a:avLst/>
          </a:prstGeom>
        </p:spPr>
      </p:pic>
    </p:spTree>
    <p:extLst>
      <p:ext uri="{BB962C8B-B14F-4D97-AF65-F5344CB8AC3E}">
        <p14:creationId xmlns:p14="http://schemas.microsoft.com/office/powerpoint/2010/main" val="698440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8F4"/>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7273371-14AD-4CF3-BF2E-756E08D9590F}"/>
              </a:ext>
            </a:extLst>
          </p:cNvPr>
          <p:cNvSpPr>
            <a:spLocks noGrp="1"/>
          </p:cNvSpPr>
          <p:nvPr/>
        </p:nvSpPr>
        <p:spPr>
          <a:xfrm>
            <a:off x="0" y="0"/>
            <a:ext cx="105156" cy="6858000"/>
          </a:xfrm>
          <a:prstGeom prst="rect">
            <a:avLst/>
          </a:prstGeom>
          <a:solidFill>
            <a:srgbClr val="2D7040"/>
          </a:solidFill>
          <a:ln w="12700">
            <a:solidFill>
              <a:srgbClr val="2D7040">
                <a:alpha val="0"/>
              </a:srgbClr>
            </a:solidFill>
            <a:prstDash val="solid"/>
          </a:ln>
        </p:spPr>
        <p:txBody>
          <a:bodyPr/>
          <a:lstStyle/>
          <a:p>
            <a:endParaRPr/>
          </a:p>
        </p:txBody>
      </p:sp>
      <p:sp>
        <p:nvSpPr>
          <p:cNvPr id="4" name="Text 2">
            <a:extLst>
              <a:ext uri="{FF2B5EF4-FFF2-40B4-BE49-F238E27FC236}">
                <a16:creationId xmlns:a16="http://schemas.microsoft.com/office/drawing/2014/main" id="{9C9E311A-5450-44CC-B6A0-B44EEB9259E5}"/>
              </a:ext>
            </a:extLst>
          </p:cNvPr>
          <p:cNvSpPr>
            <a:spLocks noGrp="1"/>
          </p:cNvSpPr>
          <p:nvPr/>
        </p:nvSpPr>
        <p:spPr>
          <a:xfrm>
            <a:off x="658368" y="758952"/>
            <a:ext cx="10698480" cy="502920"/>
          </a:xfrm>
          <a:prstGeom prst="rect">
            <a:avLst/>
          </a:prstGeom>
          <a:noFill/>
        </p:spPr>
        <p:txBody>
          <a:bodyPr wrap="square" lIns="0" tIns="0" rIns="0" bIns="0" anchor="ctr">
            <a:normAutofit/>
          </a:bodyPr>
          <a:lstStyle/>
          <a:p>
            <a:pPr marL="0" indent="0">
              <a:buNone/>
            </a:pPr>
            <a:r>
              <a:rPr sz="3000" b="1">
                <a:solidFill>
                  <a:srgbClr val="193F2A"/>
                </a:solidFill>
                <a:latin typeface="Aptos"/>
                <a:ea typeface="Aptos"/>
                <a:cs typeface="Aptos"/>
              </a:rPr>
              <a:t>Who needs the information?</a:t>
            </a:r>
            <a:endParaRPr sz="3000"/>
          </a:p>
        </p:txBody>
      </p:sp>
      <p:sp>
        <p:nvSpPr>
          <p:cNvPr id="5" name="Text 3">
            <a:extLst>
              <a:ext uri="{FF2B5EF4-FFF2-40B4-BE49-F238E27FC236}">
                <a16:creationId xmlns:a16="http://schemas.microsoft.com/office/drawing/2014/main" id="{F08BFC02-80F2-4C02-B118-60360F1A8DF2}"/>
              </a:ext>
            </a:extLst>
          </p:cNvPr>
          <p:cNvSpPr>
            <a:spLocks noGrp="1"/>
          </p:cNvSpPr>
          <p:nvPr/>
        </p:nvSpPr>
        <p:spPr>
          <a:xfrm>
            <a:off x="676656" y="1298448"/>
            <a:ext cx="10424160" cy="292608"/>
          </a:xfrm>
          <a:prstGeom prst="rect">
            <a:avLst/>
          </a:prstGeom>
          <a:noFill/>
        </p:spPr>
        <p:txBody>
          <a:bodyPr wrap="square" lIns="0" tIns="0" rIns="0" bIns="0" anchor="ctr">
            <a:normAutofit/>
          </a:bodyPr>
          <a:lstStyle/>
          <a:p>
            <a:pPr marL="0" indent="0">
              <a:buNone/>
            </a:pPr>
            <a:r>
              <a:rPr sz="1400">
                <a:solidFill>
                  <a:srgbClr val="62736A"/>
                </a:solidFill>
                <a:latin typeface="Aptos"/>
                <a:ea typeface="Aptos"/>
                <a:cs typeface="Aptos"/>
              </a:rPr>
              <a:t>Designed to make the weekly grazing calculations on farm easier</a:t>
            </a:r>
            <a:endParaRPr sz="1400"/>
          </a:p>
        </p:txBody>
      </p:sp>
      <p:sp>
        <p:nvSpPr>
          <p:cNvPr id="6" name="Text 4">
            <a:extLst>
              <a:ext uri="{FF2B5EF4-FFF2-40B4-BE49-F238E27FC236}">
                <a16:creationId xmlns:a16="http://schemas.microsoft.com/office/drawing/2014/main" id="{9D678DE0-ED6D-4A48-B8A3-336D2DAA0AA3}"/>
              </a:ext>
            </a:extLst>
          </p:cNvPr>
          <p:cNvSpPr>
            <a:spLocks noGrp="1"/>
          </p:cNvSpPr>
          <p:nvPr/>
        </p:nvSpPr>
        <p:spPr>
          <a:xfrm>
            <a:off x="10561320" y="338328"/>
            <a:ext cx="1005840" cy="274320"/>
          </a:xfrm>
          <a:prstGeom prst="rect">
            <a:avLst/>
          </a:prstGeom>
          <a:noFill/>
        </p:spPr>
        <p:txBody>
          <a:bodyPr wrap="square" lIns="0" tIns="0" rIns="0" bIns="0" anchor="ctr">
            <a:normAutofit/>
          </a:bodyPr>
          <a:lstStyle/>
          <a:p>
            <a:pPr marL="0" indent="0" algn="r">
              <a:buNone/>
            </a:pPr>
            <a:r>
              <a:rPr sz="1400" b="1" dirty="0">
                <a:solidFill>
                  <a:srgbClr val="193F2A"/>
                </a:solidFill>
                <a:latin typeface="Aptos"/>
                <a:ea typeface="Aptos"/>
                <a:cs typeface="Aptos"/>
              </a:rPr>
              <a:t>FeedBoard</a:t>
            </a:r>
            <a:endParaRPr sz="1400" dirty="0"/>
          </a:p>
        </p:txBody>
      </p:sp>
      <p:sp>
        <p:nvSpPr>
          <p:cNvPr id="7" name="Shape 5">
            <a:extLst>
              <a:ext uri="{FF2B5EF4-FFF2-40B4-BE49-F238E27FC236}">
                <a16:creationId xmlns:a16="http://schemas.microsoft.com/office/drawing/2014/main" id="{0A4C003A-9B8D-4378-A1F3-D0423C4B936E}"/>
              </a:ext>
            </a:extLst>
          </p:cNvPr>
          <p:cNvSpPr>
            <a:spLocks noGrp="1"/>
          </p:cNvSpPr>
          <p:nvPr/>
        </p:nvSpPr>
        <p:spPr>
          <a:xfrm>
            <a:off x="658368" y="6492240"/>
            <a:ext cx="10844784" cy="0"/>
          </a:xfrm>
          <a:prstGeom prst="line">
            <a:avLst/>
          </a:prstGeom>
          <a:noFill/>
          <a:ln w="11430">
            <a:solidFill>
              <a:srgbClr val="D9E2D9"/>
            </a:solidFill>
            <a:prstDash val="solid"/>
          </a:ln>
        </p:spPr>
        <p:txBody>
          <a:bodyPr/>
          <a:lstStyle/>
          <a:p>
            <a:endParaRPr/>
          </a:p>
        </p:txBody>
      </p:sp>
      <p:sp>
        <p:nvSpPr>
          <p:cNvPr id="8" name="Text 6">
            <a:extLst>
              <a:ext uri="{FF2B5EF4-FFF2-40B4-BE49-F238E27FC236}">
                <a16:creationId xmlns:a16="http://schemas.microsoft.com/office/drawing/2014/main" id="{5B0CC2C3-2B61-47D6-BF58-59682BB3DA47}"/>
              </a:ext>
            </a:extLst>
          </p:cNvPr>
          <p:cNvSpPr>
            <a:spLocks noGrp="1"/>
          </p:cNvSpPr>
          <p:nvPr/>
        </p:nvSpPr>
        <p:spPr>
          <a:xfrm>
            <a:off x="667512" y="6556248"/>
            <a:ext cx="4114800" cy="155448"/>
          </a:xfrm>
          <a:prstGeom prst="rect">
            <a:avLst/>
          </a:prstGeom>
          <a:noFill/>
        </p:spPr>
        <p:txBody>
          <a:bodyPr wrap="square" lIns="0" tIns="0" rIns="0" bIns="0" anchor="ctr">
            <a:normAutofit/>
          </a:bodyPr>
          <a:lstStyle/>
          <a:p>
            <a:pPr marL="0" indent="0">
              <a:buNone/>
            </a:pPr>
            <a:r>
              <a:rPr sz="900" b="1" spc="60">
                <a:solidFill>
                  <a:srgbClr val="62736A"/>
                </a:solidFill>
                <a:latin typeface="Aptos"/>
                <a:ea typeface="Aptos"/>
                <a:cs typeface="Aptos"/>
              </a:rPr>
              <a:t>GRAZING + FEED PLANNING</a:t>
            </a:r>
            <a:endParaRPr sz="900"/>
          </a:p>
        </p:txBody>
      </p:sp>
      <p:sp>
        <p:nvSpPr>
          <p:cNvPr id="10" name="Shape 8">
            <a:extLst>
              <a:ext uri="{FF2B5EF4-FFF2-40B4-BE49-F238E27FC236}">
                <a16:creationId xmlns:a16="http://schemas.microsoft.com/office/drawing/2014/main" id="{46FCDAA5-23C9-44B4-BAD2-0405ABDF74BF}"/>
              </a:ext>
            </a:extLst>
          </p:cNvPr>
          <p:cNvSpPr>
            <a:spLocks noGrp="1"/>
          </p:cNvSpPr>
          <p:nvPr/>
        </p:nvSpPr>
        <p:spPr>
          <a:xfrm>
            <a:off x="694944" y="1865376"/>
            <a:ext cx="3493008" cy="2971800"/>
          </a:xfrm>
          <a:prstGeom prst="roundRect">
            <a:avLst>
              <a:gd name="adj" fmla="val 3692"/>
            </a:avLst>
          </a:prstGeom>
          <a:solidFill>
            <a:srgbClr val="FFFFFF"/>
          </a:solidFill>
          <a:ln w="8890">
            <a:solidFill>
              <a:srgbClr val="D9E2D9"/>
            </a:solidFill>
            <a:prstDash val="solid"/>
          </a:ln>
        </p:spPr>
        <p:txBody>
          <a:bodyPr/>
          <a:lstStyle/>
          <a:p>
            <a:endParaRPr/>
          </a:p>
        </p:txBody>
      </p:sp>
      <p:sp>
        <p:nvSpPr>
          <p:cNvPr id="11" name="Shape 9">
            <a:extLst>
              <a:ext uri="{FF2B5EF4-FFF2-40B4-BE49-F238E27FC236}">
                <a16:creationId xmlns:a16="http://schemas.microsoft.com/office/drawing/2014/main" id="{97D16542-F54A-4B0A-A538-9D966E375C1E}"/>
              </a:ext>
            </a:extLst>
          </p:cNvPr>
          <p:cNvSpPr>
            <a:spLocks noGrp="1"/>
          </p:cNvSpPr>
          <p:nvPr/>
        </p:nvSpPr>
        <p:spPr>
          <a:xfrm>
            <a:off x="859536" y="2029968"/>
            <a:ext cx="384048" cy="338328"/>
          </a:xfrm>
          <a:prstGeom prst="roundRect">
            <a:avLst>
              <a:gd name="adj" fmla="val 32432"/>
            </a:avLst>
          </a:prstGeom>
          <a:solidFill>
            <a:srgbClr val="E5ECDD"/>
          </a:solidFill>
          <a:ln w="8890">
            <a:solidFill>
              <a:srgbClr val="E5ECDD"/>
            </a:solidFill>
            <a:prstDash val="solid"/>
          </a:ln>
        </p:spPr>
        <p:txBody>
          <a:bodyPr/>
          <a:lstStyle/>
          <a:p>
            <a:endParaRPr/>
          </a:p>
        </p:txBody>
      </p:sp>
      <p:sp>
        <p:nvSpPr>
          <p:cNvPr id="12" name="Text 10">
            <a:extLst>
              <a:ext uri="{FF2B5EF4-FFF2-40B4-BE49-F238E27FC236}">
                <a16:creationId xmlns:a16="http://schemas.microsoft.com/office/drawing/2014/main" id="{0EDE974A-0DA5-4D40-91FA-644820407BF0}"/>
              </a:ext>
            </a:extLst>
          </p:cNvPr>
          <p:cNvSpPr>
            <a:spLocks noGrp="1"/>
          </p:cNvSpPr>
          <p:nvPr/>
        </p:nvSpPr>
        <p:spPr>
          <a:xfrm>
            <a:off x="859536" y="2039112"/>
            <a:ext cx="384048" cy="283464"/>
          </a:xfrm>
          <a:prstGeom prst="rect">
            <a:avLst/>
          </a:prstGeom>
          <a:noFill/>
        </p:spPr>
        <p:txBody>
          <a:bodyPr wrap="square" lIns="0" tIns="0" rIns="0" bIns="0" anchor="ctr">
            <a:normAutofit/>
          </a:bodyPr>
          <a:lstStyle/>
          <a:p>
            <a:pPr marL="0" indent="0" algn="ctr">
              <a:buNone/>
            </a:pPr>
            <a:r>
              <a:rPr sz="1200" b="1">
                <a:solidFill>
                  <a:srgbClr val="2D7040"/>
                </a:solidFill>
                <a:latin typeface="Aptos"/>
                <a:ea typeface="Aptos"/>
                <a:cs typeface="Aptos"/>
              </a:rPr>
              <a:t>1</a:t>
            </a:r>
            <a:endParaRPr sz="1200"/>
          </a:p>
        </p:txBody>
      </p:sp>
      <p:sp>
        <p:nvSpPr>
          <p:cNvPr id="13" name="Text 11">
            <a:extLst>
              <a:ext uri="{FF2B5EF4-FFF2-40B4-BE49-F238E27FC236}">
                <a16:creationId xmlns:a16="http://schemas.microsoft.com/office/drawing/2014/main" id="{2A50CB28-7A06-476C-911E-2C884B19933A}"/>
              </a:ext>
            </a:extLst>
          </p:cNvPr>
          <p:cNvSpPr>
            <a:spLocks noGrp="1"/>
          </p:cNvSpPr>
          <p:nvPr/>
        </p:nvSpPr>
        <p:spPr>
          <a:xfrm>
            <a:off x="905256" y="2496312"/>
            <a:ext cx="3108960" cy="402336"/>
          </a:xfrm>
          <a:prstGeom prst="rect">
            <a:avLst/>
          </a:prstGeom>
          <a:noFill/>
        </p:spPr>
        <p:txBody>
          <a:bodyPr wrap="square" lIns="0" tIns="0" rIns="0" bIns="0" anchor="ctr">
            <a:normAutofit/>
          </a:bodyPr>
          <a:lstStyle/>
          <a:p>
            <a:pPr marL="0" indent="0">
              <a:buNone/>
            </a:pPr>
            <a:r>
              <a:rPr sz="1900" b="1">
                <a:solidFill>
                  <a:srgbClr val="193F2A"/>
                </a:solidFill>
                <a:latin typeface="Aptos"/>
                <a:ea typeface="Aptos"/>
                <a:cs typeface="Aptos"/>
              </a:rPr>
              <a:t>Farm staff</a:t>
            </a:r>
            <a:endParaRPr sz="1900"/>
          </a:p>
        </p:txBody>
      </p:sp>
      <p:sp>
        <p:nvSpPr>
          <p:cNvPr id="14" name="Text 12">
            <a:extLst>
              <a:ext uri="{FF2B5EF4-FFF2-40B4-BE49-F238E27FC236}">
                <a16:creationId xmlns:a16="http://schemas.microsoft.com/office/drawing/2014/main" id="{16A42EAB-8A53-42CD-85A8-2C3B0B677AA0}"/>
              </a:ext>
            </a:extLst>
          </p:cNvPr>
          <p:cNvSpPr>
            <a:spLocks noGrp="1"/>
          </p:cNvSpPr>
          <p:nvPr/>
        </p:nvSpPr>
        <p:spPr>
          <a:xfrm>
            <a:off x="905256" y="3026664"/>
            <a:ext cx="3072384" cy="1645920"/>
          </a:xfrm>
          <a:prstGeom prst="rect">
            <a:avLst/>
          </a:prstGeom>
          <a:noFill/>
        </p:spPr>
        <p:txBody>
          <a:bodyPr wrap="square" lIns="0" tIns="0" rIns="0" bIns="0" anchor="t">
            <a:normAutofit/>
          </a:bodyPr>
          <a:lstStyle/>
          <a:p>
            <a:r>
              <a:rPr sz="1350">
                <a:solidFill>
                  <a:srgbClr val="62736A"/>
                </a:solidFill>
                <a:latin typeface="Aptos"/>
                <a:ea typeface="Aptos"/>
                <a:cs typeface="Aptos"/>
              </a:rPr>
              <a:t>Clear move times and areas for the next break.</a:t>
            </a:r>
          </a:p>
          <a:p>
            <a:endParaRPr sz="1350">
              <a:solidFill>
                <a:srgbClr val="62736A"/>
              </a:solidFill>
              <a:latin typeface="Aptos"/>
              <a:ea typeface="Aptos"/>
              <a:cs typeface="Aptos"/>
            </a:endParaRPr>
          </a:p>
          <a:p>
            <a:endParaRPr sz="1350">
              <a:solidFill>
                <a:srgbClr val="62736A"/>
              </a:solidFill>
              <a:latin typeface="Aptos"/>
              <a:ea typeface="Aptos"/>
              <a:cs typeface="Aptos"/>
            </a:endParaRPr>
          </a:p>
          <a:p>
            <a:r>
              <a:rPr sz="1350">
                <a:solidFill>
                  <a:srgbClr val="62736A"/>
                </a:solidFill>
                <a:latin typeface="Aptos"/>
                <a:ea typeface="Aptos"/>
                <a:cs typeface="Aptos"/>
              </a:rPr>
              <a:t>Improves:</a:t>
            </a:r>
          </a:p>
          <a:p>
            <a:r>
              <a:rPr sz="1350">
                <a:solidFill>
                  <a:srgbClr val="62736A"/>
                </a:solidFill>
                <a:latin typeface="Aptos"/>
                <a:ea typeface="Aptos"/>
                <a:cs typeface="Aptos"/>
              </a:rPr>
              <a:t>-Lowering mistakes </a:t>
            </a:r>
          </a:p>
          <a:p>
            <a:endParaRPr sz="1350">
              <a:solidFill>
                <a:srgbClr val="62736A"/>
              </a:solidFill>
              <a:latin typeface="Aptos"/>
              <a:ea typeface="Aptos"/>
              <a:cs typeface="Aptos"/>
            </a:endParaRPr>
          </a:p>
          <a:p>
            <a:endParaRPr sz="1350"/>
          </a:p>
          <a:p>
            <a:pPr marL="0" indent="0">
              <a:buNone/>
            </a:pPr>
            <a:endParaRPr sz="1350"/>
          </a:p>
        </p:txBody>
      </p:sp>
      <p:sp>
        <p:nvSpPr>
          <p:cNvPr id="15" name="Shape 13">
            <a:extLst>
              <a:ext uri="{FF2B5EF4-FFF2-40B4-BE49-F238E27FC236}">
                <a16:creationId xmlns:a16="http://schemas.microsoft.com/office/drawing/2014/main" id="{1E3D9313-7C3E-46E5-882D-18D454706B95}"/>
              </a:ext>
            </a:extLst>
          </p:cNvPr>
          <p:cNvSpPr>
            <a:spLocks noGrp="1"/>
          </p:cNvSpPr>
          <p:nvPr/>
        </p:nvSpPr>
        <p:spPr>
          <a:xfrm>
            <a:off x="4343400" y="1865376"/>
            <a:ext cx="3493008" cy="2971800"/>
          </a:xfrm>
          <a:prstGeom prst="roundRect">
            <a:avLst>
              <a:gd name="adj" fmla="val 3692"/>
            </a:avLst>
          </a:prstGeom>
          <a:solidFill>
            <a:srgbClr val="FFFFFF"/>
          </a:solidFill>
          <a:ln w="8890">
            <a:solidFill>
              <a:srgbClr val="D9E2D9"/>
            </a:solidFill>
            <a:prstDash val="solid"/>
          </a:ln>
        </p:spPr>
        <p:txBody>
          <a:bodyPr/>
          <a:lstStyle/>
          <a:p>
            <a:endParaRPr/>
          </a:p>
        </p:txBody>
      </p:sp>
      <p:sp>
        <p:nvSpPr>
          <p:cNvPr id="16" name="Shape 14">
            <a:extLst>
              <a:ext uri="{FF2B5EF4-FFF2-40B4-BE49-F238E27FC236}">
                <a16:creationId xmlns:a16="http://schemas.microsoft.com/office/drawing/2014/main" id="{91250A46-60CA-4CBE-AA63-ACA54446168C}"/>
              </a:ext>
            </a:extLst>
          </p:cNvPr>
          <p:cNvSpPr>
            <a:spLocks noGrp="1"/>
          </p:cNvSpPr>
          <p:nvPr/>
        </p:nvSpPr>
        <p:spPr>
          <a:xfrm>
            <a:off x="4507992" y="2029968"/>
            <a:ext cx="384048" cy="338328"/>
          </a:xfrm>
          <a:prstGeom prst="roundRect">
            <a:avLst>
              <a:gd name="adj" fmla="val 32432"/>
            </a:avLst>
          </a:prstGeom>
          <a:solidFill>
            <a:srgbClr val="E5ECDD"/>
          </a:solidFill>
          <a:ln w="8890">
            <a:solidFill>
              <a:srgbClr val="E5ECDD"/>
            </a:solidFill>
            <a:prstDash val="solid"/>
          </a:ln>
        </p:spPr>
        <p:txBody>
          <a:bodyPr/>
          <a:lstStyle/>
          <a:p>
            <a:endParaRPr/>
          </a:p>
        </p:txBody>
      </p:sp>
      <p:sp>
        <p:nvSpPr>
          <p:cNvPr id="17" name="Text 15">
            <a:extLst>
              <a:ext uri="{FF2B5EF4-FFF2-40B4-BE49-F238E27FC236}">
                <a16:creationId xmlns:a16="http://schemas.microsoft.com/office/drawing/2014/main" id="{392C31E1-9E38-4923-B168-7699D2B2130D}"/>
              </a:ext>
            </a:extLst>
          </p:cNvPr>
          <p:cNvSpPr>
            <a:spLocks noGrp="1"/>
          </p:cNvSpPr>
          <p:nvPr/>
        </p:nvSpPr>
        <p:spPr>
          <a:xfrm>
            <a:off x="4507992" y="2039112"/>
            <a:ext cx="384048" cy="283464"/>
          </a:xfrm>
          <a:prstGeom prst="rect">
            <a:avLst/>
          </a:prstGeom>
          <a:noFill/>
        </p:spPr>
        <p:txBody>
          <a:bodyPr wrap="square" lIns="0" tIns="0" rIns="0" bIns="0" anchor="ctr">
            <a:normAutofit/>
          </a:bodyPr>
          <a:lstStyle/>
          <a:p>
            <a:pPr marL="0" indent="0" algn="ctr">
              <a:buNone/>
            </a:pPr>
            <a:r>
              <a:rPr sz="1200" b="1">
                <a:solidFill>
                  <a:srgbClr val="2D7040"/>
                </a:solidFill>
                <a:latin typeface="Aptos"/>
                <a:ea typeface="Aptos"/>
                <a:cs typeface="Aptos"/>
              </a:rPr>
              <a:t>2</a:t>
            </a:r>
            <a:endParaRPr sz="1200"/>
          </a:p>
        </p:txBody>
      </p:sp>
      <p:sp>
        <p:nvSpPr>
          <p:cNvPr id="18" name="Text 16">
            <a:extLst>
              <a:ext uri="{FF2B5EF4-FFF2-40B4-BE49-F238E27FC236}">
                <a16:creationId xmlns:a16="http://schemas.microsoft.com/office/drawing/2014/main" id="{85BE2C2D-316D-4974-BFF7-0F45D403BCE3}"/>
              </a:ext>
            </a:extLst>
          </p:cNvPr>
          <p:cNvSpPr>
            <a:spLocks noGrp="1"/>
          </p:cNvSpPr>
          <p:nvPr/>
        </p:nvSpPr>
        <p:spPr>
          <a:xfrm>
            <a:off x="4553712" y="2496312"/>
            <a:ext cx="3108960" cy="402336"/>
          </a:xfrm>
          <a:prstGeom prst="rect">
            <a:avLst/>
          </a:prstGeom>
          <a:noFill/>
        </p:spPr>
        <p:txBody>
          <a:bodyPr wrap="square" lIns="0" tIns="0" rIns="0" bIns="0" anchor="ctr">
            <a:normAutofit/>
          </a:bodyPr>
          <a:lstStyle/>
          <a:p>
            <a:pPr marL="0" indent="0">
              <a:buNone/>
            </a:pPr>
            <a:r>
              <a:rPr sz="1900" b="1">
                <a:solidFill>
                  <a:srgbClr val="193F2A"/>
                </a:solidFill>
                <a:latin typeface="Aptos"/>
                <a:ea typeface="Aptos"/>
                <a:cs typeface="Aptos"/>
              </a:rPr>
              <a:t>Farm Grazing Manager</a:t>
            </a:r>
            <a:endParaRPr sz="1900"/>
          </a:p>
        </p:txBody>
      </p:sp>
      <p:sp>
        <p:nvSpPr>
          <p:cNvPr id="19" name="Text 17">
            <a:extLst>
              <a:ext uri="{FF2B5EF4-FFF2-40B4-BE49-F238E27FC236}">
                <a16:creationId xmlns:a16="http://schemas.microsoft.com/office/drawing/2014/main" id="{453A9386-00F1-4C75-8FE3-54C55575E4D7}"/>
              </a:ext>
            </a:extLst>
          </p:cNvPr>
          <p:cNvSpPr>
            <a:spLocks noGrp="1"/>
          </p:cNvSpPr>
          <p:nvPr/>
        </p:nvSpPr>
        <p:spPr>
          <a:xfrm>
            <a:off x="4553712" y="3026664"/>
            <a:ext cx="3072384" cy="1645920"/>
          </a:xfrm>
          <a:prstGeom prst="rect">
            <a:avLst/>
          </a:prstGeom>
          <a:noFill/>
        </p:spPr>
        <p:txBody>
          <a:bodyPr wrap="square" lIns="0" tIns="0" rIns="0" bIns="0" anchor="t">
            <a:normAutofit/>
          </a:bodyPr>
          <a:lstStyle/>
          <a:p>
            <a:r>
              <a:rPr sz="1350">
                <a:solidFill>
                  <a:srgbClr val="62736A"/>
                </a:solidFill>
                <a:latin typeface="Aptos"/>
                <a:ea typeface="Aptos"/>
                <a:cs typeface="Aptos"/>
              </a:rPr>
              <a:t>Sets the grazing order and checks whether each herd is getting enough feed.</a:t>
            </a:r>
          </a:p>
          <a:p>
            <a:endParaRPr sz="1350">
              <a:solidFill>
                <a:srgbClr val="62736A"/>
              </a:solidFill>
              <a:latin typeface="Aptos"/>
              <a:ea typeface="Aptos"/>
              <a:cs typeface="Aptos"/>
            </a:endParaRPr>
          </a:p>
          <a:p>
            <a:r>
              <a:rPr sz="1350">
                <a:solidFill>
                  <a:srgbClr val="62736A"/>
                </a:solidFill>
                <a:latin typeface="Aptos"/>
                <a:ea typeface="Aptos"/>
                <a:cs typeface="Aptos"/>
              </a:rPr>
              <a:t>Improves:</a:t>
            </a:r>
          </a:p>
          <a:p>
            <a:r>
              <a:rPr sz="1350">
                <a:solidFill>
                  <a:srgbClr val="62736A"/>
                </a:solidFill>
                <a:latin typeface="Aptos"/>
                <a:ea typeface="Aptos"/>
                <a:cs typeface="Aptos"/>
              </a:rPr>
              <a:t>-Mental fatigue </a:t>
            </a:r>
          </a:p>
          <a:p>
            <a:r>
              <a:rPr sz="1350">
                <a:solidFill>
                  <a:srgbClr val="62736A"/>
                </a:solidFill>
                <a:latin typeface="Aptos"/>
                <a:ea typeface="Aptos"/>
                <a:cs typeface="Aptos"/>
              </a:rPr>
              <a:t>-Increasing time on other jobs</a:t>
            </a:r>
          </a:p>
        </p:txBody>
      </p:sp>
      <p:sp>
        <p:nvSpPr>
          <p:cNvPr id="20" name="Shape 18">
            <a:extLst>
              <a:ext uri="{FF2B5EF4-FFF2-40B4-BE49-F238E27FC236}">
                <a16:creationId xmlns:a16="http://schemas.microsoft.com/office/drawing/2014/main" id="{5E688598-A67B-4C92-8B2F-1EA0684E768F}"/>
              </a:ext>
            </a:extLst>
          </p:cNvPr>
          <p:cNvSpPr>
            <a:spLocks noGrp="1"/>
          </p:cNvSpPr>
          <p:nvPr/>
        </p:nvSpPr>
        <p:spPr>
          <a:xfrm>
            <a:off x="7991856" y="1865376"/>
            <a:ext cx="3493008" cy="2971800"/>
          </a:xfrm>
          <a:prstGeom prst="roundRect">
            <a:avLst>
              <a:gd name="adj" fmla="val 3692"/>
            </a:avLst>
          </a:prstGeom>
          <a:solidFill>
            <a:srgbClr val="FFFFFF"/>
          </a:solidFill>
          <a:ln w="8890">
            <a:solidFill>
              <a:srgbClr val="D9E2D9"/>
            </a:solidFill>
            <a:prstDash val="solid"/>
          </a:ln>
        </p:spPr>
        <p:txBody>
          <a:bodyPr/>
          <a:lstStyle/>
          <a:p>
            <a:endParaRPr/>
          </a:p>
        </p:txBody>
      </p:sp>
      <p:sp>
        <p:nvSpPr>
          <p:cNvPr id="21" name="Shape 19">
            <a:extLst>
              <a:ext uri="{FF2B5EF4-FFF2-40B4-BE49-F238E27FC236}">
                <a16:creationId xmlns:a16="http://schemas.microsoft.com/office/drawing/2014/main" id="{99CC6102-214E-4E2D-A49D-BF955638539E}"/>
              </a:ext>
            </a:extLst>
          </p:cNvPr>
          <p:cNvSpPr>
            <a:spLocks noGrp="1"/>
          </p:cNvSpPr>
          <p:nvPr/>
        </p:nvSpPr>
        <p:spPr>
          <a:xfrm>
            <a:off x="8156448" y="2029968"/>
            <a:ext cx="384048" cy="338328"/>
          </a:xfrm>
          <a:prstGeom prst="roundRect">
            <a:avLst>
              <a:gd name="adj" fmla="val 32432"/>
            </a:avLst>
          </a:prstGeom>
          <a:solidFill>
            <a:srgbClr val="E5ECDD"/>
          </a:solidFill>
          <a:ln w="8890">
            <a:solidFill>
              <a:srgbClr val="E5ECDD"/>
            </a:solidFill>
            <a:prstDash val="solid"/>
          </a:ln>
        </p:spPr>
        <p:txBody>
          <a:bodyPr/>
          <a:lstStyle/>
          <a:p>
            <a:endParaRPr/>
          </a:p>
        </p:txBody>
      </p:sp>
      <p:sp>
        <p:nvSpPr>
          <p:cNvPr id="22" name="Text 20">
            <a:extLst>
              <a:ext uri="{FF2B5EF4-FFF2-40B4-BE49-F238E27FC236}">
                <a16:creationId xmlns:a16="http://schemas.microsoft.com/office/drawing/2014/main" id="{E931B2B1-25DF-4F0B-85DD-63202DDA8C90}"/>
              </a:ext>
            </a:extLst>
          </p:cNvPr>
          <p:cNvSpPr>
            <a:spLocks noGrp="1"/>
          </p:cNvSpPr>
          <p:nvPr/>
        </p:nvSpPr>
        <p:spPr>
          <a:xfrm>
            <a:off x="8156448" y="2039112"/>
            <a:ext cx="384048" cy="283464"/>
          </a:xfrm>
          <a:prstGeom prst="rect">
            <a:avLst/>
          </a:prstGeom>
          <a:noFill/>
        </p:spPr>
        <p:txBody>
          <a:bodyPr wrap="square" lIns="0" tIns="0" rIns="0" bIns="0" anchor="ctr">
            <a:normAutofit/>
          </a:bodyPr>
          <a:lstStyle/>
          <a:p>
            <a:pPr marL="0" indent="0" algn="ctr">
              <a:buNone/>
            </a:pPr>
            <a:r>
              <a:rPr sz="1200" b="1">
                <a:solidFill>
                  <a:srgbClr val="2D7040"/>
                </a:solidFill>
                <a:latin typeface="Aptos"/>
                <a:ea typeface="Aptos"/>
                <a:cs typeface="Aptos"/>
              </a:rPr>
              <a:t>3</a:t>
            </a:r>
            <a:endParaRPr sz="1200"/>
          </a:p>
        </p:txBody>
      </p:sp>
      <p:sp>
        <p:nvSpPr>
          <p:cNvPr id="23" name="Text 21">
            <a:extLst>
              <a:ext uri="{FF2B5EF4-FFF2-40B4-BE49-F238E27FC236}">
                <a16:creationId xmlns:a16="http://schemas.microsoft.com/office/drawing/2014/main" id="{E8673EAA-36A8-41AF-9E1E-48DEFEE510E3}"/>
              </a:ext>
            </a:extLst>
          </p:cNvPr>
          <p:cNvSpPr>
            <a:spLocks noGrp="1"/>
          </p:cNvSpPr>
          <p:nvPr/>
        </p:nvSpPr>
        <p:spPr>
          <a:xfrm>
            <a:off x="8202168" y="2496312"/>
            <a:ext cx="3108960" cy="402336"/>
          </a:xfrm>
          <a:prstGeom prst="rect">
            <a:avLst/>
          </a:prstGeom>
          <a:noFill/>
        </p:spPr>
        <p:txBody>
          <a:bodyPr wrap="square" lIns="0" tIns="0" rIns="0" bIns="0" anchor="ctr">
            <a:normAutofit/>
          </a:bodyPr>
          <a:lstStyle/>
          <a:p>
            <a:pPr marL="0" indent="0">
              <a:buNone/>
            </a:pPr>
            <a:r>
              <a:rPr sz="1900" b="1">
                <a:solidFill>
                  <a:srgbClr val="193F2A"/>
                </a:solidFill>
                <a:latin typeface="Aptos"/>
                <a:ea typeface="Aptos"/>
                <a:cs typeface="Aptos"/>
              </a:rPr>
              <a:t>Farm owner / adviser</a:t>
            </a:r>
            <a:endParaRPr sz="1900"/>
          </a:p>
        </p:txBody>
      </p:sp>
      <p:sp>
        <p:nvSpPr>
          <p:cNvPr id="24" name="Text 22">
            <a:extLst>
              <a:ext uri="{FF2B5EF4-FFF2-40B4-BE49-F238E27FC236}">
                <a16:creationId xmlns:a16="http://schemas.microsoft.com/office/drawing/2014/main" id="{C6BB17B0-6E76-4ACB-A502-72912D7DB7F6}"/>
              </a:ext>
            </a:extLst>
          </p:cNvPr>
          <p:cNvSpPr>
            <a:spLocks noGrp="1"/>
          </p:cNvSpPr>
          <p:nvPr/>
        </p:nvSpPr>
        <p:spPr>
          <a:xfrm>
            <a:off x="8202168" y="3026664"/>
            <a:ext cx="3072384" cy="1645920"/>
          </a:xfrm>
          <a:prstGeom prst="rect">
            <a:avLst/>
          </a:prstGeom>
          <a:noFill/>
        </p:spPr>
        <p:txBody>
          <a:bodyPr wrap="square" lIns="0" tIns="0" rIns="0" bIns="0" anchor="t">
            <a:normAutofit/>
          </a:bodyPr>
          <a:lstStyle/>
          <a:p>
            <a:pPr marL="0" indent="0">
              <a:buNone/>
            </a:pPr>
            <a:r>
              <a:rPr sz="1350">
                <a:solidFill>
                  <a:srgbClr val="62736A"/>
                </a:solidFill>
                <a:latin typeface="Aptos"/>
                <a:ea typeface="Aptos"/>
                <a:cs typeface="Aptos"/>
              </a:rPr>
              <a:t>Can overview the plan and how feed availability is tracking.</a:t>
            </a:r>
          </a:p>
          <a:p>
            <a:pPr marL="0" indent="0">
              <a:buNone/>
            </a:pPr>
            <a:endParaRPr sz="1350">
              <a:solidFill>
                <a:srgbClr val="62736A"/>
              </a:solidFill>
              <a:latin typeface="Aptos"/>
              <a:ea typeface="Aptos"/>
              <a:cs typeface="Aptos"/>
            </a:endParaRPr>
          </a:p>
          <a:p>
            <a:pPr marL="0" indent="0">
              <a:buNone/>
            </a:pPr>
            <a:endParaRPr sz="1350">
              <a:solidFill>
                <a:srgbClr val="62736A"/>
              </a:solidFill>
              <a:latin typeface="Aptos"/>
              <a:ea typeface="Aptos"/>
              <a:cs typeface="Aptos"/>
            </a:endParaRPr>
          </a:p>
          <a:p>
            <a:pPr marL="0" indent="0">
              <a:buNone/>
            </a:pPr>
            <a:r>
              <a:rPr sz="1350">
                <a:solidFill>
                  <a:srgbClr val="62736A"/>
                </a:solidFill>
                <a:latin typeface="Aptos"/>
                <a:ea typeface="Aptos"/>
                <a:cs typeface="Aptos"/>
              </a:rPr>
              <a:t>Improves:</a:t>
            </a:r>
          </a:p>
          <a:p>
            <a:pPr marL="0" indent="0">
              <a:buNone/>
            </a:pPr>
            <a:r>
              <a:rPr sz="1350">
                <a:solidFill>
                  <a:srgbClr val="62736A"/>
                </a:solidFill>
                <a:latin typeface="Aptos"/>
                <a:ea typeface="Aptos"/>
                <a:cs typeface="Aptos"/>
              </a:rPr>
              <a:t>-Financial benefits from grazing efficiency &amp; decreased labour</a:t>
            </a:r>
          </a:p>
          <a:p>
            <a:pPr marL="0" indent="0">
              <a:buNone/>
            </a:pPr>
            <a:r>
              <a:rPr sz="1350">
                <a:solidFill>
                  <a:srgbClr val="62736A"/>
                </a:solidFill>
                <a:latin typeface="Aptos"/>
                <a:ea typeface="Aptos"/>
                <a:cs typeface="Aptos"/>
              </a:rPr>
              <a:t>-Animal health</a:t>
            </a:r>
            <a:endParaRPr sz="1350"/>
          </a:p>
        </p:txBody>
      </p:sp>
      <p:sp>
        <p:nvSpPr>
          <p:cNvPr id="25" name="Shape 23">
            <a:extLst>
              <a:ext uri="{FF2B5EF4-FFF2-40B4-BE49-F238E27FC236}">
                <a16:creationId xmlns:a16="http://schemas.microsoft.com/office/drawing/2014/main" id="{9EB2E5C7-5168-4D30-82EA-09500E5981BF}"/>
              </a:ext>
            </a:extLst>
          </p:cNvPr>
          <p:cNvSpPr>
            <a:spLocks noGrp="1"/>
          </p:cNvSpPr>
          <p:nvPr/>
        </p:nvSpPr>
        <p:spPr>
          <a:xfrm>
            <a:off x="722376" y="5312589"/>
            <a:ext cx="10753344" cy="489280"/>
          </a:xfrm>
          <a:prstGeom prst="roundRect">
            <a:avLst>
              <a:gd name="adj" fmla="val 13043"/>
            </a:avLst>
          </a:prstGeom>
          <a:solidFill>
            <a:srgbClr val="EDF3E9"/>
          </a:solidFill>
          <a:ln w="8890">
            <a:solidFill>
              <a:srgbClr val="EDF3E9"/>
            </a:solidFill>
            <a:prstDash val="solid"/>
          </a:ln>
        </p:spPr>
        <p:txBody>
          <a:bodyPr/>
          <a:lstStyle/>
          <a:p>
            <a:endParaRPr/>
          </a:p>
        </p:txBody>
      </p:sp>
      <p:sp>
        <p:nvSpPr>
          <p:cNvPr id="26" name="Text 24">
            <a:extLst>
              <a:ext uri="{FF2B5EF4-FFF2-40B4-BE49-F238E27FC236}">
                <a16:creationId xmlns:a16="http://schemas.microsoft.com/office/drawing/2014/main" id="{C2CB66D9-C109-4243-A8E9-99708C287DBD}"/>
              </a:ext>
            </a:extLst>
          </p:cNvPr>
          <p:cNvSpPr>
            <a:spLocks noGrp="1"/>
          </p:cNvSpPr>
          <p:nvPr/>
        </p:nvSpPr>
        <p:spPr>
          <a:xfrm>
            <a:off x="941832" y="5257800"/>
            <a:ext cx="10241280" cy="512064"/>
          </a:xfrm>
          <a:prstGeom prst="rect">
            <a:avLst/>
          </a:prstGeom>
          <a:noFill/>
        </p:spPr>
        <p:txBody>
          <a:bodyPr wrap="square" lIns="0" tIns="0" rIns="0" bIns="0" anchor="ctr">
            <a:normAutofit/>
          </a:bodyPr>
          <a:lstStyle/>
          <a:p>
            <a:pPr marL="0" indent="0" algn="ctr">
              <a:buNone/>
            </a:pPr>
            <a:r>
              <a:rPr sz="900" b="1" dirty="0">
                <a:solidFill>
                  <a:srgbClr val="193F2A"/>
                </a:solidFill>
                <a:latin typeface="Aptos"/>
                <a:ea typeface="Aptos"/>
                <a:cs typeface="Aptos"/>
              </a:rPr>
              <a:t>Current scope: one farm per account. Shared staff logins and role permissions are future work</a:t>
            </a:r>
            <a:r>
              <a:rPr sz="1600" b="1" dirty="0">
                <a:solidFill>
                  <a:srgbClr val="193F2A"/>
                </a:solidFill>
                <a:latin typeface="Aptos"/>
                <a:ea typeface="Aptos"/>
                <a:cs typeface="Aptos"/>
              </a:rPr>
              <a:t>.</a:t>
            </a:r>
            <a:endParaRPr sz="1600" dirty="0"/>
          </a:p>
        </p:txBody>
      </p:sp>
      <p:sp>
        <p:nvSpPr>
          <p:cNvPr id="27" name="section-label">
            <a:extLst>
              <a:ext uri="{FF2B5EF4-FFF2-40B4-BE49-F238E27FC236}">
                <a16:creationId xmlns:a16="http://schemas.microsoft.com/office/drawing/2014/main" id="{19D6306E-172E-4008-B6F3-D03CF1ACF02A}"/>
              </a:ext>
            </a:extLst>
          </p:cNvPr>
          <p:cNvSpPr>
            <a:spLocks noGrp="1"/>
          </p:cNvSpPr>
          <p:nvPr/>
        </p:nvSpPr>
        <p:spPr>
          <a:xfrm>
            <a:off x="658368" y="342900"/>
            <a:ext cx="8382000" cy="228600"/>
          </a:xfrm>
          <a:prstGeom prst="rect">
            <a:avLst/>
          </a:prstGeom>
          <a:noFill/>
          <a:ln w="0">
            <a:noFill/>
          </a:ln>
        </p:spPr>
        <p:txBody>
          <a:bodyPr wrap="square" lIns="0" tIns="0" rIns="0" bIns="0" anchor="t">
            <a:noAutofit/>
          </a:bodyPr>
          <a:lstStyle>
            <a:defPPr algn="l">
              <a:defRPr sz="1100" b="1">
                <a:solidFill>
                  <a:srgbClr val="2D7040"/>
                </a:solidFill>
                <a:latin typeface="Aptos"/>
                <a:ea typeface="Aptos"/>
                <a:cs typeface="Aptos"/>
              </a:defRPr>
            </a:defPPr>
          </a:lstStyle>
          <a:p>
            <a:pPr algn="l">
              <a:defRPr sz="1100" b="1">
                <a:solidFill>
                  <a:srgbClr val="2D7040"/>
                </a:solidFill>
                <a:latin typeface="Aptos"/>
                <a:ea typeface="Aptos"/>
                <a:cs typeface="Aptos"/>
              </a:defRPr>
            </a:pPr>
            <a:r>
              <a:rPr sz="1100" b="1" dirty="0">
                <a:solidFill>
                  <a:srgbClr val="2D7040"/>
                </a:solidFill>
                <a:latin typeface="Aptos"/>
                <a:ea typeface="Aptos"/>
                <a:cs typeface="Aptos"/>
              </a:rPr>
              <a:t>01 / DEFINE </a:t>
            </a:r>
            <a:r>
              <a:rPr lang="en-NZ" sz="1100" b="1" dirty="0">
                <a:solidFill>
                  <a:srgbClr val="2D7040"/>
                </a:solidFill>
                <a:latin typeface="Aptos"/>
                <a:ea typeface="Aptos"/>
                <a:cs typeface="Aptos"/>
              </a:rPr>
              <a:t>–</a:t>
            </a:r>
            <a:r>
              <a:rPr sz="1100" b="1" dirty="0">
                <a:solidFill>
                  <a:srgbClr val="2D7040"/>
                </a:solidFill>
                <a:latin typeface="Aptos"/>
                <a:ea typeface="Aptos"/>
                <a:cs typeface="Aptos"/>
              </a:rPr>
              <a:t> </a:t>
            </a:r>
            <a:r>
              <a:rPr lang="en-AU" sz="1100" b="1" dirty="0">
                <a:solidFill>
                  <a:srgbClr val="2D7040"/>
                </a:solidFill>
                <a:latin typeface="Aptos"/>
                <a:ea typeface="Aptos"/>
                <a:cs typeface="Aptos"/>
              </a:rPr>
              <a:t>Stakeholder needs </a:t>
            </a:r>
            <a:endParaRPr sz="1100" b="1" dirty="0">
              <a:solidFill>
                <a:srgbClr val="2D7040"/>
              </a:solidFill>
              <a:latin typeface="Aptos"/>
              <a:ea typeface="Aptos"/>
              <a:cs typeface="Aptos"/>
            </a:endParaRPr>
          </a:p>
        </p:txBody>
      </p:sp>
    </p:spTree>
    <p:extLst>
      <p:ext uri="{BB962C8B-B14F-4D97-AF65-F5344CB8AC3E}">
        <p14:creationId xmlns:p14="http://schemas.microsoft.com/office/powerpoint/2010/main" val="1265600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8F4"/>
        </a:solidFill>
        <a:effectLst/>
      </p:bgPr>
    </p:bg>
    <p:spTree>
      <p:nvGrpSpPr>
        <p:cNvPr id="1" name="">
          <a:extLst>
            <a:ext uri="{FF2B5EF4-FFF2-40B4-BE49-F238E27FC236}">
              <a16:creationId xmlns:a16="http://schemas.microsoft.com/office/drawing/2014/main" id="{E24BC89E-499E-52F1-F628-F9DA7D68497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DAC4D11-F83C-2200-83A2-812EB661FEA7}"/>
              </a:ext>
            </a:extLst>
          </p:cNvPr>
          <p:cNvSpPr>
            <a:spLocks noGrp="1"/>
          </p:cNvSpPr>
          <p:nvPr/>
        </p:nvSpPr>
        <p:spPr>
          <a:xfrm>
            <a:off x="0" y="0"/>
            <a:ext cx="105156" cy="6858000"/>
          </a:xfrm>
          <a:prstGeom prst="rect">
            <a:avLst/>
          </a:prstGeom>
          <a:solidFill>
            <a:srgbClr val="2D7040"/>
          </a:solidFill>
          <a:ln w="12700">
            <a:solidFill>
              <a:srgbClr val="2D7040">
                <a:alpha val="0"/>
              </a:srgbClr>
            </a:solidFill>
            <a:prstDash val="solid"/>
          </a:ln>
        </p:spPr>
        <p:txBody>
          <a:bodyPr/>
          <a:lstStyle/>
          <a:p>
            <a:endParaRPr/>
          </a:p>
        </p:txBody>
      </p:sp>
      <p:sp>
        <p:nvSpPr>
          <p:cNvPr id="6" name="Text 4">
            <a:extLst>
              <a:ext uri="{FF2B5EF4-FFF2-40B4-BE49-F238E27FC236}">
                <a16:creationId xmlns:a16="http://schemas.microsoft.com/office/drawing/2014/main" id="{89654BFE-0458-796F-9308-251C1072FB28}"/>
              </a:ext>
            </a:extLst>
          </p:cNvPr>
          <p:cNvSpPr>
            <a:spLocks noGrp="1"/>
          </p:cNvSpPr>
          <p:nvPr/>
        </p:nvSpPr>
        <p:spPr>
          <a:xfrm>
            <a:off x="10561320" y="338328"/>
            <a:ext cx="1005840" cy="274320"/>
          </a:xfrm>
          <a:prstGeom prst="rect">
            <a:avLst/>
          </a:prstGeom>
          <a:noFill/>
        </p:spPr>
        <p:txBody>
          <a:bodyPr wrap="square" lIns="0" tIns="0" rIns="0" bIns="0" anchor="ctr">
            <a:normAutofit/>
          </a:bodyPr>
          <a:lstStyle/>
          <a:p>
            <a:pPr marL="0" indent="0" algn="r">
              <a:buNone/>
            </a:pPr>
            <a:r>
              <a:rPr sz="1400" b="1" dirty="0">
                <a:solidFill>
                  <a:srgbClr val="193F2A"/>
                </a:solidFill>
                <a:latin typeface="Aptos"/>
                <a:ea typeface="Aptos"/>
                <a:cs typeface="Aptos"/>
              </a:rPr>
              <a:t>FeedBoard</a:t>
            </a:r>
            <a:endParaRPr sz="1400" dirty="0"/>
          </a:p>
        </p:txBody>
      </p:sp>
      <p:sp>
        <p:nvSpPr>
          <p:cNvPr id="7" name="Shape 5">
            <a:extLst>
              <a:ext uri="{FF2B5EF4-FFF2-40B4-BE49-F238E27FC236}">
                <a16:creationId xmlns:a16="http://schemas.microsoft.com/office/drawing/2014/main" id="{F6104200-0A2A-67E0-0C89-915B20EBE258}"/>
              </a:ext>
            </a:extLst>
          </p:cNvPr>
          <p:cNvSpPr>
            <a:spLocks noGrp="1"/>
          </p:cNvSpPr>
          <p:nvPr/>
        </p:nvSpPr>
        <p:spPr>
          <a:xfrm>
            <a:off x="658368" y="6492240"/>
            <a:ext cx="10844784" cy="0"/>
          </a:xfrm>
          <a:prstGeom prst="line">
            <a:avLst/>
          </a:prstGeom>
          <a:noFill/>
          <a:ln w="11430">
            <a:solidFill>
              <a:srgbClr val="D9E2D9"/>
            </a:solidFill>
            <a:prstDash val="solid"/>
          </a:ln>
        </p:spPr>
        <p:txBody>
          <a:bodyPr/>
          <a:lstStyle/>
          <a:p>
            <a:endParaRPr/>
          </a:p>
        </p:txBody>
      </p:sp>
      <p:sp>
        <p:nvSpPr>
          <p:cNvPr id="8" name="Text 6">
            <a:extLst>
              <a:ext uri="{FF2B5EF4-FFF2-40B4-BE49-F238E27FC236}">
                <a16:creationId xmlns:a16="http://schemas.microsoft.com/office/drawing/2014/main" id="{3A062AD8-0111-FD0C-5736-CD1C6AB1531B}"/>
              </a:ext>
            </a:extLst>
          </p:cNvPr>
          <p:cNvSpPr>
            <a:spLocks noGrp="1"/>
          </p:cNvSpPr>
          <p:nvPr/>
        </p:nvSpPr>
        <p:spPr>
          <a:xfrm>
            <a:off x="667512" y="6556248"/>
            <a:ext cx="4114800" cy="155448"/>
          </a:xfrm>
          <a:prstGeom prst="rect">
            <a:avLst/>
          </a:prstGeom>
          <a:noFill/>
        </p:spPr>
        <p:txBody>
          <a:bodyPr wrap="square" lIns="0" tIns="0" rIns="0" bIns="0" anchor="ctr">
            <a:normAutofit/>
          </a:bodyPr>
          <a:lstStyle/>
          <a:p>
            <a:pPr marL="0" indent="0">
              <a:buNone/>
            </a:pPr>
            <a:r>
              <a:rPr sz="900" b="1" spc="60">
                <a:solidFill>
                  <a:srgbClr val="62736A"/>
                </a:solidFill>
                <a:latin typeface="Aptos"/>
                <a:ea typeface="Aptos"/>
                <a:cs typeface="Aptos"/>
              </a:rPr>
              <a:t>GRAZING + FEED PLANNING</a:t>
            </a:r>
            <a:endParaRPr sz="900"/>
          </a:p>
        </p:txBody>
      </p:sp>
      <p:sp>
        <p:nvSpPr>
          <p:cNvPr id="9" name="Text 7">
            <a:extLst>
              <a:ext uri="{FF2B5EF4-FFF2-40B4-BE49-F238E27FC236}">
                <a16:creationId xmlns:a16="http://schemas.microsoft.com/office/drawing/2014/main" id="{7B50D1BD-282F-44DB-520E-748833C1C35A}"/>
              </a:ext>
            </a:extLst>
          </p:cNvPr>
          <p:cNvSpPr>
            <a:spLocks noGrp="1"/>
          </p:cNvSpPr>
          <p:nvPr/>
        </p:nvSpPr>
        <p:spPr>
          <a:xfrm>
            <a:off x="10789920" y="6528816"/>
            <a:ext cx="676656" cy="201168"/>
          </a:xfrm>
          <a:prstGeom prst="rect">
            <a:avLst/>
          </a:prstGeom>
          <a:noFill/>
        </p:spPr>
        <p:txBody>
          <a:bodyPr wrap="square" lIns="0" tIns="0" rIns="0" bIns="0" anchor="ctr">
            <a:normAutofit/>
          </a:bodyPr>
          <a:lstStyle/>
          <a:p>
            <a:pPr marL="0" indent="0" algn="r">
              <a:buNone/>
            </a:pPr>
            <a:endParaRPr sz="1000"/>
          </a:p>
        </p:txBody>
      </p:sp>
      <p:sp>
        <p:nvSpPr>
          <p:cNvPr id="43" name="section-label">
            <a:extLst>
              <a:ext uri="{FF2B5EF4-FFF2-40B4-BE49-F238E27FC236}">
                <a16:creationId xmlns:a16="http://schemas.microsoft.com/office/drawing/2014/main" id="{ABED8709-12B4-03BB-8792-EE39E8EEAC61}"/>
              </a:ext>
            </a:extLst>
          </p:cNvPr>
          <p:cNvSpPr>
            <a:spLocks noGrp="1"/>
          </p:cNvSpPr>
          <p:nvPr/>
        </p:nvSpPr>
        <p:spPr>
          <a:xfrm>
            <a:off x="658368" y="342900"/>
            <a:ext cx="8382000" cy="228600"/>
          </a:xfrm>
          <a:prstGeom prst="rect">
            <a:avLst/>
          </a:prstGeom>
          <a:noFill/>
          <a:ln w="0">
            <a:noFill/>
          </a:ln>
        </p:spPr>
        <p:txBody>
          <a:bodyPr wrap="square" lIns="0" tIns="0" rIns="0" bIns="0" anchor="t">
            <a:noAutofit/>
          </a:bodyPr>
          <a:lstStyle>
            <a:defPPr algn="l">
              <a:defRPr sz="1100" b="1">
                <a:solidFill>
                  <a:srgbClr val="2D7040"/>
                </a:solidFill>
                <a:latin typeface="Aptos"/>
                <a:ea typeface="Aptos"/>
                <a:cs typeface="Aptos"/>
              </a:defRPr>
            </a:defPPr>
          </a:lstStyle>
          <a:p>
            <a:pPr algn="l">
              <a:defRPr sz="1100" b="1">
                <a:solidFill>
                  <a:srgbClr val="2D7040"/>
                </a:solidFill>
                <a:latin typeface="Aptos"/>
                <a:ea typeface="Aptos"/>
                <a:cs typeface="Aptos"/>
              </a:defRPr>
            </a:pPr>
            <a:r>
              <a:rPr sz="1100" b="1" dirty="0">
                <a:solidFill>
                  <a:srgbClr val="2D7040"/>
                </a:solidFill>
                <a:latin typeface="Aptos"/>
                <a:ea typeface="Aptos"/>
                <a:cs typeface="Aptos"/>
              </a:rPr>
              <a:t>01 / DEFINE </a:t>
            </a:r>
            <a:r>
              <a:rPr lang="en-NZ" sz="1100" b="1" dirty="0">
                <a:solidFill>
                  <a:srgbClr val="2D7040"/>
                </a:solidFill>
                <a:latin typeface="Aptos"/>
                <a:ea typeface="Aptos"/>
                <a:cs typeface="Aptos"/>
              </a:rPr>
              <a:t>–</a:t>
            </a:r>
            <a:r>
              <a:rPr lang="en-AU" sz="1100" b="1" dirty="0">
                <a:solidFill>
                  <a:srgbClr val="2D7040"/>
                </a:solidFill>
                <a:latin typeface="Aptos"/>
                <a:ea typeface="Aptos"/>
                <a:cs typeface="Aptos"/>
              </a:rPr>
              <a:t> planning</a:t>
            </a:r>
            <a:endParaRPr sz="1100" b="1" dirty="0">
              <a:solidFill>
                <a:srgbClr val="2D7040"/>
              </a:solidFill>
              <a:latin typeface="Aptos"/>
              <a:ea typeface="Aptos"/>
              <a:cs typeface="Aptos"/>
            </a:endParaRPr>
          </a:p>
        </p:txBody>
      </p:sp>
      <p:sp>
        <p:nvSpPr>
          <p:cNvPr id="3" name="Text 2">
            <a:extLst>
              <a:ext uri="{FF2B5EF4-FFF2-40B4-BE49-F238E27FC236}">
                <a16:creationId xmlns:a16="http://schemas.microsoft.com/office/drawing/2014/main" id="{7A178A13-4D18-1C2E-1F0E-E192B4FF8A0E}"/>
              </a:ext>
            </a:extLst>
          </p:cNvPr>
          <p:cNvSpPr>
            <a:spLocks noGrp="1"/>
          </p:cNvSpPr>
          <p:nvPr/>
        </p:nvSpPr>
        <p:spPr>
          <a:xfrm>
            <a:off x="658368" y="1712976"/>
            <a:ext cx="10698480" cy="502920"/>
          </a:xfrm>
          <a:prstGeom prst="rect">
            <a:avLst/>
          </a:prstGeom>
          <a:noFill/>
        </p:spPr>
        <p:txBody>
          <a:bodyPr wrap="square" lIns="0" tIns="0" rIns="0" bIns="0" anchor="ctr">
            <a:normAutofit/>
          </a:bodyPr>
          <a:lstStyle/>
          <a:p>
            <a:pPr marL="0" indent="0">
              <a:buNone/>
            </a:pPr>
            <a:r>
              <a:rPr lang="en-AU" sz="2200" b="1" dirty="0">
                <a:solidFill>
                  <a:srgbClr val="193F2A"/>
                </a:solidFill>
                <a:latin typeface="Aptos"/>
                <a:ea typeface="Aptos"/>
                <a:cs typeface="Aptos"/>
              </a:rPr>
              <a:t>Previous Projects   </a:t>
            </a:r>
            <a:endParaRPr sz="2200" dirty="0"/>
          </a:p>
        </p:txBody>
      </p:sp>
      <p:sp>
        <p:nvSpPr>
          <p:cNvPr id="5" name="Shape 5">
            <a:extLst>
              <a:ext uri="{FF2B5EF4-FFF2-40B4-BE49-F238E27FC236}">
                <a16:creationId xmlns:a16="http://schemas.microsoft.com/office/drawing/2014/main" id="{0FA18979-B2EB-3E0B-F806-A3D7019BD14B}"/>
              </a:ext>
            </a:extLst>
          </p:cNvPr>
          <p:cNvSpPr>
            <a:spLocks noGrp="1"/>
          </p:cNvSpPr>
          <p:nvPr/>
        </p:nvSpPr>
        <p:spPr>
          <a:xfrm>
            <a:off x="658368" y="6492240"/>
            <a:ext cx="10844784" cy="0"/>
          </a:xfrm>
          <a:prstGeom prst="line">
            <a:avLst/>
          </a:prstGeom>
          <a:noFill/>
          <a:ln w="11430">
            <a:solidFill>
              <a:srgbClr val="D9E2D9"/>
            </a:solidFill>
            <a:prstDash val="solid"/>
          </a:ln>
        </p:spPr>
        <p:txBody>
          <a:bodyPr/>
          <a:lstStyle/>
          <a:p>
            <a:endParaRPr/>
          </a:p>
        </p:txBody>
      </p:sp>
      <p:sp>
        <p:nvSpPr>
          <p:cNvPr id="10" name="Text 11">
            <a:extLst>
              <a:ext uri="{FF2B5EF4-FFF2-40B4-BE49-F238E27FC236}">
                <a16:creationId xmlns:a16="http://schemas.microsoft.com/office/drawing/2014/main" id="{9F61B411-7E72-6843-F62D-9E39ED8C870F}"/>
              </a:ext>
            </a:extLst>
          </p:cNvPr>
          <p:cNvSpPr>
            <a:spLocks noGrp="1"/>
          </p:cNvSpPr>
          <p:nvPr/>
        </p:nvSpPr>
        <p:spPr>
          <a:xfrm>
            <a:off x="4846320" y="1819656"/>
            <a:ext cx="384048" cy="274320"/>
          </a:xfrm>
          <a:prstGeom prst="rect">
            <a:avLst/>
          </a:prstGeom>
          <a:noFill/>
        </p:spPr>
        <p:txBody>
          <a:bodyPr wrap="square" lIns="0" tIns="0" rIns="0" bIns="0" anchor="ctr">
            <a:normAutofit/>
          </a:bodyPr>
          <a:lstStyle/>
          <a:p>
            <a:pPr marL="0" indent="0" algn="ctr">
              <a:buNone/>
            </a:pPr>
            <a:endParaRPr sz="1200" dirty="0"/>
          </a:p>
        </p:txBody>
      </p:sp>
      <p:sp>
        <p:nvSpPr>
          <p:cNvPr id="11" name="Text 2">
            <a:extLst>
              <a:ext uri="{FF2B5EF4-FFF2-40B4-BE49-F238E27FC236}">
                <a16:creationId xmlns:a16="http://schemas.microsoft.com/office/drawing/2014/main" id="{AED42CFC-6709-DD48-9C88-2AE9F13BE6B3}"/>
              </a:ext>
            </a:extLst>
          </p:cNvPr>
          <p:cNvSpPr>
            <a:spLocks noGrp="1"/>
          </p:cNvSpPr>
          <p:nvPr/>
        </p:nvSpPr>
        <p:spPr>
          <a:xfrm>
            <a:off x="810768" y="911352"/>
            <a:ext cx="10698480" cy="502920"/>
          </a:xfrm>
          <a:prstGeom prst="rect">
            <a:avLst/>
          </a:prstGeom>
          <a:noFill/>
        </p:spPr>
        <p:txBody>
          <a:bodyPr wrap="square" lIns="0" tIns="0" rIns="0" bIns="0" anchor="ctr">
            <a:normAutofit/>
          </a:bodyPr>
          <a:lstStyle/>
          <a:p>
            <a:pPr marL="0" indent="0">
              <a:buNone/>
            </a:pPr>
            <a:r>
              <a:rPr lang="en-AU" sz="3000" b="1" dirty="0">
                <a:solidFill>
                  <a:srgbClr val="193F2A"/>
                </a:solidFill>
                <a:latin typeface="Aptos"/>
                <a:ea typeface="Aptos"/>
                <a:cs typeface="Aptos"/>
              </a:rPr>
              <a:t>Design  </a:t>
            </a:r>
            <a:endParaRPr sz="3000" dirty="0"/>
          </a:p>
        </p:txBody>
      </p:sp>
      <p:pic>
        <p:nvPicPr>
          <p:cNvPr id="12" name="Picture 11">
            <a:extLst>
              <a:ext uri="{FF2B5EF4-FFF2-40B4-BE49-F238E27FC236}">
                <a16:creationId xmlns:a16="http://schemas.microsoft.com/office/drawing/2014/main" id="{646CE5BF-8AFB-7553-8A9F-B29DA0046A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1599" y="2551149"/>
            <a:ext cx="2932018" cy="3941091"/>
          </a:xfrm>
          <a:prstGeom prst="rect">
            <a:avLst/>
          </a:prstGeom>
        </p:spPr>
      </p:pic>
      <p:pic>
        <p:nvPicPr>
          <p:cNvPr id="14" name="Picture 13">
            <a:extLst>
              <a:ext uri="{FF2B5EF4-FFF2-40B4-BE49-F238E27FC236}">
                <a16:creationId xmlns:a16="http://schemas.microsoft.com/office/drawing/2014/main" id="{2ED6523A-E065-855E-CB16-3B6F8A9D6E56}"/>
              </a:ext>
            </a:extLst>
          </p:cNvPr>
          <p:cNvPicPr>
            <a:picLocks noChangeAspect="1"/>
          </p:cNvPicPr>
          <p:nvPr/>
        </p:nvPicPr>
        <p:blipFill>
          <a:blip r:embed="rId4"/>
          <a:stretch>
            <a:fillRect/>
          </a:stretch>
        </p:blipFill>
        <p:spPr>
          <a:xfrm>
            <a:off x="218678" y="2574007"/>
            <a:ext cx="3795935" cy="3601271"/>
          </a:xfrm>
          <a:prstGeom prst="rect">
            <a:avLst/>
          </a:prstGeom>
        </p:spPr>
      </p:pic>
      <p:sp>
        <p:nvSpPr>
          <p:cNvPr id="15" name="Text 2">
            <a:extLst>
              <a:ext uri="{FF2B5EF4-FFF2-40B4-BE49-F238E27FC236}">
                <a16:creationId xmlns:a16="http://schemas.microsoft.com/office/drawing/2014/main" id="{2798338B-7111-A517-0801-5DFBC2361286}"/>
              </a:ext>
            </a:extLst>
          </p:cNvPr>
          <p:cNvSpPr>
            <a:spLocks noGrp="1"/>
          </p:cNvSpPr>
          <p:nvPr/>
        </p:nvSpPr>
        <p:spPr>
          <a:xfrm>
            <a:off x="5122926" y="1722105"/>
            <a:ext cx="10698480" cy="502920"/>
          </a:xfrm>
          <a:prstGeom prst="rect">
            <a:avLst/>
          </a:prstGeom>
          <a:noFill/>
        </p:spPr>
        <p:txBody>
          <a:bodyPr wrap="square" lIns="0" tIns="0" rIns="0" bIns="0" anchor="ctr">
            <a:normAutofit/>
          </a:bodyPr>
          <a:lstStyle/>
          <a:p>
            <a:pPr marL="0" indent="0">
              <a:buNone/>
            </a:pPr>
            <a:r>
              <a:rPr lang="en-AU" sz="2200" b="1" dirty="0">
                <a:solidFill>
                  <a:srgbClr val="193F2A"/>
                </a:solidFill>
                <a:latin typeface="Aptos"/>
                <a:ea typeface="Aptos"/>
                <a:cs typeface="Aptos"/>
              </a:rPr>
              <a:t>Primary Ui</a:t>
            </a:r>
            <a:r>
              <a:rPr lang="en-AU" sz="3000" b="1" dirty="0">
                <a:solidFill>
                  <a:srgbClr val="193F2A"/>
                </a:solidFill>
                <a:latin typeface="Aptos"/>
                <a:ea typeface="Aptos"/>
                <a:cs typeface="Aptos"/>
              </a:rPr>
              <a:t>  </a:t>
            </a:r>
            <a:endParaRPr sz="3000" dirty="0"/>
          </a:p>
        </p:txBody>
      </p:sp>
      <p:sp>
        <p:nvSpPr>
          <p:cNvPr id="17" name="Text 2">
            <a:extLst>
              <a:ext uri="{FF2B5EF4-FFF2-40B4-BE49-F238E27FC236}">
                <a16:creationId xmlns:a16="http://schemas.microsoft.com/office/drawing/2014/main" id="{25393944-0803-6DD2-593B-FEBA0D710250}"/>
              </a:ext>
            </a:extLst>
          </p:cNvPr>
          <p:cNvSpPr>
            <a:spLocks noGrp="1"/>
          </p:cNvSpPr>
          <p:nvPr/>
        </p:nvSpPr>
        <p:spPr>
          <a:xfrm>
            <a:off x="9070848" y="1719542"/>
            <a:ext cx="10698480" cy="502920"/>
          </a:xfrm>
          <a:prstGeom prst="rect">
            <a:avLst/>
          </a:prstGeom>
          <a:noFill/>
        </p:spPr>
        <p:txBody>
          <a:bodyPr wrap="square" lIns="0" tIns="0" rIns="0" bIns="0" anchor="ctr">
            <a:normAutofit/>
          </a:bodyPr>
          <a:lstStyle/>
          <a:p>
            <a:pPr marL="0" indent="0">
              <a:buNone/>
            </a:pPr>
            <a:r>
              <a:rPr lang="en-AU" sz="2200" b="1" dirty="0">
                <a:solidFill>
                  <a:srgbClr val="193F2A"/>
                </a:solidFill>
                <a:latin typeface="Aptos"/>
                <a:ea typeface="Aptos"/>
                <a:cs typeface="Aptos"/>
              </a:rPr>
              <a:t>Figma</a:t>
            </a:r>
            <a:r>
              <a:rPr lang="en-AU" sz="3000" b="1" dirty="0">
                <a:solidFill>
                  <a:srgbClr val="193F2A"/>
                </a:solidFill>
                <a:latin typeface="Aptos"/>
                <a:ea typeface="Aptos"/>
                <a:cs typeface="Aptos"/>
              </a:rPr>
              <a:t> </a:t>
            </a:r>
            <a:endParaRPr sz="3000" dirty="0"/>
          </a:p>
        </p:txBody>
      </p:sp>
      <p:pic>
        <p:nvPicPr>
          <p:cNvPr id="18" name="Picture 17">
            <a:extLst>
              <a:ext uri="{FF2B5EF4-FFF2-40B4-BE49-F238E27FC236}">
                <a16:creationId xmlns:a16="http://schemas.microsoft.com/office/drawing/2014/main" id="{C858D0E3-6C71-48AD-CEE0-92DD6DDDC3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40940" y="2618416"/>
            <a:ext cx="4232382" cy="3556829"/>
          </a:xfrm>
          <a:prstGeom prst="rect">
            <a:avLst/>
          </a:prstGeom>
        </p:spPr>
      </p:pic>
    </p:spTree>
    <p:extLst>
      <p:ext uri="{BB962C8B-B14F-4D97-AF65-F5344CB8AC3E}">
        <p14:creationId xmlns:p14="http://schemas.microsoft.com/office/powerpoint/2010/main" val="3185946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4"/>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8415EBD-5200-4442-A372-D3288CBD0C96}"/>
              </a:ext>
            </a:extLst>
          </p:cNvPr>
          <p:cNvSpPr>
            <a:spLocks noGrp="1"/>
          </p:cNvSpPr>
          <p:nvPr/>
        </p:nvSpPr>
        <p:spPr>
          <a:xfrm>
            <a:off x="0" y="0"/>
            <a:ext cx="105156" cy="6858000"/>
          </a:xfrm>
          <a:prstGeom prst="rect">
            <a:avLst/>
          </a:prstGeom>
          <a:solidFill>
            <a:srgbClr val="2D7040"/>
          </a:solidFill>
          <a:ln w="12700">
            <a:solidFill>
              <a:srgbClr val="2D7040">
                <a:alpha val="0"/>
              </a:srgbClr>
            </a:solidFill>
            <a:prstDash val="solid"/>
          </a:ln>
        </p:spPr>
        <p:txBody>
          <a:bodyPr/>
          <a:lstStyle/>
          <a:p>
            <a:endParaRPr/>
          </a:p>
        </p:txBody>
      </p:sp>
      <p:sp>
        <p:nvSpPr>
          <p:cNvPr id="4" name="Text 2">
            <a:extLst>
              <a:ext uri="{FF2B5EF4-FFF2-40B4-BE49-F238E27FC236}">
                <a16:creationId xmlns:a16="http://schemas.microsoft.com/office/drawing/2014/main" id="{D7F21816-9402-48ED-B5C3-145EE4A31142}"/>
              </a:ext>
            </a:extLst>
          </p:cNvPr>
          <p:cNvSpPr>
            <a:spLocks noGrp="1"/>
          </p:cNvSpPr>
          <p:nvPr/>
        </p:nvSpPr>
        <p:spPr>
          <a:xfrm>
            <a:off x="658368" y="758952"/>
            <a:ext cx="10698480" cy="502920"/>
          </a:xfrm>
          <a:prstGeom prst="rect">
            <a:avLst/>
          </a:prstGeom>
          <a:noFill/>
        </p:spPr>
        <p:txBody>
          <a:bodyPr wrap="square" lIns="0" tIns="0" rIns="0" bIns="0" anchor="ctr">
            <a:normAutofit/>
          </a:bodyPr>
          <a:lstStyle/>
          <a:p>
            <a:pPr marL="0" indent="0">
              <a:buNone/>
            </a:pPr>
            <a:r>
              <a:rPr sz="3000" b="1" dirty="0">
                <a:solidFill>
                  <a:srgbClr val="193F2A"/>
                </a:solidFill>
                <a:latin typeface="Aptos"/>
                <a:ea typeface="Aptos"/>
                <a:cs typeface="Aptos"/>
              </a:rPr>
              <a:t>UI design and reusable components</a:t>
            </a:r>
            <a:endParaRPr sz="3000" dirty="0"/>
          </a:p>
        </p:txBody>
      </p:sp>
      <p:sp>
        <p:nvSpPr>
          <p:cNvPr id="5" name="Text 3">
            <a:extLst>
              <a:ext uri="{FF2B5EF4-FFF2-40B4-BE49-F238E27FC236}">
                <a16:creationId xmlns:a16="http://schemas.microsoft.com/office/drawing/2014/main" id="{9F1512CE-D7E3-462B-9BEC-C98A924FA771}"/>
              </a:ext>
            </a:extLst>
          </p:cNvPr>
          <p:cNvSpPr>
            <a:spLocks noGrp="1"/>
          </p:cNvSpPr>
          <p:nvPr/>
        </p:nvSpPr>
        <p:spPr>
          <a:xfrm>
            <a:off x="676656" y="1298448"/>
            <a:ext cx="10424160" cy="292608"/>
          </a:xfrm>
          <a:prstGeom prst="rect">
            <a:avLst/>
          </a:prstGeom>
          <a:noFill/>
        </p:spPr>
        <p:txBody>
          <a:bodyPr wrap="square" lIns="0" tIns="0" rIns="0" bIns="0" anchor="ctr">
            <a:normAutofit/>
          </a:bodyPr>
          <a:lstStyle/>
          <a:p>
            <a:pPr marL="0" indent="0">
              <a:buNone/>
            </a:pPr>
            <a:r>
              <a:rPr sz="1400">
                <a:solidFill>
                  <a:srgbClr val="62736A"/>
                </a:solidFill>
                <a:latin typeface="Aptos"/>
                <a:ea typeface="Aptos"/>
                <a:cs typeface="Aptos"/>
              </a:rPr>
              <a:t>Figma-inspired, consistent controls across the site</a:t>
            </a:r>
            <a:endParaRPr sz="1400"/>
          </a:p>
        </p:txBody>
      </p:sp>
      <p:sp>
        <p:nvSpPr>
          <p:cNvPr id="6" name="Text 4">
            <a:extLst>
              <a:ext uri="{FF2B5EF4-FFF2-40B4-BE49-F238E27FC236}">
                <a16:creationId xmlns:a16="http://schemas.microsoft.com/office/drawing/2014/main" id="{CC2641E0-8401-4CC7-AFB3-64E645E6DF60}"/>
              </a:ext>
            </a:extLst>
          </p:cNvPr>
          <p:cNvSpPr>
            <a:spLocks noGrp="1"/>
          </p:cNvSpPr>
          <p:nvPr/>
        </p:nvSpPr>
        <p:spPr>
          <a:xfrm>
            <a:off x="10561320" y="338328"/>
            <a:ext cx="1005840" cy="274320"/>
          </a:xfrm>
          <a:prstGeom prst="rect">
            <a:avLst/>
          </a:prstGeom>
          <a:noFill/>
        </p:spPr>
        <p:txBody>
          <a:bodyPr wrap="square" lIns="0" tIns="0" rIns="0" bIns="0" anchor="ctr">
            <a:normAutofit/>
          </a:bodyPr>
          <a:lstStyle/>
          <a:p>
            <a:pPr marL="0" indent="0" algn="r">
              <a:buNone/>
            </a:pPr>
            <a:r>
              <a:rPr sz="1400" b="1" dirty="0">
                <a:solidFill>
                  <a:srgbClr val="193F2A"/>
                </a:solidFill>
                <a:latin typeface="Aptos"/>
                <a:ea typeface="Aptos"/>
                <a:cs typeface="Aptos"/>
              </a:rPr>
              <a:t>FeedBoard</a:t>
            </a:r>
            <a:endParaRPr sz="1400" dirty="0"/>
          </a:p>
        </p:txBody>
      </p:sp>
      <p:sp>
        <p:nvSpPr>
          <p:cNvPr id="7" name="Shape 5">
            <a:extLst>
              <a:ext uri="{FF2B5EF4-FFF2-40B4-BE49-F238E27FC236}">
                <a16:creationId xmlns:a16="http://schemas.microsoft.com/office/drawing/2014/main" id="{293710BC-5664-4D93-BD10-83637029BF29}"/>
              </a:ext>
            </a:extLst>
          </p:cNvPr>
          <p:cNvSpPr>
            <a:spLocks noGrp="1"/>
          </p:cNvSpPr>
          <p:nvPr/>
        </p:nvSpPr>
        <p:spPr>
          <a:xfrm>
            <a:off x="658368" y="6492240"/>
            <a:ext cx="10844784" cy="0"/>
          </a:xfrm>
          <a:prstGeom prst="line">
            <a:avLst/>
          </a:prstGeom>
          <a:noFill/>
          <a:ln w="11430">
            <a:solidFill>
              <a:srgbClr val="D9E2D9"/>
            </a:solidFill>
            <a:prstDash val="solid"/>
          </a:ln>
        </p:spPr>
        <p:txBody>
          <a:bodyPr/>
          <a:lstStyle/>
          <a:p>
            <a:endParaRPr/>
          </a:p>
        </p:txBody>
      </p:sp>
      <p:sp>
        <p:nvSpPr>
          <p:cNvPr id="8" name="Text 6">
            <a:extLst>
              <a:ext uri="{FF2B5EF4-FFF2-40B4-BE49-F238E27FC236}">
                <a16:creationId xmlns:a16="http://schemas.microsoft.com/office/drawing/2014/main" id="{5C676D40-0A22-4E8A-BD05-A48630400018}"/>
              </a:ext>
            </a:extLst>
          </p:cNvPr>
          <p:cNvSpPr>
            <a:spLocks noGrp="1"/>
          </p:cNvSpPr>
          <p:nvPr/>
        </p:nvSpPr>
        <p:spPr>
          <a:xfrm>
            <a:off x="667512" y="6556248"/>
            <a:ext cx="4114800" cy="155448"/>
          </a:xfrm>
          <a:prstGeom prst="rect">
            <a:avLst/>
          </a:prstGeom>
          <a:noFill/>
        </p:spPr>
        <p:txBody>
          <a:bodyPr wrap="square" lIns="0" tIns="0" rIns="0" bIns="0" anchor="ctr">
            <a:normAutofit/>
          </a:bodyPr>
          <a:lstStyle/>
          <a:p>
            <a:pPr marL="0" indent="0">
              <a:buNone/>
            </a:pPr>
            <a:r>
              <a:rPr sz="900" b="1" spc="60">
                <a:solidFill>
                  <a:srgbClr val="62736A"/>
                </a:solidFill>
                <a:latin typeface="Aptos"/>
                <a:ea typeface="Aptos"/>
                <a:cs typeface="Aptos"/>
              </a:rPr>
              <a:t>GRAZING + FEED PLANNING</a:t>
            </a:r>
            <a:endParaRPr sz="900"/>
          </a:p>
        </p:txBody>
      </p:sp>
      <p:sp>
        <p:nvSpPr>
          <p:cNvPr id="10" name="Shape 8">
            <a:extLst>
              <a:ext uri="{FF2B5EF4-FFF2-40B4-BE49-F238E27FC236}">
                <a16:creationId xmlns:a16="http://schemas.microsoft.com/office/drawing/2014/main" id="{875DC750-F786-4B0B-A6CF-B8FE3C1B3404}"/>
              </a:ext>
            </a:extLst>
          </p:cNvPr>
          <p:cNvSpPr>
            <a:spLocks noGrp="1"/>
          </p:cNvSpPr>
          <p:nvPr/>
        </p:nvSpPr>
        <p:spPr>
          <a:xfrm>
            <a:off x="656803" y="1844040"/>
            <a:ext cx="3721608" cy="4187952"/>
          </a:xfrm>
          <a:prstGeom prst="roundRect">
            <a:avLst>
              <a:gd name="adj" fmla="val 2948"/>
            </a:avLst>
          </a:prstGeom>
          <a:solidFill>
            <a:srgbClr val="EDF3E9"/>
          </a:solidFill>
          <a:ln w="8890">
            <a:solidFill>
              <a:srgbClr val="EDF3E9"/>
            </a:solidFill>
            <a:prstDash val="solid"/>
          </a:ln>
        </p:spPr>
        <p:txBody>
          <a:bodyPr/>
          <a:lstStyle/>
          <a:p>
            <a:pPr algn="ctr">
              <a:buNone/>
            </a:pPr>
            <a:endParaRPr dirty="0"/>
          </a:p>
        </p:txBody>
      </p:sp>
      <p:sp>
        <p:nvSpPr>
          <p:cNvPr id="11" name="Text 9">
            <a:extLst>
              <a:ext uri="{FF2B5EF4-FFF2-40B4-BE49-F238E27FC236}">
                <a16:creationId xmlns:a16="http://schemas.microsoft.com/office/drawing/2014/main" id="{03F5D4CB-5C44-42DA-BB7E-27A5BB35E26A}"/>
              </a:ext>
            </a:extLst>
          </p:cNvPr>
          <p:cNvSpPr>
            <a:spLocks noGrp="1"/>
          </p:cNvSpPr>
          <p:nvPr/>
        </p:nvSpPr>
        <p:spPr>
          <a:xfrm>
            <a:off x="987552" y="1965960"/>
            <a:ext cx="3182112" cy="420624"/>
          </a:xfrm>
          <a:prstGeom prst="rect">
            <a:avLst/>
          </a:prstGeom>
          <a:noFill/>
        </p:spPr>
        <p:txBody>
          <a:bodyPr wrap="square" lIns="0" tIns="0" rIns="0" bIns="0" anchor="ctr">
            <a:normAutofit/>
          </a:bodyPr>
          <a:lstStyle/>
          <a:p>
            <a:pPr marL="0" indent="0">
              <a:buNone/>
            </a:pPr>
            <a:r>
              <a:rPr sz="2300" b="1">
                <a:solidFill>
                  <a:srgbClr val="193F2A"/>
                </a:solidFill>
                <a:latin typeface="Aptos"/>
                <a:ea typeface="Aptos"/>
                <a:cs typeface="Aptos"/>
              </a:rPr>
              <a:t>Design choices</a:t>
            </a:r>
            <a:endParaRPr sz="2300"/>
          </a:p>
        </p:txBody>
      </p:sp>
      <p:sp>
        <p:nvSpPr>
          <p:cNvPr id="12" name="Shape 10">
            <a:extLst>
              <a:ext uri="{FF2B5EF4-FFF2-40B4-BE49-F238E27FC236}">
                <a16:creationId xmlns:a16="http://schemas.microsoft.com/office/drawing/2014/main" id="{62F7834B-EB5F-4B7A-BABF-73E6B650CD9B}"/>
              </a:ext>
            </a:extLst>
          </p:cNvPr>
          <p:cNvSpPr>
            <a:spLocks noGrp="1"/>
          </p:cNvSpPr>
          <p:nvPr/>
        </p:nvSpPr>
        <p:spPr>
          <a:xfrm>
            <a:off x="969264" y="2706624"/>
            <a:ext cx="338328" cy="338328"/>
          </a:xfrm>
          <a:prstGeom prst="ellipse">
            <a:avLst/>
          </a:prstGeom>
          <a:solidFill>
            <a:srgbClr val="2D7040"/>
          </a:solidFill>
          <a:ln w="12700">
            <a:solidFill>
              <a:srgbClr val="2D7040"/>
            </a:solidFill>
            <a:prstDash val="solid"/>
          </a:ln>
        </p:spPr>
        <p:txBody>
          <a:bodyPr/>
          <a:lstStyle/>
          <a:p>
            <a:endParaRPr/>
          </a:p>
        </p:txBody>
      </p:sp>
      <p:sp>
        <p:nvSpPr>
          <p:cNvPr id="13" name="Text 11">
            <a:extLst>
              <a:ext uri="{FF2B5EF4-FFF2-40B4-BE49-F238E27FC236}">
                <a16:creationId xmlns:a16="http://schemas.microsoft.com/office/drawing/2014/main" id="{8CDF49B2-C616-49B3-B802-AEF337115029}"/>
              </a:ext>
            </a:extLst>
          </p:cNvPr>
          <p:cNvSpPr>
            <a:spLocks noGrp="1"/>
          </p:cNvSpPr>
          <p:nvPr/>
        </p:nvSpPr>
        <p:spPr>
          <a:xfrm>
            <a:off x="1019556" y="2713025"/>
            <a:ext cx="228600" cy="228600"/>
          </a:xfrm>
          <a:prstGeom prst="rect">
            <a:avLst/>
          </a:prstGeom>
          <a:noFill/>
        </p:spPr>
        <p:txBody>
          <a:bodyPr wrap="square" lIns="0" tIns="0" rIns="0" bIns="0" anchor="ctr">
            <a:normAutofit/>
          </a:bodyPr>
          <a:lstStyle/>
          <a:p>
            <a:pPr marL="0" indent="0" algn="ctr">
              <a:buNone/>
            </a:pPr>
            <a:endParaRPr sz="1300"/>
          </a:p>
        </p:txBody>
      </p:sp>
      <p:sp>
        <p:nvSpPr>
          <p:cNvPr id="14" name="Text 12">
            <a:extLst>
              <a:ext uri="{FF2B5EF4-FFF2-40B4-BE49-F238E27FC236}">
                <a16:creationId xmlns:a16="http://schemas.microsoft.com/office/drawing/2014/main" id="{DB2A48D6-4B3D-4412-A958-A8D00E777185}"/>
              </a:ext>
            </a:extLst>
          </p:cNvPr>
          <p:cNvSpPr>
            <a:spLocks noGrp="1"/>
          </p:cNvSpPr>
          <p:nvPr/>
        </p:nvSpPr>
        <p:spPr>
          <a:xfrm>
            <a:off x="1453896" y="2651760"/>
            <a:ext cx="2697480" cy="310896"/>
          </a:xfrm>
          <a:prstGeom prst="rect">
            <a:avLst/>
          </a:prstGeom>
          <a:noFill/>
        </p:spPr>
        <p:txBody>
          <a:bodyPr wrap="square" lIns="0" tIns="0" rIns="0" bIns="0" anchor="ctr">
            <a:normAutofit/>
          </a:bodyPr>
          <a:lstStyle/>
          <a:p>
            <a:pPr marL="0" indent="0">
              <a:buNone/>
            </a:pPr>
            <a:r>
              <a:rPr sz="1700" b="1">
                <a:solidFill>
                  <a:srgbClr val="193F2A"/>
                </a:solidFill>
                <a:latin typeface="Aptos"/>
                <a:ea typeface="Aptos"/>
                <a:cs typeface="Aptos"/>
              </a:rPr>
              <a:t>Simple layout</a:t>
            </a:r>
            <a:endParaRPr sz="1700"/>
          </a:p>
        </p:txBody>
      </p:sp>
      <p:sp>
        <p:nvSpPr>
          <p:cNvPr id="15" name="Text 13">
            <a:extLst>
              <a:ext uri="{FF2B5EF4-FFF2-40B4-BE49-F238E27FC236}">
                <a16:creationId xmlns:a16="http://schemas.microsoft.com/office/drawing/2014/main" id="{4594A600-E84C-436A-9D88-8638A6D32C61}"/>
              </a:ext>
            </a:extLst>
          </p:cNvPr>
          <p:cNvSpPr>
            <a:spLocks noGrp="1"/>
          </p:cNvSpPr>
          <p:nvPr/>
        </p:nvSpPr>
        <p:spPr>
          <a:xfrm>
            <a:off x="1453896" y="3035808"/>
            <a:ext cx="2697480" cy="320040"/>
          </a:xfrm>
          <a:prstGeom prst="rect">
            <a:avLst/>
          </a:prstGeom>
          <a:noFill/>
        </p:spPr>
        <p:txBody>
          <a:bodyPr wrap="square" lIns="0" tIns="0" rIns="0" bIns="0" anchor="ctr">
            <a:normAutofit/>
          </a:bodyPr>
          <a:lstStyle/>
          <a:p>
            <a:pPr marL="0" indent="0">
              <a:buNone/>
            </a:pPr>
            <a:r>
              <a:rPr sz="1250">
                <a:solidFill>
                  <a:srgbClr val="62736A"/>
                </a:solidFill>
                <a:latin typeface="Aptos"/>
                <a:ea typeface="Aptos"/>
                <a:cs typeface="Aptos"/>
              </a:rPr>
              <a:t>Clear hierarchy for busy farm days</a:t>
            </a:r>
            <a:endParaRPr sz="1250"/>
          </a:p>
        </p:txBody>
      </p:sp>
      <p:sp>
        <p:nvSpPr>
          <p:cNvPr id="16" name="Shape 14">
            <a:extLst>
              <a:ext uri="{FF2B5EF4-FFF2-40B4-BE49-F238E27FC236}">
                <a16:creationId xmlns:a16="http://schemas.microsoft.com/office/drawing/2014/main" id="{DAB3887D-F481-457F-9037-A20A8D4D1A2C}"/>
              </a:ext>
            </a:extLst>
          </p:cNvPr>
          <p:cNvSpPr>
            <a:spLocks noGrp="1"/>
          </p:cNvSpPr>
          <p:nvPr/>
        </p:nvSpPr>
        <p:spPr>
          <a:xfrm>
            <a:off x="969264" y="3840480"/>
            <a:ext cx="338328" cy="338328"/>
          </a:xfrm>
          <a:prstGeom prst="ellipse">
            <a:avLst/>
          </a:prstGeom>
          <a:solidFill>
            <a:srgbClr val="2D7040"/>
          </a:solidFill>
          <a:ln w="12700">
            <a:solidFill>
              <a:srgbClr val="2D7040"/>
            </a:solidFill>
            <a:prstDash val="solid"/>
          </a:ln>
        </p:spPr>
        <p:txBody>
          <a:bodyPr/>
          <a:lstStyle/>
          <a:p>
            <a:endParaRPr/>
          </a:p>
        </p:txBody>
      </p:sp>
      <p:sp>
        <p:nvSpPr>
          <p:cNvPr id="18" name="Text 16">
            <a:extLst>
              <a:ext uri="{FF2B5EF4-FFF2-40B4-BE49-F238E27FC236}">
                <a16:creationId xmlns:a16="http://schemas.microsoft.com/office/drawing/2014/main" id="{0652C0B3-384F-4368-96DE-A5F237F2CCBD}"/>
              </a:ext>
            </a:extLst>
          </p:cNvPr>
          <p:cNvSpPr>
            <a:spLocks noGrp="1"/>
          </p:cNvSpPr>
          <p:nvPr/>
        </p:nvSpPr>
        <p:spPr>
          <a:xfrm>
            <a:off x="1453896" y="3785616"/>
            <a:ext cx="2697480" cy="310896"/>
          </a:xfrm>
          <a:prstGeom prst="rect">
            <a:avLst/>
          </a:prstGeom>
          <a:noFill/>
        </p:spPr>
        <p:txBody>
          <a:bodyPr wrap="square" lIns="0" tIns="0" rIns="0" bIns="0" anchor="ctr">
            <a:normAutofit/>
          </a:bodyPr>
          <a:lstStyle/>
          <a:p>
            <a:pPr marL="0" indent="0">
              <a:buNone/>
            </a:pPr>
            <a:r>
              <a:rPr sz="1700" b="1" dirty="0">
                <a:solidFill>
                  <a:srgbClr val="193F2A"/>
                </a:solidFill>
                <a:latin typeface="Aptos"/>
                <a:ea typeface="Aptos"/>
                <a:cs typeface="Aptos"/>
              </a:rPr>
              <a:t>Shared UI</a:t>
            </a:r>
            <a:r>
              <a:rPr lang="en-AU" sz="1700" b="1" dirty="0">
                <a:solidFill>
                  <a:srgbClr val="193F2A"/>
                </a:solidFill>
                <a:latin typeface="Aptos"/>
                <a:ea typeface="Aptos"/>
                <a:cs typeface="Aptos"/>
              </a:rPr>
              <a:t> </a:t>
            </a:r>
            <a:endParaRPr sz="1700" dirty="0"/>
          </a:p>
        </p:txBody>
      </p:sp>
      <p:sp>
        <p:nvSpPr>
          <p:cNvPr id="19" name="Text 17">
            <a:extLst>
              <a:ext uri="{FF2B5EF4-FFF2-40B4-BE49-F238E27FC236}">
                <a16:creationId xmlns:a16="http://schemas.microsoft.com/office/drawing/2014/main" id="{1E768341-A660-415D-97F5-B33EDE66669B}"/>
              </a:ext>
            </a:extLst>
          </p:cNvPr>
          <p:cNvSpPr>
            <a:spLocks noGrp="1"/>
          </p:cNvSpPr>
          <p:nvPr/>
        </p:nvSpPr>
        <p:spPr>
          <a:xfrm>
            <a:off x="1453896" y="4169664"/>
            <a:ext cx="2697480" cy="320040"/>
          </a:xfrm>
          <a:prstGeom prst="rect">
            <a:avLst/>
          </a:prstGeom>
          <a:noFill/>
        </p:spPr>
        <p:txBody>
          <a:bodyPr wrap="square" lIns="0" tIns="0" rIns="0" bIns="0" anchor="ctr">
            <a:normAutofit/>
          </a:bodyPr>
          <a:lstStyle/>
          <a:p>
            <a:pPr marL="0" indent="0">
              <a:buNone/>
            </a:pPr>
            <a:r>
              <a:rPr sz="1250">
                <a:solidFill>
                  <a:srgbClr val="62736A"/>
                </a:solidFill>
                <a:latin typeface="Aptos"/>
                <a:ea typeface="Aptos"/>
                <a:cs typeface="Aptos"/>
              </a:rPr>
              <a:t>Buttons, cards, forms and notices</a:t>
            </a:r>
            <a:endParaRPr sz="1250"/>
          </a:p>
        </p:txBody>
      </p:sp>
      <p:sp>
        <p:nvSpPr>
          <p:cNvPr id="20" name="Shape 18">
            <a:extLst>
              <a:ext uri="{FF2B5EF4-FFF2-40B4-BE49-F238E27FC236}">
                <a16:creationId xmlns:a16="http://schemas.microsoft.com/office/drawing/2014/main" id="{DC15EB1E-BD15-4B97-8051-3C67FF61FCAF}"/>
              </a:ext>
            </a:extLst>
          </p:cNvPr>
          <p:cNvSpPr>
            <a:spLocks noGrp="1"/>
          </p:cNvSpPr>
          <p:nvPr/>
        </p:nvSpPr>
        <p:spPr>
          <a:xfrm>
            <a:off x="4727448" y="1709928"/>
            <a:ext cx="6675120" cy="4206240"/>
          </a:xfrm>
          <a:prstGeom prst="roundRect">
            <a:avLst>
              <a:gd name="adj" fmla="val 8276"/>
            </a:avLst>
          </a:prstGeom>
          <a:solidFill>
            <a:srgbClr val="FFFFFF"/>
          </a:solidFill>
          <a:ln w="8890">
            <a:solidFill>
              <a:srgbClr val="D9E2D9"/>
            </a:solidFill>
            <a:prstDash val="solid"/>
          </a:ln>
        </p:spPr>
        <p:txBody>
          <a:bodyPr/>
          <a:lstStyle/>
          <a:p>
            <a:endParaRPr/>
          </a:p>
        </p:txBody>
      </p:sp>
      <p:pic>
        <p:nvPicPr>
          <p:cNvPr id="21" name="Image 0">
            <a:extLst>
              <a:ext uri="{FF2B5EF4-FFF2-40B4-BE49-F238E27FC236}">
                <a16:creationId xmlns:a16="http://schemas.microsoft.com/office/drawing/2014/main" id="{EBB2ABDC-9E88-48E4-8559-9868294B7B17}"/>
              </a:ext>
            </a:extLst>
          </p:cNvPr>
          <p:cNvPicPr>
            <a:picLocks noChangeAspect="1"/>
          </p:cNvPicPr>
          <p:nvPr/>
        </p:nvPicPr>
        <p:blipFill>
          <a:blip r:embed="rId3"/>
          <a:stretch>
            <a:fillRect/>
          </a:stretch>
        </p:blipFill>
        <p:spPr>
          <a:xfrm>
            <a:off x="4901184" y="2453961"/>
            <a:ext cx="2552299" cy="1341281"/>
          </a:xfrm>
          <a:prstGeom prst="rect">
            <a:avLst/>
          </a:prstGeom>
        </p:spPr>
      </p:pic>
      <p:pic>
        <p:nvPicPr>
          <p:cNvPr id="23" name="Image 1">
            <a:extLst>
              <a:ext uri="{FF2B5EF4-FFF2-40B4-BE49-F238E27FC236}">
                <a16:creationId xmlns:a16="http://schemas.microsoft.com/office/drawing/2014/main" id="{16F1FD47-8BC8-477F-854D-28848931CD52}"/>
              </a:ext>
            </a:extLst>
          </p:cNvPr>
          <p:cNvPicPr>
            <a:picLocks noChangeAspect="1"/>
          </p:cNvPicPr>
          <p:nvPr/>
        </p:nvPicPr>
        <p:blipFill>
          <a:blip r:embed="rId4"/>
          <a:stretch>
            <a:fillRect/>
          </a:stretch>
        </p:blipFill>
        <p:spPr>
          <a:xfrm>
            <a:off x="7755235" y="2435673"/>
            <a:ext cx="3569242" cy="950976"/>
          </a:xfrm>
          <a:prstGeom prst="rect">
            <a:avLst/>
          </a:prstGeom>
        </p:spPr>
      </p:pic>
      <p:pic>
        <p:nvPicPr>
          <p:cNvPr id="25" name="Image 2">
            <a:extLst>
              <a:ext uri="{FF2B5EF4-FFF2-40B4-BE49-F238E27FC236}">
                <a16:creationId xmlns:a16="http://schemas.microsoft.com/office/drawing/2014/main" id="{BD2A03CE-323D-4E8B-87AF-F4CC86579060}"/>
              </a:ext>
            </a:extLst>
          </p:cNvPr>
          <p:cNvPicPr>
            <a:picLocks noChangeAspect="1"/>
          </p:cNvPicPr>
          <p:nvPr/>
        </p:nvPicPr>
        <p:blipFill>
          <a:blip r:embed="rId5"/>
          <a:stretch>
            <a:fillRect/>
          </a:stretch>
        </p:blipFill>
        <p:spPr>
          <a:xfrm>
            <a:off x="7759489" y="3471351"/>
            <a:ext cx="3463247" cy="2256162"/>
          </a:xfrm>
          <a:prstGeom prst="rect">
            <a:avLst/>
          </a:prstGeom>
        </p:spPr>
      </p:pic>
      <p:sp>
        <p:nvSpPr>
          <p:cNvPr id="26" name="text-25">
            <a:extLst>
              <a:ext uri="{FF2B5EF4-FFF2-40B4-BE49-F238E27FC236}">
                <a16:creationId xmlns:a16="http://schemas.microsoft.com/office/drawing/2014/main" id="{0134460A-40D8-014C-C7CE-74E5FCE378AC}"/>
              </a:ext>
            </a:extLst>
          </p:cNvPr>
          <p:cNvSpPr>
            <a:spLocks noGrp="1"/>
          </p:cNvSpPr>
          <p:nvPr/>
        </p:nvSpPr>
        <p:spPr>
          <a:xfrm>
            <a:off x="6267831" y="1907506"/>
            <a:ext cx="5048250" cy="619125"/>
          </a:xfrm>
          <a:prstGeom prst="rect">
            <a:avLst/>
          </a:prstGeom>
          <a:noFill/>
          <a:ln w="0">
            <a:noFill/>
          </a:ln>
        </p:spPr>
        <p:txBody>
          <a:bodyPr wrap="square" lIns="0" tIns="0" rIns="0" bIns="0" anchor="t">
            <a:noAutofit/>
          </a:bodyPr>
          <a:lstStyle>
            <a:defPPr algn="l">
              <a:defRPr sz="2625" b="1">
                <a:solidFill>
                  <a:srgbClr val="355632"/>
                </a:solidFill>
                <a:latin typeface="DejaVu Sans"/>
                <a:ea typeface="DejaVu Sans"/>
                <a:cs typeface="DejaVu Sans"/>
              </a:defRPr>
            </a:defPPr>
          </a:lstStyle>
          <a:p>
            <a:pPr algn="l">
              <a:buNone/>
              <a:defRPr sz="2625" b="1">
                <a:solidFill>
                  <a:srgbClr val="355632"/>
                </a:solidFill>
                <a:latin typeface="DejaVu Sans"/>
                <a:ea typeface="DejaVu Sans"/>
                <a:cs typeface="DejaVu Sans"/>
              </a:defRPr>
            </a:pPr>
            <a:r>
              <a:rPr sz="2625" b="1">
                <a:solidFill>
                  <a:srgbClr val="355632"/>
                </a:solidFill>
                <a:latin typeface="DejaVu Sans"/>
                <a:ea typeface="DejaVu Sans"/>
                <a:cs typeface="DejaVu Sans"/>
              </a:rPr>
              <a:t>Figma layouts</a:t>
            </a:r>
          </a:p>
        </p:txBody>
      </p:sp>
      <p:sp>
        <p:nvSpPr>
          <p:cNvPr id="31" name="Shape 14">
            <a:extLst>
              <a:ext uri="{FF2B5EF4-FFF2-40B4-BE49-F238E27FC236}">
                <a16:creationId xmlns:a16="http://schemas.microsoft.com/office/drawing/2014/main" id="{B46A1848-4341-284C-2B70-E976C9286D85}"/>
              </a:ext>
            </a:extLst>
          </p:cNvPr>
          <p:cNvSpPr>
            <a:spLocks noGrp="1"/>
          </p:cNvSpPr>
          <p:nvPr/>
        </p:nvSpPr>
        <p:spPr>
          <a:xfrm>
            <a:off x="909828" y="4914217"/>
            <a:ext cx="338328" cy="338328"/>
          </a:xfrm>
          <a:prstGeom prst="ellipse">
            <a:avLst/>
          </a:prstGeom>
          <a:solidFill>
            <a:srgbClr val="2D7040"/>
          </a:solidFill>
          <a:ln w="12700">
            <a:solidFill>
              <a:srgbClr val="2D7040"/>
            </a:solidFill>
            <a:prstDash val="solid"/>
          </a:ln>
        </p:spPr>
        <p:txBody>
          <a:bodyPr/>
          <a:lstStyle/>
          <a:p>
            <a:pPr algn="ctr">
              <a:buNone/>
            </a:pPr>
            <a:endParaRPr/>
          </a:p>
          <a:p>
            <a:pPr algn="ctr">
              <a:buNone/>
            </a:pPr>
            <a:endParaRPr/>
          </a:p>
        </p:txBody>
      </p:sp>
      <p:sp>
        <p:nvSpPr>
          <p:cNvPr id="32" name="Text 16">
            <a:extLst>
              <a:ext uri="{FF2B5EF4-FFF2-40B4-BE49-F238E27FC236}">
                <a16:creationId xmlns:a16="http://schemas.microsoft.com/office/drawing/2014/main" id="{4D895965-5256-9243-A58B-099E795C4575}"/>
              </a:ext>
            </a:extLst>
          </p:cNvPr>
          <p:cNvSpPr>
            <a:spLocks noGrp="1"/>
          </p:cNvSpPr>
          <p:nvPr/>
        </p:nvSpPr>
        <p:spPr>
          <a:xfrm>
            <a:off x="1453896" y="4900081"/>
            <a:ext cx="2697480" cy="310896"/>
          </a:xfrm>
          <a:prstGeom prst="rect">
            <a:avLst/>
          </a:prstGeom>
          <a:noFill/>
        </p:spPr>
        <p:txBody>
          <a:bodyPr wrap="square" lIns="0" tIns="0" rIns="0" bIns="0" anchor="ctr">
            <a:normAutofit/>
          </a:bodyPr>
          <a:lstStyle/>
          <a:p>
            <a:pPr marL="0" indent="0">
              <a:buNone/>
            </a:pPr>
            <a:r>
              <a:rPr sz="1700" b="1" dirty="0">
                <a:solidFill>
                  <a:srgbClr val="193F2A"/>
                </a:solidFill>
                <a:latin typeface="Aptos"/>
                <a:ea typeface="Aptos"/>
                <a:cs typeface="Aptos"/>
              </a:rPr>
              <a:t>CSS</a:t>
            </a:r>
            <a:r>
              <a:rPr lang="en-AU" sz="1700" b="1" dirty="0">
                <a:solidFill>
                  <a:srgbClr val="193F2A"/>
                </a:solidFill>
                <a:latin typeface="Aptos"/>
                <a:ea typeface="Aptos"/>
                <a:cs typeface="Aptos"/>
              </a:rPr>
              <a:t> theme </a:t>
            </a:r>
            <a:r>
              <a:rPr sz="1700" b="1" dirty="0">
                <a:solidFill>
                  <a:srgbClr val="193F2A"/>
                </a:solidFill>
                <a:latin typeface="Aptos"/>
                <a:ea typeface="Aptos"/>
                <a:cs typeface="Aptos"/>
              </a:rPr>
              <a:t> </a:t>
            </a:r>
            <a:endParaRPr sz="1700" dirty="0"/>
          </a:p>
        </p:txBody>
      </p:sp>
      <p:sp>
        <p:nvSpPr>
          <p:cNvPr id="33" name="section-label">
            <a:extLst>
              <a:ext uri="{FF2B5EF4-FFF2-40B4-BE49-F238E27FC236}">
                <a16:creationId xmlns:a16="http://schemas.microsoft.com/office/drawing/2014/main" id="{66C87AE1-F498-4320-9AEF-1A8083E06180}"/>
              </a:ext>
            </a:extLst>
          </p:cNvPr>
          <p:cNvSpPr>
            <a:spLocks noGrp="1"/>
          </p:cNvSpPr>
          <p:nvPr/>
        </p:nvSpPr>
        <p:spPr>
          <a:xfrm>
            <a:off x="658368" y="342900"/>
            <a:ext cx="8382000" cy="228600"/>
          </a:xfrm>
          <a:prstGeom prst="rect">
            <a:avLst/>
          </a:prstGeom>
          <a:noFill/>
          <a:ln w="0">
            <a:noFill/>
          </a:ln>
        </p:spPr>
        <p:txBody>
          <a:bodyPr wrap="square" lIns="0" tIns="0" rIns="0" bIns="0" anchor="t">
            <a:noAutofit/>
          </a:bodyPr>
          <a:lstStyle>
            <a:defPPr algn="l">
              <a:defRPr sz="1100" b="1">
                <a:solidFill>
                  <a:srgbClr val="2D7040"/>
                </a:solidFill>
                <a:latin typeface="Aptos"/>
                <a:ea typeface="Aptos"/>
                <a:cs typeface="Aptos"/>
              </a:defRPr>
            </a:defPPr>
          </a:lstStyle>
          <a:p>
            <a:pPr algn="l">
              <a:defRPr sz="1100" b="1">
                <a:solidFill>
                  <a:srgbClr val="2D7040"/>
                </a:solidFill>
                <a:latin typeface="Aptos"/>
                <a:ea typeface="Aptos"/>
                <a:cs typeface="Aptos"/>
              </a:defRPr>
            </a:pPr>
            <a:r>
              <a:rPr sz="1100" b="1" dirty="0">
                <a:solidFill>
                  <a:srgbClr val="2D7040"/>
                </a:solidFill>
                <a:latin typeface="Aptos"/>
                <a:ea typeface="Aptos"/>
                <a:cs typeface="Aptos"/>
              </a:rPr>
              <a:t>02 / DESIGN </a:t>
            </a:r>
            <a:r>
              <a:rPr lang="en-NZ" sz="1100" b="1" dirty="0">
                <a:solidFill>
                  <a:srgbClr val="2D7040"/>
                </a:solidFill>
                <a:latin typeface="Aptos"/>
                <a:ea typeface="Aptos"/>
                <a:cs typeface="Aptos"/>
              </a:rPr>
              <a:t>–</a:t>
            </a:r>
            <a:r>
              <a:rPr sz="1100" b="1" dirty="0">
                <a:solidFill>
                  <a:srgbClr val="2D7040"/>
                </a:solidFill>
                <a:latin typeface="Aptos"/>
                <a:ea typeface="Aptos"/>
                <a:cs typeface="Aptos"/>
              </a:rPr>
              <a:t> </a:t>
            </a:r>
            <a:r>
              <a:rPr lang="en-AU" sz="1100" b="1" dirty="0">
                <a:solidFill>
                  <a:srgbClr val="2D7040"/>
                </a:solidFill>
                <a:latin typeface="Aptos"/>
                <a:ea typeface="Aptos"/>
                <a:cs typeface="Aptos"/>
              </a:rPr>
              <a:t>design </a:t>
            </a:r>
            <a:endParaRPr sz="1100" b="1" dirty="0">
              <a:solidFill>
                <a:srgbClr val="2D7040"/>
              </a:solidFill>
              <a:latin typeface="Aptos"/>
              <a:ea typeface="Aptos"/>
              <a:cs typeface="Aptos"/>
            </a:endParaRPr>
          </a:p>
        </p:txBody>
      </p:sp>
    </p:spTree>
    <p:extLst>
      <p:ext uri="{BB962C8B-B14F-4D97-AF65-F5344CB8AC3E}">
        <p14:creationId xmlns:p14="http://schemas.microsoft.com/office/powerpoint/2010/main" val="1530135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4"/>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3A0ED0B-F738-48E9-97C7-FFE7420A7F98}"/>
              </a:ext>
            </a:extLst>
          </p:cNvPr>
          <p:cNvSpPr>
            <a:spLocks noGrp="1"/>
          </p:cNvSpPr>
          <p:nvPr/>
        </p:nvSpPr>
        <p:spPr>
          <a:xfrm>
            <a:off x="0" y="0"/>
            <a:ext cx="105156" cy="6858000"/>
          </a:xfrm>
          <a:prstGeom prst="rect">
            <a:avLst/>
          </a:prstGeom>
          <a:solidFill>
            <a:srgbClr val="2D7040"/>
          </a:solidFill>
          <a:ln w="12700">
            <a:solidFill>
              <a:srgbClr val="2D7040">
                <a:alpha val="0"/>
              </a:srgbClr>
            </a:solidFill>
            <a:prstDash val="solid"/>
          </a:ln>
        </p:spPr>
        <p:txBody>
          <a:bodyPr/>
          <a:lstStyle/>
          <a:p>
            <a:endParaRPr/>
          </a:p>
        </p:txBody>
      </p:sp>
      <p:sp>
        <p:nvSpPr>
          <p:cNvPr id="4" name="Text 2">
            <a:extLst>
              <a:ext uri="{FF2B5EF4-FFF2-40B4-BE49-F238E27FC236}">
                <a16:creationId xmlns:a16="http://schemas.microsoft.com/office/drawing/2014/main" id="{3E9C1739-E99B-408C-809F-5A6C3B0116E3}"/>
              </a:ext>
            </a:extLst>
          </p:cNvPr>
          <p:cNvSpPr>
            <a:spLocks noGrp="1"/>
          </p:cNvSpPr>
          <p:nvPr/>
        </p:nvSpPr>
        <p:spPr>
          <a:xfrm>
            <a:off x="658368" y="758952"/>
            <a:ext cx="10698480" cy="502920"/>
          </a:xfrm>
          <a:prstGeom prst="rect">
            <a:avLst/>
          </a:prstGeom>
          <a:noFill/>
        </p:spPr>
        <p:txBody>
          <a:bodyPr wrap="square" lIns="0" tIns="0" rIns="0" bIns="0" anchor="ctr">
            <a:normAutofit/>
          </a:bodyPr>
          <a:lstStyle/>
          <a:p>
            <a:pPr marL="0" indent="0">
              <a:buNone/>
            </a:pPr>
            <a:r>
              <a:rPr sz="3000" b="1" dirty="0">
                <a:solidFill>
                  <a:srgbClr val="193F2A"/>
                </a:solidFill>
                <a:latin typeface="Aptos"/>
                <a:ea typeface="Aptos"/>
                <a:cs typeface="Aptos"/>
              </a:rPr>
              <a:t>User stories</a:t>
            </a:r>
            <a:endParaRPr sz="3000" dirty="0"/>
          </a:p>
        </p:txBody>
      </p:sp>
      <p:sp>
        <p:nvSpPr>
          <p:cNvPr id="5" name="Text 3">
            <a:extLst>
              <a:ext uri="{FF2B5EF4-FFF2-40B4-BE49-F238E27FC236}">
                <a16:creationId xmlns:a16="http://schemas.microsoft.com/office/drawing/2014/main" id="{571E2422-0A85-4814-9870-5059A64E745F}"/>
              </a:ext>
            </a:extLst>
          </p:cNvPr>
          <p:cNvSpPr>
            <a:spLocks noGrp="1"/>
          </p:cNvSpPr>
          <p:nvPr/>
        </p:nvSpPr>
        <p:spPr>
          <a:xfrm>
            <a:off x="676656" y="1298448"/>
            <a:ext cx="10424160" cy="292608"/>
          </a:xfrm>
          <a:prstGeom prst="rect">
            <a:avLst/>
          </a:prstGeom>
          <a:noFill/>
        </p:spPr>
        <p:txBody>
          <a:bodyPr wrap="square" lIns="0" tIns="0" rIns="0" bIns="0" anchor="ctr">
            <a:normAutofit/>
          </a:bodyPr>
          <a:lstStyle/>
          <a:p>
            <a:pPr marL="0" indent="0">
              <a:buNone/>
            </a:pPr>
            <a:r>
              <a:rPr sz="1400">
                <a:solidFill>
                  <a:srgbClr val="62736A"/>
                </a:solidFill>
                <a:latin typeface="Aptos"/>
                <a:ea typeface="Aptos"/>
                <a:cs typeface="Aptos"/>
              </a:rPr>
              <a:t>The key tasks farmers need the website to support</a:t>
            </a:r>
            <a:endParaRPr sz="1400"/>
          </a:p>
        </p:txBody>
      </p:sp>
      <p:sp>
        <p:nvSpPr>
          <p:cNvPr id="6" name="Text 4">
            <a:extLst>
              <a:ext uri="{FF2B5EF4-FFF2-40B4-BE49-F238E27FC236}">
                <a16:creationId xmlns:a16="http://schemas.microsoft.com/office/drawing/2014/main" id="{F3B86A21-E0C5-4581-80A7-4F6B5A7F60D9}"/>
              </a:ext>
            </a:extLst>
          </p:cNvPr>
          <p:cNvSpPr>
            <a:spLocks noGrp="1"/>
          </p:cNvSpPr>
          <p:nvPr/>
        </p:nvSpPr>
        <p:spPr>
          <a:xfrm>
            <a:off x="10561320" y="338328"/>
            <a:ext cx="1005840" cy="274320"/>
          </a:xfrm>
          <a:prstGeom prst="rect">
            <a:avLst/>
          </a:prstGeom>
          <a:noFill/>
        </p:spPr>
        <p:txBody>
          <a:bodyPr wrap="square" lIns="0" tIns="0" rIns="0" bIns="0" anchor="ctr">
            <a:normAutofit/>
          </a:bodyPr>
          <a:lstStyle/>
          <a:p>
            <a:pPr marL="0" indent="0" algn="r">
              <a:buNone/>
            </a:pPr>
            <a:r>
              <a:rPr sz="1400" b="1" dirty="0">
                <a:solidFill>
                  <a:srgbClr val="193F2A"/>
                </a:solidFill>
                <a:latin typeface="Aptos"/>
                <a:ea typeface="Aptos"/>
                <a:cs typeface="Aptos"/>
              </a:rPr>
              <a:t>FeedBoard</a:t>
            </a:r>
            <a:endParaRPr sz="1400" dirty="0"/>
          </a:p>
        </p:txBody>
      </p:sp>
      <p:sp>
        <p:nvSpPr>
          <p:cNvPr id="7" name="Shape 5">
            <a:extLst>
              <a:ext uri="{FF2B5EF4-FFF2-40B4-BE49-F238E27FC236}">
                <a16:creationId xmlns:a16="http://schemas.microsoft.com/office/drawing/2014/main" id="{CE1C7753-9538-41E5-96F4-C8101364D18B}"/>
              </a:ext>
            </a:extLst>
          </p:cNvPr>
          <p:cNvSpPr>
            <a:spLocks noGrp="1"/>
          </p:cNvSpPr>
          <p:nvPr/>
        </p:nvSpPr>
        <p:spPr>
          <a:xfrm>
            <a:off x="658368" y="6492240"/>
            <a:ext cx="10844784" cy="0"/>
          </a:xfrm>
          <a:prstGeom prst="line">
            <a:avLst/>
          </a:prstGeom>
          <a:noFill/>
          <a:ln w="11430">
            <a:solidFill>
              <a:srgbClr val="D9E2D9"/>
            </a:solidFill>
            <a:prstDash val="solid"/>
          </a:ln>
        </p:spPr>
        <p:txBody>
          <a:bodyPr/>
          <a:lstStyle/>
          <a:p>
            <a:endParaRPr/>
          </a:p>
        </p:txBody>
      </p:sp>
      <p:sp>
        <p:nvSpPr>
          <p:cNvPr id="8" name="Text 6">
            <a:extLst>
              <a:ext uri="{FF2B5EF4-FFF2-40B4-BE49-F238E27FC236}">
                <a16:creationId xmlns:a16="http://schemas.microsoft.com/office/drawing/2014/main" id="{8B2AC843-1DEA-40F8-8ADF-6BC9E18ED4C0}"/>
              </a:ext>
            </a:extLst>
          </p:cNvPr>
          <p:cNvSpPr>
            <a:spLocks noGrp="1"/>
          </p:cNvSpPr>
          <p:nvPr/>
        </p:nvSpPr>
        <p:spPr>
          <a:xfrm>
            <a:off x="667512" y="6556248"/>
            <a:ext cx="4114800" cy="155448"/>
          </a:xfrm>
          <a:prstGeom prst="rect">
            <a:avLst/>
          </a:prstGeom>
          <a:noFill/>
        </p:spPr>
        <p:txBody>
          <a:bodyPr wrap="square" lIns="0" tIns="0" rIns="0" bIns="0" anchor="ctr">
            <a:normAutofit/>
          </a:bodyPr>
          <a:lstStyle/>
          <a:p>
            <a:pPr marL="0" indent="0">
              <a:buNone/>
            </a:pPr>
            <a:r>
              <a:rPr sz="900" b="1" spc="60">
                <a:solidFill>
                  <a:srgbClr val="62736A"/>
                </a:solidFill>
                <a:latin typeface="Aptos"/>
                <a:ea typeface="Aptos"/>
                <a:cs typeface="Aptos"/>
              </a:rPr>
              <a:t>GRAZING + FEED PLANNING</a:t>
            </a:r>
            <a:endParaRPr sz="900"/>
          </a:p>
        </p:txBody>
      </p:sp>
      <p:sp>
        <p:nvSpPr>
          <p:cNvPr id="9" name="Text 7">
            <a:extLst>
              <a:ext uri="{FF2B5EF4-FFF2-40B4-BE49-F238E27FC236}">
                <a16:creationId xmlns:a16="http://schemas.microsoft.com/office/drawing/2014/main" id="{5712DA54-7BD1-49B2-8442-946F1F22CC66}"/>
              </a:ext>
            </a:extLst>
          </p:cNvPr>
          <p:cNvSpPr>
            <a:spLocks noGrp="1"/>
          </p:cNvSpPr>
          <p:nvPr/>
        </p:nvSpPr>
        <p:spPr>
          <a:xfrm>
            <a:off x="10789920" y="6528816"/>
            <a:ext cx="676656" cy="201168"/>
          </a:xfrm>
          <a:prstGeom prst="rect">
            <a:avLst/>
          </a:prstGeom>
          <a:noFill/>
        </p:spPr>
        <p:txBody>
          <a:bodyPr wrap="square" lIns="0" tIns="0" rIns="0" bIns="0" anchor="ctr">
            <a:normAutofit/>
          </a:bodyPr>
          <a:lstStyle/>
          <a:p>
            <a:pPr marL="0" indent="0" algn="r">
              <a:buNone/>
            </a:pPr>
            <a:endParaRPr sz="1000"/>
          </a:p>
        </p:txBody>
      </p:sp>
      <p:sp>
        <p:nvSpPr>
          <p:cNvPr id="10" name="Shape 8">
            <a:extLst>
              <a:ext uri="{FF2B5EF4-FFF2-40B4-BE49-F238E27FC236}">
                <a16:creationId xmlns:a16="http://schemas.microsoft.com/office/drawing/2014/main" id="{F905A4F6-066B-49BC-85E2-C7225FEDE816}"/>
              </a:ext>
            </a:extLst>
          </p:cNvPr>
          <p:cNvSpPr>
            <a:spLocks noGrp="1"/>
          </p:cNvSpPr>
          <p:nvPr/>
        </p:nvSpPr>
        <p:spPr>
          <a:xfrm>
            <a:off x="758952" y="1673352"/>
            <a:ext cx="3657600" cy="4572000"/>
          </a:xfrm>
          <a:prstGeom prst="roundRect">
            <a:avLst>
              <a:gd name="adj" fmla="val 3000"/>
            </a:avLst>
          </a:prstGeom>
          <a:solidFill>
            <a:srgbClr val="FFFFFF"/>
          </a:solidFill>
          <a:ln w="8890">
            <a:solidFill>
              <a:srgbClr val="D9E2D9"/>
            </a:solidFill>
            <a:prstDash val="solid"/>
          </a:ln>
        </p:spPr>
        <p:txBody>
          <a:bodyPr/>
          <a:lstStyle/>
          <a:p>
            <a:endParaRPr/>
          </a:p>
        </p:txBody>
      </p:sp>
      <p:pic>
        <p:nvPicPr>
          <p:cNvPr id="11" name="Image 0">
            <a:extLst>
              <a:ext uri="{FF2B5EF4-FFF2-40B4-BE49-F238E27FC236}">
                <a16:creationId xmlns:a16="http://schemas.microsoft.com/office/drawing/2014/main" id="{43D26FD0-5515-4376-9736-DB2211C82142}"/>
              </a:ext>
            </a:extLst>
          </p:cNvPr>
          <p:cNvPicPr>
            <a:picLocks noChangeAspect="1"/>
          </p:cNvPicPr>
          <p:nvPr/>
        </p:nvPicPr>
        <p:blipFill>
          <a:blip r:embed="rId3"/>
          <a:stretch>
            <a:fillRect/>
          </a:stretch>
        </p:blipFill>
        <p:spPr>
          <a:xfrm>
            <a:off x="1015161" y="1737360"/>
            <a:ext cx="3145182" cy="4443984"/>
          </a:xfrm>
          <a:prstGeom prst="rect">
            <a:avLst/>
          </a:prstGeom>
        </p:spPr>
      </p:pic>
      <p:sp>
        <p:nvSpPr>
          <p:cNvPr id="12" name="Shape 9">
            <a:extLst>
              <a:ext uri="{FF2B5EF4-FFF2-40B4-BE49-F238E27FC236}">
                <a16:creationId xmlns:a16="http://schemas.microsoft.com/office/drawing/2014/main" id="{06AFDBC1-3C5A-4938-B96A-19D42F690E22}"/>
              </a:ext>
            </a:extLst>
          </p:cNvPr>
          <p:cNvSpPr>
            <a:spLocks noGrp="1"/>
          </p:cNvSpPr>
          <p:nvPr/>
        </p:nvSpPr>
        <p:spPr>
          <a:xfrm>
            <a:off x="4700016" y="1682496"/>
            <a:ext cx="6675120" cy="950976"/>
          </a:xfrm>
          <a:prstGeom prst="roundRect">
            <a:avLst>
              <a:gd name="adj" fmla="val 11538"/>
            </a:avLst>
          </a:prstGeom>
          <a:solidFill>
            <a:srgbClr val="FFFFFF"/>
          </a:solidFill>
          <a:ln w="8890">
            <a:solidFill>
              <a:srgbClr val="D9E2D9"/>
            </a:solidFill>
            <a:prstDash val="solid"/>
          </a:ln>
        </p:spPr>
        <p:txBody>
          <a:bodyPr/>
          <a:lstStyle/>
          <a:p>
            <a:endParaRPr/>
          </a:p>
        </p:txBody>
      </p:sp>
      <p:sp>
        <p:nvSpPr>
          <p:cNvPr id="13" name="Shape 10">
            <a:extLst>
              <a:ext uri="{FF2B5EF4-FFF2-40B4-BE49-F238E27FC236}">
                <a16:creationId xmlns:a16="http://schemas.microsoft.com/office/drawing/2014/main" id="{5D42EEDB-6756-46C0-A219-BD58C80129EB}"/>
              </a:ext>
            </a:extLst>
          </p:cNvPr>
          <p:cNvSpPr>
            <a:spLocks noGrp="1"/>
          </p:cNvSpPr>
          <p:nvPr/>
        </p:nvSpPr>
        <p:spPr>
          <a:xfrm>
            <a:off x="4846320" y="1810512"/>
            <a:ext cx="384048" cy="347472"/>
          </a:xfrm>
          <a:prstGeom prst="roundRect">
            <a:avLst>
              <a:gd name="adj" fmla="val 31579"/>
            </a:avLst>
          </a:prstGeom>
          <a:solidFill>
            <a:srgbClr val="E5ECDD"/>
          </a:solidFill>
          <a:ln w="8890">
            <a:solidFill>
              <a:srgbClr val="E5ECDD"/>
            </a:solidFill>
            <a:prstDash val="solid"/>
          </a:ln>
        </p:spPr>
        <p:txBody>
          <a:bodyPr/>
          <a:lstStyle/>
          <a:p>
            <a:endParaRPr/>
          </a:p>
        </p:txBody>
      </p:sp>
      <p:sp>
        <p:nvSpPr>
          <p:cNvPr id="14" name="Text 11">
            <a:extLst>
              <a:ext uri="{FF2B5EF4-FFF2-40B4-BE49-F238E27FC236}">
                <a16:creationId xmlns:a16="http://schemas.microsoft.com/office/drawing/2014/main" id="{8E8CD8E7-BA6B-484B-9293-609B2D85501F}"/>
              </a:ext>
            </a:extLst>
          </p:cNvPr>
          <p:cNvSpPr>
            <a:spLocks noGrp="1"/>
          </p:cNvSpPr>
          <p:nvPr/>
        </p:nvSpPr>
        <p:spPr>
          <a:xfrm>
            <a:off x="4846320" y="1819656"/>
            <a:ext cx="384048" cy="274320"/>
          </a:xfrm>
          <a:prstGeom prst="rect">
            <a:avLst/>
          </a:prstGeom>
          <a:noFill/>
        </p:spPr>
        <p:txBody>
          <a:bodyPr wrap="square" lIns="0" tIns="0" rIns="0" bIns="0" anchor="ctr">
            <a:normAutofit/>
          </a:bodyPr>
          <a:lstStyle/>
          <a:p>
            <a:pPr marL="0" indent="0" algn="ctr">
              <a:buNone/>
            </a:pPr>
            <a:r>
              <a:rPr sz="1200" b="1">
                <a:solidFill>
                  <a:srgbClr val="2D7040"/>
                </a:solidFill>
                <a:latin typeface="Aptos"/>
                <a:ea typeface="Aptos"/>
                <a:cs typeface="Aptos"/>
              </a:rPr>
              <a:t>1</a:t>
            </a:r>
            <a:endParaRPr sz="1200"/>
          </a:p>
        </p:txBody>
      </p:sp>
      <p:sp>
        <p:nvSpPr>
          <p:cNvPr id="15" name="Text 12">
            <a:extLst>
              <a:ext uri="{FF2B5EF4-FFF2-40B4-BE49-F238E27FC236}">
                <a16:creationId xmlns:a16="http://schemas.microsoft.com/office/drawing/2014/main" id="{7854C497-14B0-4E0F-8CCD-BC49742CA845}"/>
              </a:ext>
            </a:extLst>
          </p:cNvPr>
          <p:cNvSpPr>
            <a:spLocks noGrp="1"/>
          </p:cNvSpPr>
          <p:nvPr/>
        </p:nvSpPr>
        <p:spPr>
          <a:xfrm>
            <a:off x="5358384" y="1819656"/>
            <a:ext cx="5806440" cy="310896"/>
          </a:xfrm>
          <a:prstGeom prst="rect">
            <a:avLst/>
          </a:prstGeom>
          <a:noFill/>
        </p:spPr>
        <p:txBody>
          <a:bodyPr wrap="square" lIns="0" tIns="0" rIns="0" bIns="0" anchor="ctr">
            <a:normAutofit/>
          </a:bodyPr>
          <a:lstStyle/>
          <a:p>
            <a:pPr marL="0" indent="0">
              <a:buNone/>
            </a:pPr>
            <a:r>
              <a:rPr sz="1700" b="1">
                <a:solidFill>
                  <a:srgbClr val="193F2A"/>
                </a:solidFill>
                <a:latin typeface="Aptos"/>
                <a:ea typeface="Aptos"/>
                <a:cs typeface="Aptos"/>
              </a:rPr>
              <a:t>Set up the farm</a:t>
            </a:r>
            <a:endParaRPr sz="1700"/>
          </a:p>
        </p:txBody>
      </p:sp>
      <p:sp>
        <p:nvSpPr>
          <p:cNvPr id="16" name="Text 13">
            <a:extLst>
              <a:ext uri="{FF2B5EF4-FFF2-40B4-BE49-F238E27FC236}">
                <a16:creationId xmlns:a16="http://schemas.microsoft.com/office/drawing/2014/main" id="{FC759A78-57C9-432A-86DC-5BD17B910173}"/>
              </a:ext>
            </a:extLst>
          </p:cNvPr>
          <p:cNvSpPr>
            <a:spLocks noGrp="1"/>
          </p:cNvSpPr>
          <p:nvPr/>
        </p:nvSpPr>
        <p:spPr>
          <a:xfrm>
            <a:off x="5358384" y="2240280"/>
            <a:ext cx="5788152" cy="320040"/>
          </a:xfrm>
          <a:prstGeom prst="rect">
            <a:avLst/>
          </a:prstGeom>
          <a:noFill/>
        </p:spPr>
        <p:txBody>
          <a:bodyPr wrap="square" lIns="0" tIns="0" rIns="0" bIns="0" anchor="t">
            <a:normAutofit/>
          </a:bodyPr>
          <a:lstStyle/>
          <a:p>
            <a:pPr marL="0" indent="0">
              <a:buNone/>
            </a:pPr>
            <a:r>
              <a:rPr sz="1300">
                <a:solidFill>
                  <a:srgbClr val="62736A"/>
                </a:solidFill>
                <a:latin typeface="Aptos"/>
                <a:ea typeface="Aptos"/>
                <a:cs typeface="Aptos"/>
              </a:rPr>
              <a:t>Enter milking times, herds, paddock areas and grazing targets.</a:t>
            </a:r>
            <a:endParaRPr sz="1300"/>
          </a:p>
        </p:txBody>
      </p:sp>
      <p:sp>
        <p:nvSpPr>
          <p:cNvPr id="17" name="Shape 14">
            <a:extLst>
              <a:ext uri="{FF2B5EF4-FFF2-40B4-BE49-F238E27FC236}">
                <a16:creationId xmlns:a16="http://schemas.microsoft.com/office/drawing/2014/main" id="{91C0D1A1-7978-4702-92D1-8533621E5BD7}"/>
              </a:ext>
            </a:extLst>
          </p:cNvPr>
          <p:cNvSpPr>
            <a:spLocks noGrp="1"/>
          </p:cNvSpPr>
          <p:nvPr/>
        </p:nvSpPr>
        <p:spPr>
          <a:xfrm>
            <a:off x="4700016" y="2761488"/>
            <a:ext cx="6675120" cy="950976"/>
          </a:xfrm>
          <a:prstGeom prst="roundRect">
            <a:avLst>
              <a:gd name="adj" fmla="val 11538"/>
            </a:avLst>
          </a:prstGeom>
          <a:solidFill>
            <a:srgbClr val="FFFFFF"/>
          </a:solidFill>
          <a:ln w="8890">
            <a:solidFill>
              <a:srgbClr val="D9E2D9"/>
            </a:solidFill>
            <a:prstDash val="solid"/>
          </a:ln>
        </p:spPr>
        <p:txBody>
          <a:bodyPr/>
          <a:lstStyle/>
          <a:p>
            <a:endParaRPr/>
          </a:p>
        </p:txBody>
      </p:sp>
      <p:sp>
        <p:nvSpPr>
          <p:cNvPr id="18" name="Shape 15">
            <a:extLst>
              <a:ext uri="{FF2B5EF4-FFF2-40B4-BE49-F238E27FC236}">
                <a16:creationId xmlns:a16="http://schemas.microsoft.com/office/drawing/2014/main" id="{9A01E21A-5A7C-4A32-8440-5CED630CFEA8}"/>
              </a:ext>
            </a:extLst>
          </p:cNvPr>
          <p:cNvSpPr>
            <a:spLocks noGrp="1"/>
          </p:cNvSpPr>
          <p:nvPr/>
        </p:nvSpPr>
        <p:spPr>
          <a:xfrm>
            <a:off x="4846320" y="2889504"/>
            <a:ext cx="384048" cy="347472"/>
          </a:xfrm>
          <a:prstGeom prst="roundRect">
            <a:avLst>
              <a:gd name="adj" fmla="val 31579"/>
            </a:avLst>
          </a:prstGeom>
          <a:solidFill>
            <a:srgbClr val="E5ECDD"/>
          </a:solidFill>
          <a:ln w="8890">
            <a:solidFill>
              <a:srgbClr val="E5ECDD"/>
            </a:solidFill>
            <a:prstDash val="solid"/>
          </a:ln>
        </p:spPr>
        <p:txBody>
          <a:bodyPr/>
          <a:lstStyle/>
          <a:p>
            <a:endParaRPr/>
          </a:p>
        </p:txBody>
      </p:sp>
      <p:sp>
        <p:nvSpPr>
          <p:cNvPr id="19" name="Text 16">
            <a:extLst>
              <a:ext uri="{FF2B5EF4-FFF2-40B4-BE49-F238E27FC236}">
                <a16:creationId xmlns:a16="http://schemas.microsoft.com/office/drawing/2014/main" id="{D38728B9-67EE-45DC-BE96-C469515B41B9}"/>
              </a:ext>
            </a:extLst>
          </p:cNvPr>
          <p:cNvSpPr>
            <a:spLocks noGrp="1"/>
          </p:cNvSpPr>
          <p:nvPr/>
        </p:nvSpPr>
        <p:spPr>
          <a:xfrm>
            <a:off x="4846320" y="2898648"/>
            <a:ext cx="384048" cy="274320"/>
          </a:xfrm>
          <a:prstGeom prst="rect">
            <a:avLst/>
          </a:prstGeom>
          <a:noFill/>
        </p:spPr>
        <p:txBody>
          <a:bodyPr wrap="square" lIns="0" tIns="0" rIns="0" bIns="0" anchor="ctr">
            <a:normAutofit/>
          </a:bodyPr>
          <a:lstStyle/>
          <a:p>
            <a:pPr marL="0" indent="0" algn="ctr">
              <a:buNone/>
            </a:pPr>
            <a:r>
              <a:rPr sz="1200" b="1">
                <a:solidFill>
                  <a:srgbClr val="2D7040"/>
                </a:solidFill>
                <a:latin typeface="Aptos"/>
                <a:ea typeface="Aptos"/>
                <a:cs typeface="Aptos"/>
              </a:rPr>
              <a:t>2</a:t>
            </a:r>
            <a:endParaRPr sz="1200"/>
          </a:p>
        </p:txBody>
      </p:sp>
      <p:sp>
        <p:nvSpPr>
          <p:cNvPr id="20" name="Text 17">
            <a:extLst>
              <a:ext uri="{FF2B5EF4-FFF2-40B4-BE49-F238E27FC236}">
                <a16:creationId xmlns:a16="http://schemas.microsoft.com/office/drawing/2014/main" id="{4B59EA7B-4E2E-4FBF-848C-86E969908366}"/>
              </a:ext>
            </a:extLst>
          </p:cNvPr>
          <p:cNvSpPr>
            <a:spLocks noGrp="1"/>
          </p:cNvSpPr>
          <p:nvPr/>
        </p:nvSpPr>
        <p:spPr>
          <a:xfrm>
            <a:off x="5358384" y="2898648"/>
            <a:ext cx="5806440" cy="310896"/>
          </a:xfrm>
          <a:prstGeom prst="rect">
            <a:avLst/>
          </a:prstGeom>
          <a:noFill/>
        </p:spPr>
        <p:txBody>
          <a:bodyPr wrap="square" lIns="0" tIns="0" rIns="0" bIns="0" anchor="ctr">
            <a:normAutofit/>
          </a:bodyPr>
          <a:lstStyle/>
          <a:p>
            <a:pPr marL="0" indent="0">
              <a:buNone/>
            </a:pPr>
            <a:r>
              <a:rPr sz="1700" b="1">
                <a:solidFill>
                  <a:srgbClr val="193F2A"/>
                </a:solidFill>
                <a:latin typeface="Aptos"/>
                <a:ea typeface="Aptos"/>
                <a:cs typeface="Aptos"/>
              </a:rPr>
              <a:t>Plan the rotation</a:t>
            </a:r>
            <a:endParaRPr sz="1700"/>
          </a:p>
        </p:txBody>
      </p:sp>
      <p:sp>
        <p:nvSpPr>
          <p:cNvPr id="21" name="Text 18">
            <a:extLst>
              <a:ext uri="{FF2B5EF4-FFF2-40B4-BE49-F238E27FC236}">
                <a16:creationId xmlns:a16="http://schemas.microsoft.com/office/drawing/2014/main" id="{20557AE1-FA58-49AC-8D90-89BB4A659E4C}"/>
              </a:ext>
            </a:extLst>
          </p:cNvPr>
          <p:cNvSpPr>
            <a:spLocks noGrp="1"/>
          </p:cNvSpPr>
          <p:nvPr/>
        </p:nvSpPr>
        <p:spPr>
          <a:xfrm>
            <a:off x="5358384" y="3319272"/>
            <a:ext cx="5788152" cy="320040"/>
          </a:xfrm>
          <a:prstGeom prst="rect">
            <a:avLst/>
          </a:prstGeom>
          <a:noFill/>
        </p:spPr>
        <p:txBody>
          <a:bodyPr wrap="square" lIns="0" tIns="0" rIns="0" bIns="0" anchor="t">
            <a:normAutofit/>
          </a:bodyPr>
          <a:lstStyle/>
          <a:p>
            <a:pPr marL="0" indent="0">
              <a:buNone/>
            </a:pPr>
            <a:r>
              <a:rPr sz="1300">
                <a:solidFill>
                  <a:srgbClr val="62736A"/>
                </a:solidFill>
                <a:latin typeface="Aptos"/>
                <a:ea typeface="Aptos"/>
                <a:cs typeface="Aptos"/>
              </a:rPr>
              <a:t>See AM/PM breaks and choose the order paddocks are grazed.</a:t>
            </a:r>
            <a:endParaRPr sz="1300"/>
          </a:p>
        </p:txBody>
      </p:sp>
      <p:sp>
        <p:nvSpPr>
          <p:cNvPr id="22" name="Shape 19">
            <a:extLst>
              <a:ext uri="{FF2B5EF4-FFF2-40B4-BE49-F238E27FC236}">
                <a16:creationId xmlns:a16="http://schemas.microsoft.com/office/drawing/2014/main" id="{334CBF43-6872-42B6-B4B7-F923D356CC74}"/>
              </a:ext>
            </a:extLst>
          </p:cNvPr>
          <p:cNvSpPr>
            <a:spLocks noGrp="1"/>
          </p:cNvSpPr>
          <p:nvPr/>
        </p:nvSpPr>
        <p:spPr>
          <a:xfrm>
            <a:off x="4700016" y="3840480"/>
            <a:ext cx="6675120" cy="950976"/>
          </a:xfrm>
          <a:prstGeom prst="roundRect">
            <a:avLst>
              <a:gd name="adj" fmla="val 11538"/>
            </a:avLst>
          </a:prstGeom>
          <a:solidFill>
            <a:srgbClr val="FFFFFF"/>
          </a:solidFill>
          <a:ln w="8890">
            <a:solidFill>
              <a:srgbClr val="D9E2D9"/>
            </a:solidFill>
            <a:prstDash val="solid"/>
          </a:ln>
        </p:spPr>
        <p:txBody>
          <a:bodyPr/>
          <a:lstStyle/>
          <a:p>
            <a:endParaRPr/>
          </a:p>
        </p:txBody>
      </p:sp>
      <p:sp>
        <p:nvSpPr>
          <p:cNvPr id="23" name="Shape 20">
            <a:extLst>
              <a:ext uri="{FF2B5EF4-FFF2-40B4-BE49-F238E27FC236}">
                <a16:creationId xmlns:a16="http://schemas.microsoft.com/office/drawing/2014/main" id="{AA268350-8EF0-4F89-83AC-A4EC6911E18C}"/>
              </a:ext>
            </a:extLst>
          </p:cNvPr>
          <p:cNvSpPr>
            <a:spLocks noGrp="1"/>
          </p:cNvSpPr>
          <p:nvPr/>
        </p:nvSpPr>
        <p:spPr>
          <a:xfrm>
            <a:off x="4846320" y="3968496"/>
            <a:ext cx="384048" cy="347472"/>
          </a:xfrm>
          <a:prstGeom prst="roundRect">
            <a:avLst>
              <a:gd name="adj" fmla="val 31579"/>
            </a:avLst>
          </a:prstGeom>
          <a:solidFill>
            <a:srgbClr val="E5ECDD"/>
          </a:solidFill>
          <a:ln w="8890">
            <a:solidFill>
              <a:srgbClr val="E5ECDD"/>
            </a:solidFill>
            <a:prstDash val="solid"/>
          </a:ln>
        </p:spPr>
        <p:txBody>
          <a:bodyPr/>
          <a:lstStyle/>
          <a:p>
            <a:endParaRPr/>
          </a:p>
        </p:txBody>
      </p:sp>
      <p:sp>
        <p:nvSpPr>
          <p:cNvPr id="24" name="Text 21">
            <a:extLst>
              <a:ext uri="{FF2B5EF4-FFF2-40B4-BE49-F238E27FC236}">
                <a16:creationId xmlns:a16="http://schemas.microsoft.com/office/drawing/2014/main" id="{D87C39A1-25C8-4DE5-931B-A9CB5A410FF0}"/>
              </a:ext>
            </a:extLst>
          </p:cNvPr>
          <p:cNvSpPr>
            <a:spLocks noGrp="1"/>
          </p:cNvSpPr>
          <p:nvPr/>
        </p:nvSpPr>
        <p:spPr>
          <a:xfrm>
            <a:off x="4846320" y="3977640"/>
            <a:ext cx="384048" cy="274320"/>
          </a:xfrm>
          <a:prstGeom prst="rect">
            <a:avLst/>
          </a:prstGeom>
          <a:noFill/>
        </p:spPr>
        <p:txBody>
          <a:bodyPr wrap="square" lIns="0" tIns="0" rIns="0" bIns="0" anchor="ctr">
            <a:normAutofit/>
          </a:bodyPr>
          <a:lstStyle/>
          <a:p>
            <a:pPr marL="0" indent="0" algn="ctr">
              <a:buNone/>
            </a:pPr>
            <a:r>
              <a:rPr sz="1200" b="1">
                <a:solidFill>
                  <a:srgbClr val="2D7040"/>
                </a:solidFill>
                <a:latin typeface="Aptos"/>
                <a:ea typeface="Aptos"/>
                <a:cs typeface="Aptos"/>
              </a:rPr>
              <a:t>3</a:t>
            </a:r>
            <a:endParaRPr sz="1200"/>
          </a:p>
        </p:txBody>
      </p:sp>
      <p:sp>
        <p:nvSpPr>
          <p:cNvPr id="25" name="Text 22">
            <a:extLst>
              <a:ext uri="{FF2B5EF4-FFF2-40B4-BE49-F238E27FC236}">
                <a16:creationId xmlns:a16="http://schemas.microsoft.com/office/drawing/2014/main" id="{10B06608-DC7D-49CD-87D6-7EA90B77AF36}"/>
              </a:ext>
            </a:extLst>
          </p:cNvPr>
          <p:cNvSpPr>
            <a:spLocks noGrp="1"/>
          </p:cNvSpPr>
          <p:nvPr/>
        </p:nvSpPr>
        <p:spPr>
          <a:xfrm>
            <a:off x="5358384" y="3977640"/>
            <a:ext cx="5806440" cy="310896"/>
          </a:xfrm>
          <a:prstGeom prst="rect">
            <a:avLst/>
          </a:prstGeom>
          <a:noFill/>
        </p:spPr>
        <p:txBody>
          <a:bodyPr wrap="square" lIns="0" tIns="0" rIns="0" bIns="0" anchor="ctr">
            <a:normAutofit/>
          </a:bodyPr>
          <a:lstStyle/>
          <a:p>
            <a:pPr marL="0" indent="0">
              <a:buNone/>
            </a:pPr>
            <a:r>
              <a:rPr sz="1700" b="1">
                <a:solidFill>
                  <a:srgbClr val="193F2A"/>
                </a:solidFill>
                <a:latin typeface="Aptos"/>
                <a:ea typeface="Aptos"/>
                <a:cs typeface="Aptos"/>
              </a:rPr>
              <a:t>Check the feed</a:t>
            </a:r>
            <a:endParaRPr sz="1700"/>
          </a:p>
        </p:txBody>
      </p:sp>
      <p:sp>
        <p:nvSpPr>
          <p:cNvPr id="26" name="Text 23">
            <a:extLst>
              <a:ext uri="{FF2B5EF4-FFF2-40B4-BE49-F238E27FC236}">
                <a16:creationId xmlns:a16="http://schemas.microsoft.com/office/drawing/2014/main" id="{48632F4A-94F2-4BA7-A78B-08F46718B9DB}"/>
              </a:ext>
            </a:extLst>
          </p:cNvPr>
          <p:cNvSpPr>
            <a:spLocks noGrp="1"/>
          </p:cNvSpPr>
          <p:nvPr/>
        </p:nvSpPr>
        <p:spPr>
          <a:xfrm>
            <a:off x="5358384" y="4398264"/>
            <a:ext cx="5788152" cy="320040"/>
          </a:xfrm>
          <a:prstGeom prst="rect">
            <a:avLst/>
          </a:prstGeom>
          <a:noFill/>
        </p:spPr>
        <p:txBody>
          <a:bodyPr wrap="square" lIns="0" tIns="0" rIns="0" bIns="0" anchor="t">
            <a:normAutofit/>
          </a:bodyPr>
          <a:lstStyle/>
          <a:p>
            <a:pPr marL="0" indent="0">
              <a:buNone/>
            </a:pPr>
            <a:r>
              <a:rPr sz="1300">
                <a:solidFill>
                  <a:srgbClr val="62736A"/>
                </a:solidFill>
                <a:latin typeface="Aptos"/>
                <a:ea typeface="Aptos"/>
                <a:cs typeface="Aptos"/>
              </a:rPr>
              <a:t>See pasture and crop feed per animal against target intake.</a:t>
            </a:r>
            <a:endParaRPr sz="1300"/>
          </a:p>
        </p:txBody>
      </p:sp>
      <p:sp>
        <p:nvSpPr>
          <p:cNvPr id="27" name="Shape 24">
            <a:extLst>
              <a:ext uri="{FF2B5EF4-FFF2-40B4-BE49-F238E27FC236}">
                <a16:creationId xmlns:a16="http://schemas.microsoft.com/office/drawing/2014/main" id="{893B3DE0-3591-4C87-83F8-0C8D8D53BD35}"/>
              </a:ext>
            </a:extLst>
          </p:cNvPr>
          <p:cNvSpPr>
            <a:spLocks noGrp="1"/>
          </p:cNvSpPr>
          <p:nvPr/>
        </p:nvSpPr>
        <p:spPr>
          <a:xfrm>
            <a:off x="4700016" y="4919472"/>
            <a:ext cx="6675120" cy="950976"/>
          </a:xfrm>
          <a:prstGeom prst="roundRect">
            <a:avLst>
              <a:gd name="adj" fmla="val 11538"/>
            </a:avLst>
          </a:prstGeom>
          <a:solidFill>
            <a:srgbClr val="FFFFFF"/>
          </a:solidFill>
          <a:ln w="8890">
            <a:solidFill>
              <a:srgbClr val="D9E2D9"/>
            </a:solidFill>
            <a:prstDash val="solid"/>
          </a:ln>
        </p:spPr>
        <p:txBody>
          <a:bodyPr/>
          <a:lstStyle/>
          <a:p>
            <a:endParaRPr/>
          </a:p>
        </p:txBody>
      </p:sp>
      <p:sp>
        <p:nvSpPr>
          <p:cNvPr id="28" name="Shape 25">
            <a:extLst>
              <a:ext uri="{FF2B5EF4-FFF2-40B4-BE49-F238E27FC236}">
                <a16:creationId xmlns:a16="http://schemas.microsoft.com/office/drawing/2014/main" id="{1F4BD1C4-0B2B-4B5B-9A57-10FF1976D71F}"/>
              </a:ext>
            </a:extLst>
          </p:cNvPr>
          <p:cNvSpPr>
            <a:spLocks noGrp="1"/>
          </p:cNvSpPr>
          <p:nvPr/>
        </p:nvSpPr>
        <p:spPr>
          <a:xfrm>
            <a:off x="4846320" y="5047488"/>
            <a:ext cx="384048" cy="347472"/>
          </a:xfrm>
          <a:prstGeom prst="roundRect">
            <a:avLst>
              <a:gd name="adj" fmla="val 31579"/>
            </a:avLst>
          </a:prstGeom>
          <a:solidFill>
            <a:srgbClr val="E5ECDD"/>
          </a:solidFill>
          <a:ln w="8890">
            <a:solidFill>
              <a:srgbClr val="E5ECDD"/>
            </a:solidFill>
            <a:prstDash val="solid"/>
          </a:ln>
        </p:spPr>
        <p:txBody>
          <a:bodyPr/>
          <a:lstStyle/>
          <a:p>
            <a:endParaRPr/>
          </a:p>
        </p:txBody>
      </p:sp>
      <p:sp>
        <p:nvSpPr>
          <p:cNvPr id="29" name="Text 26">
            <a:extLst>
              <a:ext uri="{FF2B5EF4-FFF2-40B4-BE49-F238E27FC236}">
                <a16:creationId xmlns:a16="http://schemas.microsoft.com/office/drawing/2014/main" id="{6CDC40D0-150F-484D-8655-46AC1C875CC7}"/>
              </a:ext>
            </a:extLst>
          </p:cNvPr>
          <p:cNvSpPr>
            <a:spLocks noGrp="1"/>
          </p:cNvSpPr>
          <p:nvPr/>
        </p:nvSpPr>
        <p:spPr>
          <a:xfrm>
            <a:off x="4846320" y="5056632"/>
            <a:ext cx="384048" cy="274320"/>
          </a:xfrm>
          <a:prstGeom prst="rect">
            <a:avLst/>
          </a:prstGeom>
          <a:noFill/>
        </p:spPr>
        <p:txBody>
          <a:bodyPr wrap="square" lIns="0" tIns="0" rIns="0" bIns="0" anchor="ctr">
            <a:normAutofit/>
          </a:bodyPr>
          <a:lstStyle/>
          <a:p>
            <a:pPr marL="0" indent="0" algn="ctr">
              <a:buNone/>
            </a:pPr>
            <a:r>
              <a:rPr sz="1200" b="1">
                <a:solidFill>
                  <a:srgbClr val="2D7040"/>
                </a:solidFill>
                <a:latin typeface="Aptos"/>
                <a:ea typeface="Aptos"/>
                <a:cs typeface="Aptos"/>
              </a:rPr>
              <a:t>4</a:t>
            </a:r>
            <a:endParaRPr sz="1200"/>
          </a:p>
        </p:txBody>
      </p:sp>
      <p:sp>
        <p:nvSpPr>
          <p:cNvPr id="30" name="Text 27">
            <a:extLst>
              <a:ext uri="{FF2B5EF4-FFF2-40B4-BE49-F238E27FC236}">
                <a16:creationId xmlns:a16="http://schemas.microsoft.com/office/drawing/2014/main" id="{F6FBBF83-57C6-4E1C-865D-20A25451D45E}"/>
              </a:ext>
            </a:extLst>
          </p:cNvPr>
          <p:cNvSpPr>
            <a:spLocks noGrp="1"/>
          </p:cNvSpPr>
          <p:nvPr/>
        </p:nvSpPr>
        <p:spPr>
          <a:xfrm>
            <a:off x="5358384" y="5056632"/>
            <a:ext cx="5806440" cy="310896"/>
          </a:xfrm>
          <a:prstGeom prst="rect">
            <a:avLst/>
          </a:prstGeom>
          <a:noFill/>
        </p:spPr>
        <p:txBody>
          <a:bodyPr wrap="square" lIns="0" tIns="0" rIns="0" bIns="0" anchor="ctr">
            <a:normAutofit/>
          </a:bodyPr>
          <a:lstStyle/>
          <a:p>
            <a:pPr marL="0" indent="0">
              <a:buNone/>
            </a:pPr>
            <a:r>
              <a:rPr sz="1700" b="1">
                <a:solidFill>
                  <a:srgbClr val="193F2A"/>
                </a:solidFill>
                <a:latin typeface="Aptos"/>
                <a:ea typeface="Aptos"/>
                <a:cs typeface="Aptos"/>
              </a:rPr>
              <a:t>Keep changes</a:t>
            </a:r>
            <a:endParaRPr sz="1700"/>
          </a:p>
        </p:txBody>
      </p:sp>
      <p:sp>
        <p:nvSpPr>
          <p:cNvPr id="31" name="Text 28">
            <a:extLst>
              <a:ext uri="{FF2B5EF4-FFF2-40B4-BE49-F238E27FC236}">
                <a16:creationId xmlns:a16="http://schemas.microsoft.com/office/drawing/2014/main" id="{CD24CA40-045A-4C67-8C66-3738E2D77DBF}"/>
              </a:ext>
            </a:extLst>
          </p:cNvPr>
          <p:cNvSpPr>
            <a:spLocks noGrp="1"/>
          </p:cNvSpPr>
          <p:nvPr/>
        </p:nvSpPr>
        <p:spPr>
          <a:xfrm>
            <a:off x="5358384" y="5477256"/>
            <a:ext cx="5788152" cy="320040"/>
          </a:xfrm>
          <a:prstGeom prst="rect">
            <a:avLst/>
          </a:prstGeom>
          <a:noFill/>
        </p:spPr>
        <p:txBody>
          <a:bodyPr wrap="square" lIns="0" tIns="0" rIns="0" bIns="0" anchor="t">
            <a:normAutofit/>
          </a:bodyPr>
          <a:lstStyle/>
          <a:p>
            <a:pPr marL="0" indent="0">
              <a:buNone/>
            </a:pPr>
            <a:r>
              <a:rPr sz="1300">
                <a:solidFill>
                  <a:srgbClr val="62736A"/>
                </a:solidFill>
                <a:latin typeface="Aptos"/>
                <a:ea typeface="Aptos"/>
                <a:cs typeface="Aptos"/>
              </a:rPr>
              <a:t>Save farm information and load it again later.</a:t>
            </a:r>
            <a:endParaRPr sz="1300"/>
          </a:p>
        </p:txBody>
      </p:sp>
      <p:sp>
        <p:nvSpPr>
          <p:cNvPr id="32" name="section-label">
            <a:extLst>
              <a:ext uri="{FF2B5EF4-FFF2-40B4-BE49-F238E27FC236}">
                <a16:creationId xmlns:a16="http://schemas.microsoft.com/office/drawing/2014/main" id="{CE10169D-E913-4216-972C-0645DF434101}"/>
              </a:ext>
            </a:extLst>
          </p:cNvPr>
          <p:cNvSpPr>
            <a:spLocks noGrp="1"/>
          </p:cNvSpPr>
          <p:nvPr/>
        </p:nvSpPr>
        <p:spPr>
          <a:xfrm>
            <a:off x="658368" y="342900"/>
            <a:ext cx="8382000" cy="228600"/>
          </a:xfrm>
          <a:prstGeom prst="rect">
            <a:avLst/>
          </a:prstGeom>
          <a:noFill/>
          <a:ln w="0">
            <a:noFill/>
          </a:ln>
        </p:spPr>
        <p:txBody>
          <a:bodyPr wrap="square" lIns="0" tIns="0" rIns="0" bIns="0" anchor="t">
            <a:noAutofit/>
          </a:bodyPr>
          <a:lstStyle>
            <a:defPPr algn="l">
              <a:defRPr sz="1100" b="1">
                <a:solidFill>
                  <a:srgbClr val="2D7040"/>
                </a:solidFill>
                <a:latin typeface="Aptos"/>
                <a:ea typeface="Aptos"/>
                <a:cs typeface="Aptos"/>
              </a:defRPr>
            </a:defPPr>
          </a:lstStyle>
          <a:p>
            <a:pPr algn="l">
              <a:defRPr sz="1100" b="1">
                <a:solidFill>
                  <a:srgbClr val="2D7040"/>
                </a:solidFill>
                <a:latin typeface="Aptos"/>
                <a:ea typeface="Aptos"/>
                <a:cs typeface="Aptos"/>
              </a:defRPr>
            </a:pPr>
            <a:r>
              <a:rPr sz="1100" b="1" dirty="0">
                <a:solidFill>
                  <a:srgbClr val="2D7040"/>
                </a:solidFill>
                <a:latin typeface="Aptos"/>
                <a:ea typeface="Aptos"/>
                <a:cs typeface="Aptos"/>
              </a:rPr>
              <a:t>01 / D</a:t>
            </a:r>
            <a:r>
              <a:rPr lang="en-AU" sz="1100" b="1" dirty="0">
                <a:solidFill>
                  <a:srgbClr val="2D7040"/>
                </a:solidFill>
                <a:latin typeface="Aptos"/>
                <a:ea typeface="Aptos"/>
                <a:cs typeface="Aptos"/>
              </a:rPr>
              <a:t>ocumentation</a:t>
            </a:r>
            <a:r>
              <a:rPr sz="1100" b="1" dirty="0">
                <a:solidFill>
                  <a:srgbClr val="2D7040"/>
                </a:solidFill>
                <a:latin typeface="Aptos"/>
                <a:ea typeface="Aptos"/>
                <a:cs typeface="Aptos"/>
              </a:rPr>
              <a:t> </a:t>
            </a:r>
            <a:r>
              <a:rPr lang="en-NZ" sz="1100" b="1" dirty="0">
                <a:solidFill>
                  <a:srgbClr val="2D7040"/>
                </a:solidFill>
                <a:latin typeface="Aptos"/>
                <a:ea typeface="Aptos"/>
                <a:cs typeface="Aptos"/>
              </a:rPr>
              <a:t>– Stakeholder solution</a:t>
            </a:r>
            <a:r>
              <a:rPr sz="1100" b="1" dirty="0">
                <a:solidFill>
                  <a:srgbClr val="2D7040"/>
                </a:solidFill>
                <a:latin typeface="Aptos"/>
                <a:ea typeface="Aptos"/>
                <a:cs typeface="Aptos"/>
              </a:rPr>
              <a:t> </a:t>
            </a:r>
          </a:p>
        </p:txBody>
      </p:sp>
    </p:spTree>
    <p:extLst>
      <p:ext uri="{BB962C8B-B14F-4D97-AF65-F5344CB8AC3E}">
        <p14:creationId xmlns:p14="http://schemas.microsoft.com/office/powerpoint/2010/main" val="962771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8F4"/>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23F905D-6350-4295-A87E-BE20E1172A78}"/>
              </a:ext>
            </a:extLst>
          </p:cNvPr>
          <p:cNvSpPr>
            <a:spLocks noGrp="1"/>
          </p:cNvSpPr>
          <p:nvPr/>
        </p:nvSpPr>
        <p:spPr>
          <a:xfrm>
            <a:off x="0" y="0"/>
            <a:ext cx="105156" cy="6858000"/>
          </a:xfrm>
          <a:prstGeom prst="rect">
            <a:avLst/>
          </a:prstGeom>
          <a:solidFill>
            <a:srgbClr val="2D7040"/>
          </a:solidFill>
          <a:ln w="12700">
            <a:solidFill>
              <a:srgbClr val="2D7040">
                <a:alpha val="0"/>
              </a:srgbClr>
            </a:solidFill>
            <a:prstDash val="solid"/>
          </a:ln>
        </p:spPr>
        <p:txBody>
          <a:bodyPr/>
          <a:lstStyle/>
          <a:p>
            <a:endParaRPr/>
          </a:p>
        </p:txBody>
      </p:sp>
      <p:sp>
        <p:nvSpPr>
          <p:cNvPr id="4" name="Text 2">
            <a:extLst>
              <a:ext uri="{FF2B5EF4-FFF2-40B4-BE49-F238E27FC236}">
                <a16:creationId xmlns:a16="http://schemas.microsoft.com/office/drawing/2014/main" id="{3CFE276A-124C-45F1-862E-3B7FB6F4E6E0}"/>
              </a:ext>
            </a:extLst>
          </p:cNvPr>
          <p:cNvSpPr>
            <a:spLocks noGrp="1"/>
          </p:cNvSpPr>
          <p:nvPr/>
        </p:nvSpPr>
        <p:spPr>
          <a:xfrm>
            <a:off x="658368" y="758952"/>
            <a:ext cx="10698480" cy="502920"/>
          </a:xfrm>
          <a:prstGeom prst="rect">
            <a:avLst/>
          </a:prstGeom>
          <a:noFill/>
        </p:spPr>
        <p:txBody>
          <a:bodyPr wrap="square" lIns="0" tIns="0" rIns="0" bIns="0" anchor="ctr">
            <a:normAutofit/>
          </a:bodyPr>
          <a:lstStyle/>
          <a:p>
            <a:pPr marL="0" indent="0">
              <a:buNone/>
            </a:pPr>
            <a:r>
              <a:rPr sz="3000" b="1">
                <a:solidFill>
                  <a:srgbClr val="193F2A"/>
                </a:solidFill>
                <a:latin typeface="Aptos"/>
                <a:ea typeface="Aptos"/>
                <a:cs typeface="Aptos"/>
              </a:rPr>
              <a:t>From first visit to grazing plan</a:t>
            </a:r>
            <a:endParaRPr sz="3000"/>
          </a:p>
        </p:txBody>
      </p:sp>
      <p:sp>
        <p:nvSpPr>
          <p:cNvPr id="5" name="Text 3">
            <a:extLst>
              <a:ext uri="{FF2B5EF4-FFF2-40B4-BE49-F238E27FC236}">
                <a16:creationId xmlns:a16="http://schemas.microsoft.com/office/drawing/2014/main" id="{5A64D4BB-0111-4CFA-9A60-75A219B7B1A6}"/>
              </a:ext>
            </a:extLst>
          </p:cNvPr>
          <p:cNvSpPr>
            <a:spLocks noGrp="1"/>
          </p:cNvSpPr>
          <p:nvPr/>
        </p:nvSpPr>
        <p:spPr>
          <a:xfrm>
            <a:off x="676656" y="1298448"/>
            <a:ext cx="10424160" cy="292608"/>
          </a:xfrm>
          <a:prstGeom prst="rect">
            <a:avLst/>
          </a:prstGeom>
          <a:noFill/>
        </p:spPr>
        <p:txBody>
          <a:bodyPr wrap="square" lIns="0" tIns="0" rIns="0" bIns="0" anchor="t">
            <a:noAutofit/>
          </a:bodyPr>
          <a:lstStyle>
            <a:defPPr algn="l">
              <a:defRPr sz="1400" b="0">
                <a:solidFill>
                  <a:srgbClr val="62736A"/>
                </a:solidFill>
                <a:latin typeface="Aptos"/>
                <a:ea typeface="Aptos"/>
                <a:cs typeface="Aptos"/>
              </a:defRPr>
            </a:defPPr>
          </a:lstStyle>
          <a:p>
            <a:pPr marL="0" indent="0" algn="l">
              <a:buNone/>
              <a:defRPr sz="1400" b="0">
                <a:solidFill>
                  <a:srgbClr val="62736A"/>
                </a:solidFill>
                <a:latin typeface="Aptos"/>
                <a:ea typeface="Aptos"/>
                <a:cs typeface="Aptos"/>
              </a:defRPr>
            </a:pPr>
            <a:r>
              <a:rPr sz="1400" b="0">
                <a:solidFill>
                  <a:srgbClr val="62736A"/>
                </a:solidFill>
                <a:latin typeface="Aptos"/>
                <a:ea typeface="Aptos"/>
                <a:cs typeface="Aptos"/>
              </a:rPr>
              <a:t>The farmer journey, from account setup to the daily plan</a:t>
            </a:r>
            <a:endParaRPr sz="1400"/>
          </a:p>
        </p:txBody>
      </p:sp>
      <p:sp>
        <p:nvSpPr>
          <p:cNvPr id="6" name="Text 4">
            <a:extLst>
              <a:ext uri="{FF2B5EF4-FFF2-40B4-BE49-F238E27FC236}">
                <a16:creationId xmlns:a16="http://schemas.microsoft.com/office/drawing/2014/main" id="{2DF65CAD-2BC2-46CB-9FCA-F2331EDDAC6B}"/>
              </a:ext>
            </a:extLst>
          </p:cNvPr>
          <p:cNvSpPr>
            <a:spLocks noGrp="1"/>
          </p:cNvSpPr>
          <p:nvPr/>
        </p:nvSpPr>
        <p:spPr>
          <a:xfrm>
            <a:off x="10561320" y="338328"/>
            <a:ext cx="1005840" cy="274320"/>
          </a:xfrm>
          <a:prstGeom prst="rect">
            <a:avLst/>
          </a:prstGeom>
          <a:noFill/>
        </p:spPr>
        <p:txBody>
          <a:bodyPr wrap="square" lIns="0" tIns="0" rIns="0" bIns="0" anchor="ctr">
            <a:normAutofit/>
          </a:bodyPr>
          <a:lstStyle/>
          <a:p>
            <a:pPr marL="0" indent="0" algn="r">
              <a:buNone/>
            </a:pPr>
            <a:r>
              <a:rPr sz="1400" b="1" dirty="0">
                <a:solidFill>
                  <a:srgbClr val="193F2A"/>
                </a:solidFill>
                <a:latin typeface="Aptos"/>
                <a:ea typeface="Aptos"/>
                <a:cs typeface="Aptos"/>
              </a:rPr>
              <a:t>FeedBoard</a:t>
            </a:r>
            <a:endParaRPr sz="1400" dirty="0"/>
          </a:p>
        </p:txBody>
      </p:sp>
      <p:sp>
        <p:nvSpPr>
          <p:cNvPr id="7" name="Shape 5">
            <a:extLst>
              <a:ext uri="{FF2B5EF4-FFF2-40B4-BE49-F238E27FC236}">
                <a16:creationId xmlns:a16="http://schemas.microsoft.com/office/drawing/2014/main" id="{326E62A5-49B7-4EC1-808D-53F5C280E246}"/>
              </a:ext>
            </a:extLst>
          </p:cNvPr>
          <p:cNvSpPr>
            <a:spLocks noGrp="1"/>
          </p:cNvSpPr>
          <p:nvPr/>
        </p:nvSpPr>
        <p:spPr>
          <a:xfrm>
            <a:off x="658368" y="6492240"/>
            <a:ext cx="10844784" cy="0"/>
          </a:xfrm>
          <a:prstGeom prst="line">
            <a:avLst/>
          </a:prstGeom>
          <a:noFill/>
          <a:ln w="11430">
            <a:solidFill>
              <a:srgbClr val="D9E2D9"/>
            </a:solidFill>
            <a:prstDash val="solid"/>
          </a:ln>
        </p:spPr>
        <p:txBody>
          <a:bodyPr/>
          <a:lstStyle/>
          <a:p>
            <a:endParaRPr/>
          </a:p>
        </p:txBody>
      </p:sp>
      <p:sp>
        <p:nvSpPr>
          <p:cNvPr id="8" name="Text 6">
            <a:extLst>
              <a:ext uri="{FF2B5EF4-FFF2-40B4-BE49-F238E27FC236}">
                <a16:creationId xmlns:a16="http://schemas.microsoft.com/office/drawing/2014/main" id="{C491EF01-DBB0-4542-8D2E-22F2E3E5EA80}"/>
              </a:ext>
            </a:extLst>
          </p:cNvPr>
          <p:cNvSpPr>
            <a:spLocks noGrp="1"/>
          </p:cNvSpPr>
          <p:nvPr/>
        </p:nvSpPr>
        <p:spPr>
          <a:xfrm>
            <a:off x="667512" y="6556248"/>
            <a:ext cx="4114800" cy="155448"/>
          </a:xfrm>
          <a:prstGeom prst="rect">
            <a:avLst/>
          </a:prstGeom>
          <a:noFill/>
        </p:spPr>
        <p:txBody>
          <a:bodyPr wrap="square" lIns="0" tIns="0" rIns="0" bIns="0" anchor="ctr">
            <a:normAutofit/>
          </a:bodyPr>
          <a:lstStyle/>
          <a:p>
            <a:pPr marL="0" indent="0">
              <a:buNone/>
            </a:pPr>
            <a:r>
              <a:rPr sz="900" b="1" spc="60">
                <a:solidFill>
                  <a:srgbClr val="62736A"/>
                </a:solidFill>
                <a:latin typeface="Aptos"/>
                <a:ea typeface="Aptos"/>
                <a:cs typeface="Aptos"/>
              </a:rPr>
              <a:t>GRAZING + FEED PLANNING</a:t>
            </a:r>
            <a:endParaRPr sz="900"/>
          </a:p>
        </p:txBody>
      </p:sp>
      <p:sp>
        <p:nvSpPr>
          <p:cNvPr id="9" name="Text 7">
            <a:extLst>
              <a:ext uri="{FF2B5EF4-FFF2-40B4-BE49-F238E27FC236}">
                <a16:creationId xmlns:a16="http://schemas.microsoft.com/office/drawing/2014/main" id="{8F002B0A-A1FF-4F70-A2A6-31652D5F8358}"/>
              </a:ext>
            </a:extLst>
          </p:cNvPr>
          <p:cNvSpPr>
            <a:spLocks noGrp="1"/>
          </p:cNvSpPr>
          <p:nvPr/>
        </p:nvSpPr>
        <p:spPr>
          <a:xfrm>
            <a:off x="10789920" y="6528816"/>
            <a:ext cx="676656" cy="201168"/>
          </a:xfrm>
          <a:prstGeom prst="rect">
            <a:avLst/>
          </a:prstGeom>
          <a:noFill/>
        </p:spPr>
        <p:txBody>
          <a:bodyPr wrap="square" lIns="0" tIns="0" rIns="0" bIns="0" anchor="ctr">
            <a:normAutofit/>
          </a:bodyPr>
          <a:lstStyle/>
          <a:p>
            <a:pPr marL="0" indent="0" algn="r">
              <a:buNone/>
            </a:pPr>
            <a:endParaRPr sz="1000"/>
          </a:p>
        </p:txBody>
      </p:sp>
      <p:sp>
        <p:nvSpPr>
          <p:cNvPr id="10" name="Shape 8">
            <a:extLst>
              <a:ext uri="{FF2B5EF4-FFF2-40B4-BE49-F238E27FC236}">
                <a16:creationId xmlns:a16="http://schemas.microsoft.com/office/drawing/2014/main" id="{A9A0A561-6860-461A-8619-797368E7215F}"/>
              </a:ext>
            </a:extLst>
          </p:cNvPr>
          <p:cNvSpPr>
            <a:spLocks noGrp="1"/>
          </p:cNvSpPr>
          <p:nvPr/>
        </p:nvSpPr>
        <p:spPr>
          <a:xfrm>
            <a:off x="731520" y="1755648"/>
            <a:ext cx="1920240" cy="1014984"/>
          </a:xfrm>
          <a:prstGeom prst="roundRect">
            <a:avLst>
              <a:gd name="adj" fmla="val 10811"/>
            </a:avLst>
          </a:prstGeom>
          <a:solidFill>
            <a:srgbClr val="FFFFFF"/>
          </a:solidFill>
          <a:ln w="8890">
            <a:solidFill>
              <a:srgbClr val="D9E2D9"/>
            </a:solidFill>
            <a:prstDash val="solid"/>
          </a:ln>
        </p:spPr>
        <p:txBody>
          <a:bodyPr/>
          <a:lstStyle/>
          <a:p>
            <a:endParaRPr/>
          </a:p>
        </p:txBody>
      </p:sp>
      <p:sp>
        <p:nvSpPr>
          <p:cNvPr id="11" name="Text 9">
            <a:extLst>
              <a:ext uri="{FF2B5EF4-FFF2-40B4-BE49-F238E27FC236}">
                <a16:creationId xmlns:a16="http://schemas.microsoft.com/office/drawing/2014/main" id="{E895C381-4327-4F6B-A379-9C401081DA32}"/>
              </a:ext>
            </a:extLst>
          </p:cNvPr>
          <p:cNvSpPr>
            <a:spLocks noGrp="1"/>
          </p:cNvSpPr>
          <p:nvPr/>
        </p:nvSpPr>
        <p:spPr>
          <a:xfrm>
            <a:off x="795528" y="1929384"/>
            <a:ext cx="1792224" cy="301752"/>
          </a:xfrm>
          <a:prstGeom prst="rect">
            <a:avLst/>
          </a:prstGeom>
          <a:noFill/>
        </p:spPr>
        <p:txBody>
          <a:bodyPr wrap="square" lIns="0" tIns="0" rIns="0" bIns="0" anchor="ctr">
            <a:normAutofit/>
          </a:bodyPr>
          <a:lstStyle/>
          <a:p>
            <a:pPr marL="0" indent="0" algn="ctr">
              <a:buNone/>
            </a:pPr>
            <a:r>
              <a:rPr sz="1800" b="1">
                <a:solidFill>
                  <a:srgbClr val="193F2A"/>
                </a:solidFill>
                <a:latin typeface="Aptos"/>
                <a:ea typeface="Aptos"/>
                <a:cs typeface="Aptos"/>
              </a:rPr>
              <a:t>Welcome</a:t>
            </a:r>
            <a:endParaRPr sz="1800"/>
          </a:p>
        </p:txBody>
      </p:sp>
      <p:sp>
        <p:nvSpPr>
          <p:cNvPr id="12" name="Text 10">
            <a:extLst>
              <a:ext uri="{FF2B5EF4-FFF2-40B4-BE49-F238E27FC236}">
                <a16:creationId xmlns:a16="http://schemas.microsoft.com/office/drawing/2014/main" id="{E0EB7BE7-B5DD-4E1C-A708-D6607F92673B}"/>
              </a:ext>
            </a:extLst>
          </p:cNvPr>
          <p:cNvSpPr>
            <a:spLocks noGrp="1"/>
          </p:cNvSpPr>
          <p:nvPr/>
        </p:nvSpPr>
        <p:spPr>
          <a:xfrm>
            <a:off x="795528" y="2313432"/>
            <a:ext cx="1792224" cy="228600"/>
          </a:xfrm>
          <a:prstGeom prst="rect">
            <a:avLst/>
          </a:prstGeom>
          <a:noFill/>
        </p:spPr>
        <p:txBody>
          <a:bodyPr wrap="square" lIns="0" tIns="0" rIns="0" bIns="0" anchor="ctr">
            <a:normAutofit/>
          </a:bodyPr>
          <a:lstStyle/>
          <a:p>
            <a:pPr marL="0" indent="0" algn="ctr">
              <a:buNone/>
            </a:pPr>
            <a:r>
              <a:rPr sz="1200">
                <a:solidFill>
                  <a:srgbClr val="62736A"/>
                </a:solidFill>
                <a:latin typeface="Aptos"/>
                <a:ea typeface="Aptos"/>
                <a:cs typeface="Aptos"/>
              </a:rPr>
              <a:t>Start</a:t>
            </a:r>
            <a:endParaRPr sz="1200"/>
          </a:p>
        </p:txBody>
      </p:sp>
      <p:sp>
        <p:nvSpPr>
          <p:cNvPr id="13" name="Text 11">
            <a:extLst>
              <a:ext uri="{FF2B5EF4-FFF2-40B4-BE49-F238E27FC236}">
                <a16:creationId xmlns:a16="http://schemas.microsoft.com/office/drawing/2014/main" id="{7745E0BE-2ED6-47AB-BE69-0F28418FB641}"/>
              </a:ext>
            </a:extLst>
          </p:cNvPr>
          <p:cNvSpPr>
            <a:spLocks noGrp="1"/>
          </p:cNvSpPr>
          <p:nvPr/>
        </p:nvSpPr>
        <p:spPr>
          <a:xfrm>
            <a:off x="2715768" y="2048256"/>
            <a:ext cx="310896" cy="365760"/>
          </a:xfrm>
          <a:prstGeom prst="rect">
            <a:avLst/>
          </a:prstGeom>
          <a:noFill/>
        </p:spPr>
        <p:txBody>
          <a:bodyPr wrap="square" lIns="0" tIns="0" rIns="0" bIns="0" anchor="ctr">
            <a:normAutofit/>
          </a:bodyPr>
          <a:lstStyle/>
          <a:p>
            <a:pPr marL="0" indent="0" algn="ctr">
              <a:buNone/>
            </a:pPr>
            <a:r>
              <a:rPr sz="2400" b="1">
                <a:solidFill>
                  <a:srgbClr val="2D7040"/>
                </a:solidFill>
                <a:latin typeface="Aptos"/>
                <a:ea typeface="Aptos"/>
                <a:cs typeface="Aptos"/>
              </a:rPr>
              <a:t>→</a:t>
            </a:r>
            <a:endParaRPr sz="2400"/>
          </a:p>
        </p:txBody>
      </p:sp>
      <p:sp>
        <p:nvSpPr>
          <p:cNvPr id="14" name="Shape 12">
            <a:extLst>
              <a:ext uri="{FF2B5EF4-FFF2-40B4-BE49-F238E27FC236}">
                <a16:creationId xmlns:a16="http://schemas.microsoft.com/office/drawing/2014/main" id="{508B893E-F698-4362-9D4A-8891D761A09F}"/>
              </a:ext>
            </a:extLst>
          </p:cNvPr>
          <p:cNvSpPr>
            <a:spLocks noGrp="1"/>
          </p:cNvSpPr>
          <p:nvPr/>
        </p:nvSpPr>
        <p:spPr>
          <a:xfrm>
            <a:off x="3035808" y="1755648"/>
            <a:ext cx="1920240" cy="1014984"/>
          </a:xfrm>
          <a:prstGeom prst="roundRect">
            <a:avLst>
              <a:gd name="adj" fmla="val 10811"/>
            </a:avLst>
          </a:prstGeom>
          <a:solidFill>
            <a:srgbClr val="FFFFFF"/>
          </a:solidFill>
          <a:ln w="8890">
            <a:solidFill>
              <a:srgbClr val="D9E2D9"/>
            </a:solidFill>
            <a:prstDash val="solid"/>
          </a:ln>
        </p:spPr>
        <p:txBody>
          <a:bodyPr/>
          <a:lstStyle/>
          <a:p>
            <a:endParaRPr/>
          </a:p>
        </p:txBody>
      </p:sp>
      <p:sp>
        <p:nvSpPr>
          <p:cNvPr id="15" name="Text 13">
            <a:extLst>
              <a:ext uri="{FF2B5EF4-FFF2-40B4-BE49-F238E27FC236}">
                <a16:creationId xmlns:a16="http://schemas.microsoft.com/office/drawing/2014/main" id="{743D7422-D5F1-4ECA-8D8C-B4B3BE6BA5E7}"/>
              </a:ext>
            </a:extLst>
          </p:cNvPr>
          <p:cNvSpPr>
            <a:spLocks noGrp="1"/>
          </p:cNvSpPr>
          <p:nvPr/>
        </p:nvSpPr>
        <p:spPr>
          <a:xfrm>
            <a:off x="3099816" y="1929384"/>
            <a:ext cx="1792224" cy="301752"/>
          </a:xfrm>
          <a:prstGeom prst="rect">
            <a:avLst/>
          </a:prstGeom>
          <a:noFill/>
        </p:spPr>
        <p:txBody>
          <a:bodyPr wrap="square" lIns="0" tIns="0" rIns="0" bIns="0" anchor="ctr">
            <a:normAutofit/>
          </a:bodyPr>
          <a:lstStyle/>
          <a:p>
            <a:pPr marL="0" indent="0" algn="ctr">
              <a:buNone/>
            </a:pPr>
            <a:r>
              <a:rPr sz="1800" b="1">
                <a:solidFill>
                  <a:srgbClr val="193F2A"/>
                </a:solidFill>
                <a:latin typeface="Aptos"/>
                <a:ea typeface="Aptos"/>
                <a:cs typeface="Aptos"/>
              </a:rPr>
              <a:t>Account</a:t>
            </a:r>
            <a:endParaRPr sz="1800"/>
          </a:p>
        </p:txBody>
      </p:sp>
      <p:sp>
        <p:nvSpPr>
          <p:cNvPr id="16" name="Text 14">
            <a:extLst>
              <a:ext uri="{FF2B5EF4-FFF2-40B4-BE49-F238E27FC236}">
                <a16:creationId xmlns:a16="http://schemas.microsoft.com/office/drawing/2014/main" id="{908231AF-F758-4CEC-880C-3887D6107CFF}"/>
              </a:ext>
            </a:extLst>
          </p:cNvPr>
          <p:cNvSpPr>
            <a:spLocks noGrp="1"/>
          </p:cNvSpPr>
          <p:nvPr/>
        </p:nvSpPr>
        <p:spPr>
          <a:xfrm>
            <a:off x="3099816" y="2313432"/>
            <a:ext cx="1792224" cy="228600"/>
          </a:xfrm>
          <a:prstGeom prst="rect">
            <a:avLst/>
          </a:prstGeom>
          <a:noFill/>
        </p:spPr>
        <p:txBody>
          <a:bodyPr wrap="square" lIns="0" tIns="0" rIns="0" bIns="0" anchor="ctr">
            <a:normAutofit/>
          </a:bodyPr>
          <a:lstStyle/>
          <a:p>
            <a:pPr marL="0" indent="0" algn="ctr">
              <a:buNone/>
            </a:pPr>
            <a:r>
              <a:rPr sz="1200">
                <a:solidFill>
                  <a:srgbClr val="62736A"/>
                </a:solidFill>
                <a:latin typeface="Aptos"/>
                <a:ea typeface="Aptos"/>
                <a:cs typeface="Aptos"/>
              </a:rPr>
              <a:t>Sign in</a:t>
            </a:r>
            <a:endParaRPr sz="1200"/>
          </a:p>
        </p:txBody>
      </p:sp>
      <p:sp>
        <p:nvSpPr>
          <p:cNvPr id="17" name="Text 15">
            <a:extLst>
              <a:ext uri="{FF2B5EF4-FFF2-40B4-BE49-F238E27FC236}">
                <a16:creationId xmlns:a16="http://schemas.microsoft.com/office/drawing/2014/main" id="{64E07ACE-CEF4-41CC-8996-9696149D08D4}"/>
              </a:ext>
            </a:extLst>
          </p:cNvPr>
          <p:cNvSpPr>
            <a:spLocks noGrp="1"/>
          </p:cNvSpPr>
          <p:nvPr/>
        </p:nvSpPr>
        <p:spPr>
          <a:xfrm>
            <a:off x="5020056" y="2048256"/>
            <a:ext cx="310896" cy="365760"/>
          </a:xfrm>
          <a:prstGeom prst="rect">
            <a:avLst/>
          </a:prstGeom>
          <a:noFill/>
        </p:spPr>
        <p:txBody>
          <a:bodyPr wrap="square" lIns="0" tIns="0" rIns="0" bIns="0" anchor="ctr">
            <a:normAutofit/>
          </a:bodyPr>
          <a:lstStyle/>
          <a:p>
            <a:pPr marL="0" indent="0" algn="ctr">
              <a:buNone/>
            </a:pPr>
            <a:r>
              <a:rPr sz="2400" b="1">
                <a:solidFill>
                  <a:srgbClr val="2D7040"/>
                </a:solidFill>
                <a:latin typeface="Aptos"/>
                <a:ea typeface="Aptos"/>
                <a:cs typeface="Aptos"/>
              </a:rPr>
              <a:t>→</a:t>
            </a:r>
            <a:endParaRPr sz="2400"/>
          </a:p>
        </p:txBody>
      </p:sp>
      <p:sp>
        <p:nvSpPr>
          <p:cNvPr id="18" name="Shape 16">
            <a:extLst>
              <a:ext uri="{FF2B5EF4-FFF2-40B4-BE49-F238E27FC236}">
                <a16:creationId xmlns:a16="http://schemas.microsoft.com/office/drawing/2014/main" id="{A67980A7-6A18-456A-8F21-153CB08E59B7}"/>
              </a:ext>
            </a:extLst>
          </p:cNvPr>
          <p:cNvSpPr>
            <a:spLocks noGrp="1"/>
          </p:cNvSpPr>
          <p:nvPr/>
        </p:nvSpPr>
        <p:spPr>
          <a:xfrm>
            <a:off x="5340096" y="1755648"/>
            <a:ext cx="1920240" cy="1014984"/>
          </a:xfrm>
          <a:prstGeom prst="roundRect">
            <a:avLst>
              <a:gd name="adj" fmla="val 10811"/>
            </a:avLst>
          </a:prstGeom>
          <a:solidFill>
            <a:srgbClr val="FFFFFF"/>
          </a:solidFill>
          <a:ln w="8890">
            <a:solidFill>
              <a:srgbClr val="D9E2D9"/>
            </a:solidFill>
            <a:prstDash val="solid"/>
          </a:ln>
        </p:spPr>
        <p:txBody>
          <a:bodyPr/>
          <a:lstStyle/>
          <a:p>
            <a:endParaRPr/>
          </a:p>
        </p:txBody>
      </p:sp>
      <p:sp>
        <p:nvSpPr>
          <p:cNvPr id="19" name="Text 17">
            <a:extLst>
              <a:ext uri="{FF2B5EF4-FFF2-40B4-BE49-F238E27FC236}">
                <a16:creationId xmlns:a16="http://schemas.microsoft.com/office/drawing/2014/main" id="{8941EFBC-83EA-4DE9-9357-40A575F12675}"/>
              </a:ext>
            </a:extLst>
          </p:cNvPr>
          <p:cNvSpPr>
            <a:spLocks noGrp="1"/>
          </p:cNvSpPr>
          <p:nvPr/>
        </p:nvSpPr>
        <p:spPr>
          <a:xfrm>
            <a:off x="5404104" y="1929384"/>
            <a:ext cx="1792224" cy="301752"/>
          </a:xfrm>
          <a:prstGeom prst="rect">
            <a:avLst/>
          </a:prstGeom>
          <a:noFill/>
        </p:spPr>
        <p:txBody>
          <a:bodyPr wrap="square" lIns="0" tIns="0" rIns="0" bIns="0" anchor="ctr">
            <a:normAutofit/>
          </a:bodyPr>
          <a:lstStyle/>
          <a:p>
            <a:pPr marL="0" indent="0" algn="ctr">
              <a:buNone/>
            </a:pPr>
            <a:r>
              <a:rPr sz="1800" b="1">
                <a:solidFill>
                  <a:srgbClr val="193F2A"/>
                </a:solidFill>
                <a:latin typeface="Aptos"/>
                <a:ea typeface="Aptos"/>
                <a:cs typeface="Aptos"/>
              </a:rPr>
              <a:t>Farm setup</a:t>
            </a:r>
            <a:endParaRPr sz="1800"/>
          </a:p>
        </p:txBody>
      </p:sp>
      <p:sp>
        <p:nvSpPr>
          <p:cNvPr id="20" name="Text 18">
            <a:extLst>
              <a:ext uri="{FF2B5EF4-FFF2-40B4-BE49-F238E27FC236}">
                <a16:creationId xmlns:a16="http://schemas.microsoft.com/office/drawing/2014/main" id="{FA73F733-F87F-4A7A-BBEF-66B024550E4B}"/>
              </a:ext>
            </a:extLst>
          </p:cNvPr>
          <p:cNvSpPr>
            <a:spLocks noGrp="1"/>
          </p:cNvSpPr>
          <p:nvPr/>
        </p:nvSpPr>
        <p:spPr>
          <a:xfrm>
            <a:off x="5404104" y="2313432"/>
            <a:ext cx="1792224" cy="228600"/>
          </a:xfrm>
          <a:prstGeom prst="rect">
            <a:avLst/>
          </a:prstGeom>
          <a:noFill/>
        </p:spPr>
        <p:txBody>
          <a:bodyPr wrap="square" lIns="0" tIns="0" rIns="0" bIns="0" anchor="ctr">
            <a:normAutofit/>
          </a:bodyPr>
          <a:lstStyle/>
          <a:p>
            <a:pPr marL="0" indent="0" algn="ctr">
              <a:buNone/>
            </a:pPr>
            <a:r>
              <a:rPr sz="1200">
                <a:solidFill>
                  <a:srgbClr val="62736A"/>
                </a:solidFill>
                <a:latin typeface="Aptos"/>
                <a:ea typeface="Aptos"/>
                <a:cs typeface="Aptos"/>
              </a:rPr>
              <a:t>Enter details</a:t>
            </a:r>
            <a:endParaRPr sz="1200"/>
          </a:p>
        </p:txBody>
      </p:sp>
      <p:sp>
        <p:nvSpPr>
          <p:cNvPr id="21" name="Text 19">
            <a:extLst>
              <a:ext uri="{FF2B5EF4-FFF2-40B4-BE49-F238E27FC236}">
                <a16:creationId xmlns:a16="http://schemas.microsoft.com/office/drawing/2014/main" id="{9E96B62A-A7C6-4E8D-B582-3404F4BDBBF6}"/>
              </a:ext>
            </a:extLst>
          </p:cNvPr>
          <p:cNvSpPr>
            <a:spLocks noGrp="1"/>
          </p:cNvSpPr>
          <p:nvPr/>
        </p:nvSpPr>
        <p:spPr>
          <a:xfrm>
            <a:off x="7324344" y="2048256"/>
            <a:ext cx="310896" cy="365760"/>
          </a:xfrm>
          <a:prstGeom prst="rect">
            <a:avLst/>
          </a:prstGeom>
          <a:noFill/>
        </p:spPr>
        <p:txBody>
          <a:bodyPr wrap="square" lIns="0" tIns="0" rIns="0" bIns="0" anchor="ctr">
            <a:normAutofit/>
          </a:bodyPr>
          <a:lstStyle/>
          <a:p>
            <a:pPr marL="0" indent="0" algn="ctr">
              <a:buNone/>
            </a:pPr>
            <a:r>
              <a:rPr sz="2400" b="1">
                <a:solidFill>
                  <a:srgbClr val="2D7040"/>
                </a:solidFill>
                <a:latin typeface="Aptos"/>
                <a:ea typeface="Aptos"/>
                <a:cs typeface="Aptos"/>
              </a:rPr>
              <a:t>→</a:t>
            </a:r>
            <a:endParaRPr sz="2400"/>
          </a:p>
        </p:txBody>
      </p:sp>
      <p:sp>
        <p:nvSpPr>
          <p:cNvPr id="22" name="Shape 20">
            <a:extLst>
              <a:ext uri="{FF2B5EF4-FFF2-40B4-BE49-F238E27FC236}">
                <a16:creationId xmlns:a16="http://schemas.microsoft.com/office/drawing/2014/main" id="{7A78B207-9F5B-4C9D-B919-36DFF75C7F68}"/>
              </a:ext>
            </a:extLst>
          </p:cNvPr>
          <p:cNvSpPr>
            <a:spLocks noGrp="1"/>
          </p:cNvSpPr>
          <p:nvPr/>
        </p:nvSpPr>
        <p:spPr>
          <a:xfrm>
            <a:off x="7644384" y="1755648"/>
            <a:ext cx="1920240" cy="1014984"/>
          </a:xfrm>
          <a:prstGeom prst="roundRect">
            <a:avLst>
              <a:gd name="adj" fmla="val 10811"/>
            </a:avLst>
          </a:prstGeom>
          <a:solidFill>
            <a:srgbClr val="FFFFFF"/>
          </a:solidFill>
          <a:ln w="8890">
            <a:solidFill>
              <a:srgbClr val="D9E2D9"/>
            </a:solidFill>
            <a:prstDash val="solid"/>
          </a:ln>
        </p:spPr>
        <p:txBody>
          <a:bodyPr/>
          <a:lstStyle/>
          <a:p>
            <a:endParaRPr/>
          </a:p>
        </p:txBody>
      </p:sp>
      <p:sp>
        <p:nvSpPr>
          <p:cNvPr id="23" name="Text 21">
            <a:extLst>
              <a:ext uri="{FF2B5EF4-FFF2-40B4-BE49-F238E27FC236}">
                <a16:creationId xmlns:a16="http://schemas.microsoft.com/office/drawing/2014/main" id="{A1FB7C82-0A10-48D3-B4C4-E00B69ABD4FC}"/>
              </a:ext>
            </a:extLst>
          </p:cNvPr>
          <p:cNvSpPr>
            <a:spLocks noGrp="1"/>
          </p:cNvSpPr>
          <p:nvPr/>
        </p:nvSpPr>
        <p:spPr>
          <a:xfrm>
            <a:off x="7708392" y="1929384"/>
            <a:ext cx="1792224" cy="301752"/>
          </a:xfrm>
          <a:prstGeom prst="rect">
            <a:avLst/>
          </a:prstGeom>
          <a:noFill/>
        </p:spPr>
        <p:txBody>
          <a:bodyPr wrap="square" lIns="0" tIns="0" rIns="0" bIns="0" anchor="ctr">
            <a:normAutofit/>
          </a:bodyPr>
          <a:lstStyle/>
          <a:p>
            <a:pPr marL="0" indent="0" algn="ctr">
              <a:buNone/>
            </a:pPr>
            <a:r>
              <a:rPr sz="1800" b="1">
                <a:solidFill>
                  <a:srgbClr val="193F2A"/>
                </a:solidFill>
                <a:latin typeface="Aptos"/>
                <a:ea typeface="Aptos"/>
                <a:cs typeface="Aptos"/>
              </a:rPr>
              <a:t>Farm info</a:t>
            </a:r>
            <a:endParaRPr sz="1800"/>
          </a:p>
        </p:txBody>
      </p:sp>
      <p:sp>
        <p:nvSpPr>
          <p:cNvPr id="24" name="Text 22">
            <a:extLst>
              <a:ext uri="{FF2B5EF4-FFF2-40B4-BE49-F238E27FC236}">
                <a16:creationId xmlns:a16="http://schemas.microsoft.com/office/drawing/2014/main" id="{7CC6A4C8-15F7-484F-814E-34F4413990A1}"/>
              </a:ext>
            </a:extLst>
          </p:cNvPr>
          <p:cNvSpPr>
            <a:spLocks noGrp="1"/>
          </p:cNvSpPr>
          <p:nvPr/>
        </p:nvSpPr>
        <p:spPr>
          <a:xfrm>
            <a:off x="7708392" y="2313432"/>
            <a:ext cx="1792224" cy="228600"/>
          </a:xfrm>
          <a:prstGeom prst="rect">
            <a:avLst/>
          </a:prstGeom>
          <a:noFill/>
        </p:spPr>
        <p:txBody>
          <a:bodyPr wrap="square" lIns="0" tIns="0" rIns="0" bIns="0" anchor="ctr">
            <a:normAutofit/>
          </a:bodyPr>
          <a:lstStyle/>
          <a:p>
            <a:pPr marL="0" indent="0" algn="ctr">
              <a:buNone/>
            </a:pPr>
            <a:r>
              <a:rPr sz="1200">
                <a:solidFill>
                  <a:srgbClr val="62736A"/>
                </a:solidFill>
                <a:latin typeface="Aptos"/>
                <a:ea typeface="Aptos"/>
                <a:cs typeface="Aptos"/>
              </a:rPr>
              <a:t>Make changes</a:t>
            </a:r>
            <a:endParaRPr sz="1200"/>
          </a:p>
        </p:txBody>
      </p:sp>
      <p:sp>
        <p:nvSpPr>
          <p:cNvPr id="25" name="Text 23">
            <a:extLst>
              <a:ext uri="{FF2B5EF4-FFF2-40B4-BE49-F238E27FC236}">
                <a16:creationId xmlns:a16="http://schemas.microsoft.com/office/drawing/2014/main" id="{72996E46-4B89-4C22-A52C-32024BDE14C9}"/>
              </a:ext>
            </a:extLst>
          </p:cNvPr>
          <p:cNvSpPr>
            <a:spLocks noGrp="1"/>
          </p:cNvSpPr>
          <p:nvPr/>
        </p:nvSpPr>
        <p:spPr>
          <a:xfrm>
            <a:off x="9628632" y="2048256"/>
            <a:ext cx="310896" cy="365760"/>
          </a:xfrm>
          <a:prstGeom prst="rect">
            <a:avLst/>
          </a:prstGeom>
          <a:noFill/>
        </p:spPr>
        <p:txBody>
          <a:bodyPr wrap="square" lIns="0" tIns="0" rIns="0" bIns="0" anchor="ctr">
            <a:normAutofit/>
          </a:bodyPr>
          <a:lstStyle/>
          <a:p>
            <a:pPr marL="0" indent="0" algn="ctr">
              <a:buNone/>
            </a:pPr>
            <a:r>
              <a:rPr sz="2400" b="1">
                <a:solidFill>
                  <a:srgbClr val="2D7040"/>
                </a:solidFill>
                <a:latin typeface="Aptos"/>
                <a:ea typeface="Aptos"/>
                <a:cs typeface="Aptos"/>
              </a:rPr>
              <a:t>→</a:t>
            </a:r>
            <a:endParaRPr sz="2400"/>
          </a:p>
        </p:txBody>
      </p:sp>
      <p:sp>
        <p:nvSpPr>
          <p:cNvPr id="26" name="Shape 24">
            <a:extLst>
              <a:ext uri="{FF2B5EF4-FFF2-40B4-BE49-F238E27FC236}">
                <a16:creationId xmlns:a16="http://schemas.microsoft.com/office/drawing/2014/main" id="{69C0EC02-4D79-4019-A444-4B7883C3B2B5}"/>
              </a:ext>
            </a:extLst>
          </p:cNvPr>
          <p:cNvSpPr>
            <a:spLocks noGrp="1"/>
          </p:cNvSpPr>
          <p:nvPr/>
        </p:nvSpPr>
        <p:spPr>
          <a:xfrm>
            <a:off x="9948672" y="1755648"/>
            <a:ext cx="1920240" cy="1014984"/>
          </a:xfrm>
          <a:prstGeom prst="roundRect">
            <a:avLst>
              <a:gd name="adj" fmla="val 10811"/>
            </a:avLst>
          </a:prstGeom>
          <a:solidFill>
            <a:srgbClr val="E5ECDD"/>
          </a:solidFill>
          <a:ln w="8890">
            <a:solidFill>
              <a:srgbClr val="D9E2D9"/>
            </a:solidFill>
            <a:prstDash val="solid"/>
          </a:ln>
        </p:spPr>
        <p:txBody>
          <a:bodyPr/>
          <a:lstStyle/>
          <a:p>
            <a:endParaRPr/>
          </a:p>
        </p:txBody>
      </p:sp>
      <p:sp>
        <p:nvSpPr>
          <p:cNvPr id="27" name="Text 25">
            <a:extLst>
              <a:ext uri="{FF2B5EF4-FFF2-40B4-BE49-F238E27FC236}">
                <a16:creationId xmlns:a16="http://schemas.microsoft.com/office/drawing/2014/main" id="{42CFCE6C-2854-4967-BA92-1F0A4DA1FBFF}"/>
              </a:ext>
            </a:extLst>
          </p:cNvPr>
          <p:cNvSpPr>
            <a:spLocks noGrp="1"/>
          </p:cNvSpPr>
          <p:nvPr/>
        </p:nvSpPr>
        <p:spPr>
          <a:xfrm>
            <a:off x="10012680" y="1929384"/>
            <a:ext cx="1792224" cy="301752"/>
          </a:xfrm>
          <a:prstGeom prst="rect">
            <a:avLst/>
          </a:prstGeom>
          <a:noFill/>
        </p:spPr>
        <p:txBody>
          <a:bodyPr wrap="square" lIns="0" tIns="0" rIns="0" bIns="0" anchor="ctr">
            <a:normAutofit/>
          </a:bodyPr>
          <a:lstStyle/>
          <a:p>
            <a:pPr marL="0" indent="0" algn="ctr">
              <a:buNone/>
            </a:pPr>
            <a:r>
              <a:rPr sz="1800" b="1">
                <a:solidFill>
                  <a:srgbClr val="193F2A"/>
                </a:solidFill>
                <a:latin typeface="Aptos"/>
                <a:ea typeface="Aptos"/>
                <a:cs typeface="Aptos"/>
              </a:rPr>
              <a:t>Planner</a:t>
            </a:r>
            <a:endParaRPr sz="1800"/>
          </a:p>
        </p:txBody>
      </p:sp>
      <p:sp>
        <p:nvSpPr>
          <p:cNvPr id="28" name="Text 26">
            <a:extLst>
              <a:ext uri="{FF2B5EF4-FFF2-40B4-BE49-F238E27FC236}">
                <a16:creationId xmlns:a16="http://schemas.microsoft.com/office/drawing/2014/main" id="{382F7445-7FC7-4B42-80C4-B9972422CADB}"/>
              </a:ext>
            </a:extLst>
          </p:cNvPr>
          <p:cNvSpPr>
            <a:spLocks noGrp="1"/>
          </p:cNvSpPr>
          <p:nvPr/>
        </p:nvSpPr>
        <p:spPr>
          <a:xfrm>
            <a:off x="10012680" y="2313432"/>
            <a:ext cx="1792224" cy="228600"/>
          </a:xfrm>
          <a:prstGeom prst="rect">
            <a:avLst/>
          </a:prstGeom>
          <a:noFill/>
        </p:spPr>
        <p:txBody>
          <a:bodyPr wrap="square" lIns="0" tIns="0" rIns="0" bIns="0" anchor="ctr">
            <a:normAutofit/>
          </a:bodyPr>
          <a:lstStyle/>
          <a:p>
            <a:pPr marL="0" indent="0" algn="ctr">
              <a:buNone/>
            </a:pPr>
            <a:r>
              <a:rPr sz="1200">
                <a:solidFill>
                  <a:srgbClr val="62736A"/>
                </a:solidFill>
                <a:latin typeface="Aptos"/>
                <a:ea typeface="Aptos"/>
                <a:cs typeface="Aptos"/>
              </a:rPr>
              <a:t>See breaks</a:t>
            </a:r>
            <a:endParaRPr sz="1200"/>
          </a:p>
        </p:txBody>
      </p:sp>
      <p:sp>
        <p:nvSpPr>
          <p:cNvPr id="29" name="Shape 27">
            <a:extLst>
              <a:ext uri="{FF2B5EF4-FFF2-40B4-BE49-F238E27FC236}">
                <a16:creationId xmlns:a16="http://schemas.microsoft.com/office/drawing/2014/main" id="{0A03D4A8-30FA-44F6-A605-46851C82D667}"/>
              </a:ext>
            </a:extLst>
          </p:cNvPr>
          <p:cNvSpPr>
            <a:spLocks noGrp="1"/>
          </p:cNvSpPr>
          <p:nvPr/>
        </p:nvSpPr>
        <p:spPr>
          <a:xfrm>
            <a:off x="786384" y="3200400"/>
            <a:ext cx="3108960" cy="2487168"/>
          </a:xfrm>
          <a:prstGeom prst="roundRect">
            <a:avLst>
              <a:gd name="adj" fmla="val 4412"/>
            </a:avLst>
          </a:prstGeom>
          <a:solidFill>
            <a:srgbClr val="FFFFFF"/>
          </a:solidFill>
          <a:ln w="8890">
            <a:solidFill>
              <a:srgbClr val="D9E2D9"/>
            </a:solidFill>
            <a:prstDash val="solid"/>
          </a:ln>
        </p:spPr>
        <p:txBody>
          <a:bodyPr/>
          <a:lstStyle/>
          <a:p>
            <a:endParaRPr/>
          </a:p>
        </p:txBody>
      </p:sp>
      <p:pic>
        <p:nvPicPr>
          <p:cNvPr id="30" name="Image 0">
            <a:extLst>
              <a:ext uri="{FF2B5EF4-FFF2-40B4-BE49-F238E27FC236}">
                <a16:creationId xmlns:a16="http://schemas.microsoft.com/office/drawing/2014/main" id="{9971C4B2-0C68-4D7B-BC69-3072026B1644}"/>
              </a:ext>
            </a:extLst>
          </p:cNvPr>
          <p:cNvPicPr>
            <a:picLocks noChangeAspect="1"/>
          </p:cNvPicPr>
          <p:nvPr/>
        </p:nvPicPr>
        <p:blipFill>
          <a:blip r:embed="rId3"/>
          <a:stretch>
            <a:fillRect/>
          </a:stretch>
        </p:blipFill>
        <p:spPr>
          <a:xfrm>
            <a:off x="1356911" y="3264408"/>
            <a:ext cx="1967906" cy="2359152"/>
          </a:xfrm>
          <a:prstGeom prst="rect">
            <a:avLst/>
          </a:prstGeom>
        </p:spPr>
      </p:pic>
      <p:sp>
        <p:nvSpPr>
          <p:cNvPr id="31" name="Shape 28">
            <a:extLst>
              <a:ext uri="{FF2B5EF4-FFF2-40B4-BE49-F238E27FC236}">
                <a16:creationId xmlns:a16="http://schemas.microsoft.com/office/drawing/2014/main" id="{071EFF6D-092E-4E59-BC91-05D811FF1D63}"/>
              </a:ext>
            </a:extLst>
          </p:cNvPr>
          <p:cNvSpPr>
            <a:spLocks noGrp="1"/>
          </p:cNvSpPr>
          <p:nvPr/>
        </p:nvSpPr>
        <p:spPr>
          <a:xfrm>
            <a:off x="4507992" y="3200400"/>
            <a:ext cx="3163824" cy="2487168"/>
          </a:xfrm>
          <a:prstGeom prst="roundRect">
            <a:avLst>
              <a:gd name="adj" fmla="val 4412"/>
            </a:avLst>
          </a:prstGeom>
          <a:solidFill>
            <a:srgbClr val="FFFFFF"/>
          </a:solidFill>
          <a:ln w="8890">
            <a:solidFill>
              <a:srgbClr val="D9E2D9"/>
            </a:solidFill>
            <a:prstDash val="solid"/>
          </a:ln>
        </p:spPr>
        <p:txBody>
          <a:bodyPr/>
          <a:lstStyle/>
          <a:p>
            <a:endParaRPr/>
          </a:p>
        </p:txBody>
      </p:sp>
      <p:pic>
        <p:nvPicPr>
          <p:cNvPr id="32" name="Image 1">
            <a:extLst>
              <a:ext uri="{FF2B5EF4-FFF2-40B4-BE49-F238E27FC236}">
                <a16:creationId xmlns:a16="http://schemas.microsoft.com/office/drawing/2014/main" id="{F4B3EFFA-9F41-4B97-91D8-153EA4F7ECDF}"/>
              </a:ext>
            </a:extLst>
          </p:cNvPr>
          <p:cNvPicPr>
            <a:picLocks noChangeAspect="1"/>
          </p:cNvPicPr>
          <p:nvPr/>
        </p:nvPicPr>
        <p:blipFill>
          <a:blip r:embed="rId4"/>
          <a:stretch>
            <a:fillRect/>
          </a:stretch>
        </p:blipFill>
        <p:spPr>
          <a:xfrm>
            <a:off x="4734683" y="3264408"/>
            <a:ext cx="2710442" cy="2359152"/>
          </a:xfrm>
          <a:prstGeom prst="rect">
            <a:avLst/>
          </a:prstGeom>
        </p:spPr>
      </p:pic>
      <p:sp>
        <p:nvSpPr>
          <p:cNvPr id="33" name="Shape 29">
            <a:extLst>
              <a:ext uri="{FF2B5EF4-FFF2-40B4-BE49-F238E27FC236}">
                <a16:creationId xmlns:a16="http://schemas.microsoft.com/office/drawing/2014/main" id="{C6B3EC00-9181-475D-9BF4-CFE362085CAF}"/>
              </a:ext>
            </a:extLst>
          </p:cNvPr>
          <p:cNvSpPr>
            <a:spLocks noGrp="1"/>
          </p:cNvSpPr>
          <p:nvPr/>
        </p:nvSpPr>
        <p:spPr>
          <a:xfrm>
            <a:off x="8311896" y="3200400"/>
            <a:ext cx="3127248" cy="2487168"/>
          </a:xfrm>
          <a:prstGeom prst="roundRect">
            <a:avLst>
              <a:gd name="adj" fmla="val 4412"/>
            </a:avLst>
          </a:prstGeom>
          <a:solidFill>
            <a:srgbClr val="FFFFFF"/>
          </a:solidFill>
          <a:ln w="8890">
            <a:solidFill>
              <a:srgbClr val="D9E2D9"/>
            </a:solidFill>
            <a:prstDash val="solid"/>
          </a:ln>
        </p:spPr>
        <p:txBody>
          <a:bodyPr/>
          <a:lstStyle/>
          <a:p>
            <a:endParaRPr/>
          </a:p>
        </p:txBody>
      </p:sp>
      <p:pic>
        <p:nvPicPr>
          <p:cNvPr id="34" name="Image 2">
            <a:extLst>
              <a:ext uri="{FF2B5EF4-FFF2-40B4-BE49-F238E27FC236}">
                <a16:creationId xmlns:a16="http://schemas.microsoft.com/office/drawing/2014/main" id="{BF9FE276-EC6D-48B3-BBA1-8BFB8CF7EB4B}"/>
              </a:ext>
            </a:extLst>
          </p:cNvPr>
          <p:cNvPicPr>
            <a:picLocks noChangeAspect="1"/>
          </p:cNvPicPr>
          <p:nvPr/>
        </p:nvPicPr>
        <p:blipFill>
          <a:blip r:embed="rId5"/>
          <a:stretch>
            <a:fillRect/>
          </a:stretch>
        </p:blipFill>
        <p:spPr>
          <a:xfrm>
            <a:off x="8375904" y="3916600"/>
            <a:ext cx="2999232" cy="1054767"/>
          </a:xfrm>
          <a:prstGeom prst="rect">
            <a:avLst/>
          </a:prstGeom>
        </p:spPr>
      </p:pic>
      <p:sp>
        <p:nvSpPr>
          <p:cNvPr id="35" name="Text 30">
            <a:extLst>
              <a:ext uri="{FF2B5EF4-FFF2-40B4-BE49-F238E27FC236}">
                <a16:creationId xmlns:a16="http://schemas.microsoft.com/office/drawing/2014/main" id="{2D1C4528-D2B3-4116-8F8A-F7E22C5973AD}"/>
              </a:ext>
            </a:extLst>
          </p:cNvPr>
          <p:cNvSpPr>
            <a:spLocks noGrp="1"/>
          </p:cNvSpPr>
          <p:nvPr/>
        </p:nvSpPr>
        <p:spPr>
          <a:xfrm>
            <a:off x="786384" y="5806440"/>
            <a:ext cx="3108960" cy="228600"/>
          </a:xfrm>
          <a:prstGeom prst="rect">
            <a:avLst/>
          </a:prstGeom>
          <a:noFill/>
        </p:spPr>
        <p:txBody>
          <a:bodyPr wrap="square" lIns="0" tIns="0" rIns="0" bIns="0" anchor="ctr">
            <a:normAutofit/>
          </a:bodyPr>
          <a:lstStyle/>
          <a:p>
            <a:pPr marL="0" indent="0" algn="ctr">
              <a:buNone/>
            </a:pPr>
            <a:r>
              <a:rPr sz="1300">
                <a:solidFill>
                  <a:srgbClr val="62736A"/>
                </a:solidFill>
                <a:latin typeface="Aptos"/>
                <a:ea typeface="Aptos"/>
                <a:cs typeface="Aptos"/>
              </a:rPr>
              <a:t>Create account</a:t>
            </a:r>
            <a:endParaRPr sz="1300"/>
          </a:p>
        </p:txBody>
      </p:sp>
      <p:sp>
        <p:nvSpPr>
          <p:cNvPr id="36" name="Text 31">
            <a:extLst>
              <a:ext uri="{FF2B5EF4-FFF2-40B4-BE49-F238E27FC236}">
                <a16:creationId xmlns:a16="http://schemas.microsoft.com/office/drawing/2014/main" id="{AE1D2B85-9501-478B-83E1-1EAE36B76225}"/>
              </a:ext>
            </a:extLst>
          </p:cNvPr>
          <p:cNvSpPr>
            <a:spLocks noGrp="1"/>
          </p:cNvSpPr>
          <p:nvPr/>
        </p:nvSpPr>
        <p:spPr>
          <a:xfrm>
            <a:off x="4507992" y="5806440"/>
            <a:ext cx="3163824" cy="228600"/>
          </a:xfrm>
          <a:prstGeom prst="rect">
            <a:avLst/>
          </a:prstGeom>
          <a:noFill/>
        </p:spPr>
        <p:txBody>
          <a:bodyPr wrap="square" lIns="0" tIns="0" rIns="0" bIns="0" anchor="ctr">
            <a:normAutofit/>
          </a:bodyPr>
          <a:lstStyle/>
          <a:p>
            <a:pPr marL="0" indent="0" algn="ctr">
              <a:buNone/>
            </a:pPr>
            <a:r>
              <a:rPr sz="1300">
                <a:solidFill>
                  <a:srgbClr val="62736A"/>
                </a:solidFill>
                <a:latin typeface="Aptos"/>
                <a:ea typeface="Aptos"/>
                <a:cs typeface="Aptos"/>
              </a:rPr>
              <a:t>Set up farm</a:t>
            </a:r>
            <a:endParaRPr sz="1300"/>
          </a:p>
        </p:txBody>
      </p:sp>
      <p:sp>
        <p:nvSpPr>
          <p:cNvPr id="37" name="Text 32">
            <a:extLst>
              <a:ext uri="{FF2B5EF4-FFF2-40B4-BE49-F238E27FC236}">
                <a16:creationId xmlns:a16="http://schemas.microsoft.com/office/drawing/2014/main" id="{50F32482-8F60-4F26-8387-1E10154A8323}"/>
              </a:ext>
            </a:extLst>
          </p:cNvPr>
          <p:cNvSpPr>
            <a:spLocks noGrp="1"/>
          </p:cNvSpPr>
          <p:nvPr/>
        </p:nvSpPr>
        <p:spPr>
          <a:xfrm>
            <a:off x="8311896" y="5806440"/>
            <a:ext cx="3127248" cy="228600"/>
          </a:xfrm>
          <a:prstGeom prst="rect">
            <a:avLst/>
          </a:prstGeom>
          <a:noFill/>
        </p:spPr>
        <p:txBody>
          <a:bodyPr wrap="square" lIns="0" tIns="0" rIns="0" bIns="0" anchor="ctr">
            <a:normAutofit/>
          </a:bodyPr>
          <a:lstStyle/>
          <a:p>
            <a:pPr marL="0" indent="0" algn="ctr">
              <a:buNone/>
            </a:pPr>
            <a:r>
              <a:rPr sz="1300">
                <a:solidFill>
                  <a:srgbClr val="62736A"/>
                </a:solidFill>
                <a:latin typeface="Aptos"/>
                <a:ea typeface="Aptos"/>
                <a:cs typeface="Aptos"/>
              </a:rPr>
              <a:t>View grazing plan</a:t>
            </a:r>
            <a:endParaRPr sz="1300"/>
          </a:p>
        </p:txBody>
      </p:sp>
      <p:sp>
        <p:nvSpPr>
          <p:cNvPr id="38" name="section-label">
            <a:extLst>
              <a:ext uri="{FF2B5EF4-FFF2-40B4-BE49-F238E27FC236}">
                <a16:creationId xmlns:a16="http://schemas.microsoft.com/office/drawing/2014/main" id="{83D58EED-AD2B-46D3-9CAA-141AA97DDE83}"/>
              </a:ext>
            </a:extLst>
          </p:cNvPr>
          <p:cNvSpPr>
            <a:spLocks noGrp="1"/>
          </p:cNvSpPr>
          <p:nvPr/>
        </p:nvSpPr>
        <p:spPr>
          <a:xfrm>
            <a:off x="658368" y="342900"/>
            <a:ext cx="8382000" cy="228600"/>
          </a:xfrm>
          <a:prstGeom prst="rect">
            <a:avLst/>
          </a:prstGeom>
          <a:noFill/>
          <a:ln w="0">
            <a:noFill/>
          </a:ln>
        </p:spPr>
        <p:txBody>
          <a:bodyPr wrap="square" lIns="0" tIns="0" rIns="0" bIns="0" anchor="t">
            <a:noAutofit/>
          </a:bodyPr>
          <a:lstStyle>
            <a:defPPr algn="l">
              <a:defRPr sz="1100" b="1">
                <a:solidFill>
                  <a:srgbClr val="2D7040"/>
                </a:solidFill>
                <a:latin typeface="Aptos"/>
                <a:ea typeface="Aptos"/>
                <a:cs typeface="Aptos"/>
              </a:defRPr>
            </a:defPPr>
          </a:lstStyle>
          <a:p>
            <a:pPr algn="l">
              <a:defRPr sz="1100" b="1">
                <a:solidFill>
                  <a:srgbClr val="2D7040"/>
                </a:solidFill>
                <a:latin typeface="Aptos"/>
                <a:ea typeface="Aptos"/>
                <a:cs typeface="Aptos"/>
              </a:defRPr>
            </a:pPr>
            <a:r>
              <a:rPr sz="1100" b="1" dirty="0">
                <a:solidFill>
                  <a:srgbClr val="2D7040"/>
                </a:solidFill>
                <a:latin typeface="Aptos"/>
                <a:ea typeface="Aptos"/>
                <a:cs typeface="Aptos"/>
              </a:rPr>
              <a:t>02 / DESIGN </a:t>
            </a:r>
            <a:r>
              <a:rPr lang="en-NZ" sz="1100" b="1" dirty="0">
                <a:solidFill>
                  <a:srgbClr val="2D7040"/>
                </a:solidFill>
                <a:latin typeface="Aptos"/>
                <a:ea typeface="Aptos"/>
                <a:cs typeface="Aptos"/>
              </a:rPr>
              <a:t>–</a:t>
            </a:r>
            <a:r>
              <a:rPr sz="1100" b="1" dirty="0">
                <a:solidFill>
                  <a:srgbClr val="2D7040"/>
                </a:solidFill>
                <a:latin typeface="Aptos"/>
                <a:ea typeface="Aptos"/>
                <a:cs typeface="Aptos"/>
              </a:rPr>
              <a:t> </a:t>
            </a:r>
            <a:r>
              <a:rPr lang="en-AU" sz="1100" b="1" dirty="0">
                <a:solidFill>
                  <a:srgbClr val="2D7040"/>
                </a:solidFill>
                <a:latin typeface="Aptos"/>
                <a:ea typeface="Aptos"/>
                <a:cs typeface="Aptos"/>
              </a:rPr>
              <a:t>User Journey</a:t>
            </a:r>
            <a:endParaRPr sz="1100" b="1" dirty="0">
              <a:solidFill>
                <a:srgbClr val="2D7040"/>
              </a:solidFill>
              <a:latin typeface="Aptos"/>
              <a:ea typeface="Aptos"/>
              <a:cs typeface="Aptos"/>
            </a:endParaRPr>
          </a:p>
        </p:txBody>
      </p:sp>
    </p:spTree>
    <p:extLst>
      <p:ext uri="{BB962C8B-B14F-4D97-AF65-F5344CB8AC3E}">
        <p14:creationId xmlns:p14="http://schemas.microsoft.com/office/powerpoint/2010/main" val="1409193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8F4"/>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CC94296-1A34-4833-8F41-A8D8CDD2375C}"/>
              </a:ext>
            </a:extLst>
          </p:cNvPr>
          <p:cNvSpPr>
            <a:spLocks noGrp="1"/>
          </p:cNvSpPr>
          <p:nvPr/>
        </p:nvSpPr>
        <p:spPr>
          <a:xfrm>
            <a:off x="0" y="0"/>
            <a:ext cx="105156" cy="6858000"/>
          </a:xfrm>
          <a:prstGeom prst="rect">
            <a:avLst/>
          </a:prstGeom>
          <a:solidFill>
            <a:srgbClr val="2D7040"/>
          </a:solidFill>
          <a:ln w="12700">
            <a:solidFill>
              <a:srgbClr val="2D7040">
                <a:alpha val="0"/>
              </a:srgbClr>
            </a:solidFill>
            <a:prstDash val="solid"/>
          </a:ln>
        </p:spPr>
        <p:txBody>
          <a:bodyPr/>
          <a:lstStyle/>
          <a:p>
            <a:endParaRPr/>
          </a:p>
        </p:txBody>
      </p:sp>
      <p:sp>
        <p:nvSpPr>
          <p:cNvPr id="4" name="Text 2">
            <a:extLst>
              <a:ext uri="{FF2B5EF4-FFF2-40B4-BE49-F238E27FC236}">
                <a16:creationId xmlns:a16="http://schemas.microsoft.com/office/drawing/2014/main" id="{1A288A90-7755-4073-AAD5-B9FC1A5DF86C}"/>
              </a:ext>
            </a:extLst>
          </p:cNvPr>
          <p:cNvSpPr>
            <a:spLocks noGrp="1"/>
          </p:cNvSpPr>
          <p:nvPr/>
        </p:nvSpPr>
        <p:spPr>
          <a:xfrm>
            <a:off x="658368" y="758952"/>
            <a:ext cx="10698480" cy="502920"/>
          </a:xfrm>
          <a:prstGeom prst="rect">
            <a:avLst/>
          </a:prstGeom>
          <a:noFill/>
        </p:spPr>
        <p:txBody>
          <a:bodyPr wrap="square" lIns="0" tIns="0" rIns="0" bIns="0" anchor="ctr">
            <a:normAutofit/>
          </a:bodyPr>
          <a:lstStyle/>
          <a:p>
            <a:pPr marL="0" indent="0">
              <a:buNone/>
            </a:pPr>
            <a:r>
              <a:rPr sz="3000" b="1" dirty="0">
                <a:solidFill>
                  <a:srgbClr val="193F2A"/>
                </a:solidFill>
                <a:latin typeface="Aptos"/>
                <a:ea typeface="Aptos"/>
                <a:cs typeface="Aptos"/>
              </a:rPr>
              <a:t>Development checklist</a:t>
            </a:r>
            <a:endParaRPr sz="3000" dirty="0"/>
          </a:p>
        </p:txBody>
      </p:sp>
      <p:sp>
        <p:nvSpPr>
          <p:cNvPr id="5" name="Text 3">
            <a:extLst>
              <a:ext uri="{FF2B5EF4-FFF2-40B4-BE49-F238E27FC236}">
                <a16:creationId xmlns:a16="http://schemas.microsoft.com/office/drawing/2014/main" id="{9FA7D1F4-C678-455B-8A3D-6B8D60F6B6CD}"/>
              </a:ext>
            </a:extLst>
          </p:cNvPr>
          <p:cNvSpPr>
            <a:spLocks noGrp="1"/>
          </p:cNvSpPr>
          <p:nvPr/>
        </p:nvSpPr>
        <p:spPr>
          <a:xfrm>
            <a:off x="676656" y="1298448"/>
            <a:ext cx="10424160" cy="292608"/>
          </a:xfrm>
          <a:prstGeom prst="rect">
            <a:avLst/>
          </a:prstGeom>
          <a:noFill/>
        </p:spPr>
        <p:txBody>
          <a:bodyPr wrap="square" lIns="0" tIns="0" rIns="0" bIns="0" anchor="t">
            <a:noAutofit/>
          </a:bodyPr>
          <a:lstStyle>
            <a:defPPr algn="l">
              <a:defRPr sz="1400" b="0">
                <a:solidFill>
                  <a:srgbClr val="62736A"/>
                </a:solidFill>
                <a:latin typeface="Aptos"/>
                <a:ea typeface="Aptos"/>
                <a:cs typeface="Aptos"/>
              </a:defRPr>
            </a:defPPr>
          </a:lstStyle>
          <a:p>
            <a:pPr marL="0" indent="0" algn="l">
              <a:buNone/>
              <a:defRPr sz="1400" b="0">
                <a:solidFill>
                  <a:srgbClr val="62736A"/>
                </a:solidFill>
                <a:latin typeface="Aptos"/>
                <a:ea typeface="Aptos"/>
                <a:cs typeface="Aptos"/>
              </a:defRPr>
            </a:pPr>
            <a:r>
              <a:rPr lang="en-AU" sz="1400" dirty="0">
                <a:solidFill>
                  <a:srgbClr val="62736A"/>
                </a:solidFill>
                <a:latin typeface="Aptos"/>
              </a:rPr>
              <a:t>Located in notion </a:t>
            </a:r>
            <a:endParaRPr sz="1400" dirty="0"/>
          </a:p>
        </p:txBody>
      </p:sp>
      <p:sp>
        <p:nvSpPr>
          <p:cNvPr id="6" name="Text 4">
            <a:extLst>
              <a:ext uri="{FF2B5EF4-FFF2-40B4-BE49-F238E27FC236}">
                <a16:creationId xmlns:a16="http://schemas.microsoft.com/office/drawing/2014/main" id="{892254BA-6030-4AC1-8617-7C96632AD6EC}"/>
              </a:ext>
            </a:extLst>
          </p:cNvPr>
          <p:cNvSpPr>
            <a:spLocks noGrp="1"/>
          </p:cNvSpPr>
          <p:nvPr/>
        </p:nvSpPr>
        <p:spPr>
          <a:xfrm>
            <a:off x="10561320" y="338328"/>
            <a:ext cx="1005840" cy="274320"/>
          </a:xfrm>
          <a:prstGeom prst="rect">
            <a:avLst/>
          </a:prstGeom>
          <a:noFill/>
        </p:spPr>
        <p:txBody>
          <a:bodyPr wrap="square" lIns="0" tIns="0" rIns="0" bIns="0" anchor="ctr">
            <a:normAutofit/>
          </a:bodyPr>
          <a:lstStyle/>
          <a:p>
            <a:pPr marL="0" indent="0" algn="r">
              <a:buNone/>
            </a:pPr>
            <a:r>
              <a:rPr sz="1400" b="1" dirty="0">
                <a:solidFill>
                  <a:srgbClr val="193F2A"/>
                </a:solidFill>
                <a:latin typeface="Aptos"/>
                <a:ea typeface="Aptos"/>
                <a:cs typeface="Aptos"/>
              </a:rPr>
              <a:t>FeedBoard</a:t>
            </a:r>
            <a:endParaRPr sz="1400" dirty="0"/>
          </a:p>
        </p:txBody>
      </p:sp>
      <p:sp>
        <p:nvSpPr>
          <p:cNvPr id="7" name="Shape 5">
            <a:extLst>
              <a:ext uri="{FF2B5EF4-FFF2-40B4-BE49-F238E27FC236}">
                <a16:creationId xmlns:a16="http://schemas.microsoft.com/office/drawing/2014/main" id="{105E0706-6497-4493-9D4E-B877638EB9F6}"/>
              </a:ext>
            </a:extLst>
          </p:cNvPr>
          <p:cNvSpPr>
            <a:spLocks noGrp="1"/>
          </p:cNvSpPr>
          <p:nvPr/>
        </p:nvSpPr>
        <p:spPr>
          <a:xfrm>
            <a:off x="658368" y="6492240"/>
            <a:ext cx="10844784" cy="0"/>
          </a:xfrm>
          <a:prstGeom prst="line">
            <a:avLst/>
          </a:prstGeom>
          <a:noFill/>
          <a:ln w="11430">
            <a:solidFill>
              <a:srgbClr val="D9E2D9"/>
            </a:solidFill>
            <a:prstDash val="solid"/>
          </a:ln>
        </p:spPr>
        <p:txBody>
          <a:bodyPr/>
          <a:lstStyle/>
          <a:p>
            <a:endParaRPr/>
          </a:p>
        </p:txBody>
      </p:sp>
      <p:sp>
        <p:nvSpPr>
          <p:cNvPr id="8" name="Text 6">
            <a:extLst>
              <a:ext uri="{FF2B5EF4-FFF2-40B4-BE49-F238E27FC236}">
                <a16:creationId xmlns:a16="http://schemas.microsoft.com/office/drawing/2014/main" id="{D6BD8F47-0171-43B5-BBB3-45B7572B1F30}"/>
              </a:ext>
            </a:extLst>
          </p:cNvPr>
          <p:cNvSpPr>
            <a:spLocks noGrp="1"/>
          </p:cNvSpPr>
          <p:nvPr/>
        </p:nvSpPr>
        <p:spPr>
          <a:xfrm>
            <a:off x="667512" y="6556248"/>
            <a:ext cx="4114800" cy="155448"/>
          </a:xfrm>
          <a:prstGeom prst="rect">
            <a:avLst/>
          </a:prstGeom>
          <a:noFill/>
        </p:spPr>
        <p:txBody>
          <a:bodyPr wrap="square" lIns="0" tIns="0" rIns="0" bIns="0" anchor="ctr">
            <a:normAutofit/>
          </a:bodyPr>
          <a:lstStyle/>
          <a:p>
            <a:pPr marL="0" indent="0">
              <a:buNone/>
            </a:pPr>
            <a:r>
              <a:rPr sz="900" b="1" spc="60">
                <a:solidFill>
                  <a:srgbClr val="62736A"/>
                </a:solidFill>
                <a:latin typeface="Aptos"/>
                <a:ea typeface="Aptos"/>
                <a:cs typeface="Aptos"/>
              </a:rPr>
              <a:t>GRAZING + FEED PLANNING</a:t>
            </a:r>
            <a:endParaRPr sz="900"/>
          </a:p>
        </p:txBody>
      </p:sp>
      <p:sp>
        <p:nvSpPr>
          <p:cNvPr id="10" name="Shape 8">
            <a:extLst>
              <a:ext uri="{FF2B5EF4-FFF2-40B4-BE49-F238E27FC236}">
                <a16:creationId xmlns:a16="http://schemas.microsoft.com/office/drawing/2014/main" id="{05D08DEC-8525-4465-A695-1356D4E0B594}"/>
              </a:ext>
            </a:extLst>
          </p:cNvPr>
          <p:cNvSpPr>
            <a:spLocks noGrp="1"/>
          </p:cNvSpPr>
          <p:nvPr/>
        </p:nvSpPr>
        <p:spPr>
          <a:xfrm>
            <a:off x="1421944" y="1636073"/>
            <a:ext cx="3730752" cy="4581144"/>
          </a:xfrm>
          <a:prstGeom prst="roundRect">
            <a:avLst>
              <a:gd name="adj" fmla="val 2941"/>
            </a:avLst>
          </a:prstGeom>
          <a:solidFill>
            <a:srgbClr val="FFFFFF"/>
          </a:solidFill>
          <a:ln w="8890">
            <a:solidFill>
              <a:srgbClr val="D9E2D9"/>
            </a:solidFill>
            <a:prstDash val="solid"/>
          </a:ln>
        </p:spPr>
        <p:txBody>
          <a:bodyPr/>
          <a:lstStyle/>
          <a:p>
            <a:endParaRPr/>
          </a:p>
        </p:txBody>
      </p:sp>
      <p:pic>
        <p:nvPicPr>
          <p:cNvPr id="11" name="Image 0">
            <a:extLst>
              <a:ext uri="{FF2B5EF4-FFF2-40B4-BE49-F238E27FC236}">
                <a16:creationId xmlns:a16="http://schemas.microsoft.com/office/drawing/2014/main" id="{1933D213-367C-4D74-99CC-E1D75344B946}"/>
              </a:ext>
            </a:extLst>
          </p:cNvPr>
          <p:cNvPicPr>
            <a:picLocks noChangeAspect="1"/>
          </p:cNvPicPr>
          <p:nvPr/>
        </p:nvPicPr>
        <p:blipFill>
          <a:blip r:embed="rId3"/>
          <a:stretch>
            <a:fillRect/>
          </a:stretch>
        </p:blipFill>
        <p:spPr>
          <a:xfrm>
            <a:off x="1884098" y="1700081"/>
            <a:ext cx="2618993" cy="4453128"/>
          </a:xfrm>
          <a:prstGeom prst="rect">
            <a:avLst/>
          </a:prstGeom>
        </p:spPr>
      </p:pic>
      <p:sp>
        <p:nvSpPr>
          <p:cNvPr id="13" name="Text 10">
            <a:extLst>
              <a:ext uri="{FF2B5EF4-FFF2-40B4-BE49-F238E27FC236}">
                <a16:creationId xmlns:a16="http://schemas.microsoft.com/office/drawing/2014/main" id="{BF75B140-FDF1-4364-82D4-5B43C8022054}"/>
              </a:ext>
            </a:extLst>
          </p:cNvPr>
          <p:cNvSpPr>
            <a:spLocks noGrp="1"/>
          </p:cNvSpPr>
          <p:nvPr/>
        </p:nvSpPr>
        <p:spPr>
          <a:xfrm>
            <a:off x="4805172" y="1944929"/>
            <a:ext cx="228600" cy="228600"/>
          </a:xfrm>
          <a:prstGeom prst="rect">
            <a:avLst/>
          </a:prstGeom>
          <a:noFill/>
        </p:spPr>
        <p:txBody>
          <a:bodyPr wrap="square" lIns="0" tIns="0" rIns="0" bIns="0" anchor="ctr">
            <a:normAutofit/>
          </a:bodyPr>
          <a:lstStyle/>
          <a:p>
            <a:pPr marL="0" indent="0" algn="ctr">
              <a:buNone/>
            </a:pPr>
            <a:r>
              <a:rPr sz="1300" b="1">
                <a:solidFill>
                  <a:srgbClr val="FFFFFF"/>
                </a:solidFill>
                <a:latin typeface="Aptos"/>
                <a:ea typeface="Aptos"/>
                <a:cs typeface="Aptos"/>
              </a:rPr>
              <a:t>✓</a:t>
            </a:r>
            <a:endParaRPr sz="1300"/>
          </a:p>
        </p:txBody>
      </p:sp>
      <p:sp>
        <p:nvSpPr>
          <p:cNvPr id="17" name="Text 14">
            <a:extLst>
              <a:ext uri="{FF2B5EF4-FFF2-40B4-BE49-F238E27FC236}">
                <a16:creationId xmlns:a16="http://schemas.microsoft.com/office/drawing/2014/main" id="{36C3906B-4B93-4C22-89D6-0A38971FB7C1}"/>
              </a:ext>
            </a:extLst>
          </p:cNvPr>
          <p:cNvSpPr>
            <a:spLocks noGrp="1"/>
          </p:cNvSpPr>
          <p:nvPr/>
        </p:nvSpPr>
        <p:spPr>
          <a:xfrm>
            <a:off x="4805172" y="2978201"/>
            <a:ext cx="228600" cy="228600"/>
          </a:xfrm>
          <a:prstGeom prst="rect">
            <a:avLst/>
          </a:prstGeom>
          <a:noFill/>
        </p:spPr>
        <p:txBody>
          <a:bodyPr wrap="square" lIns="0" tIns="0" rIns="0" bIns="0" anchor="ctr">
            <a:normAutofit/>
          </a:bodyPr>
          <a:lstStyle/>
          <a:p>
            <a:pPr marL="0" indent="0" algn="ctr">
              <a:buNone/>
            </a:pPr>
            <a:endParaRPr sz="1300"/>
          </a:p>
        </p:txBody>
      </p:sp>
      <p:sp>
        <p:nvSpPr>
          <p:cNvPr id="21" name="Text 18">
            <a:extLst>
              <a:ext uri="{FF2B5EF4-FFF2-40B4-BE49-F238E27FC236}">
                <a16:creationId xmlns:a16="http://schemas.microsoft.com/office/drawing/2014/main" id="{EA33ED86-B664-48F6-B2B7-B1D530D5E953}"/>
              </a:ext>
            </a:extLst>
          </p:cNvPr>
          <p:cNvSpPr>
            <a:spLocks noGrp="1"/>
          </p:cNvSpPr>
          <p:nvPr/>
        </p:nvSpPr>
        <p:spPr>
          <a:xfrm>
            <a:off x="4805172" y="4011473"/>
            <a:ext cx="228600" cy="228600"/>
          </a:xfrm>
          <a:prstGeom prst="rect">
            <a:avLst/>
          </a:prstGeom>
          <a:noFill/>
        </p:spPr>
        <p:txBody>
          <a:bodyPr wrap="square" lIns="0" tIns="0" rIns="0" bIns="0" anchor="ctr">
            <a:normAutofit/>
          </a:bodyPr>
          <a:lstStyle/>
          <a:p>
            <a:pPr marL="0" indent="0" algn="ctr">
              <a:buNone/>
            </a:pPr>
            <a:r>
              <a:rPr sz="1300" b="1">
                <a:solidFill>
                  <a:srgbClr val="FFFFFF"/>
                </a:solidFill>
                <a:latin typeface="Aptos"/>
                <a:ea typeface="Aptos"/>
                <a:cs typeface="Aptos"/>
              </a:rPr>
              <a:t>✓</a:t>
            </a:r>
            <a:endParaRPr sz="1300"/>
          </a:p>
        </p:txBody>
      </p:sp>
      <p:sp>
        <p:nvSpPr>
          <p:cNvPr id="28" name="Shape 8">
            <a:extLst>
              <a:ext uri="{FF2B5EF4-FFF2-40B4-BE49-F238E27FC236}">
                <a16:creationId xmlns:a16="http://schemas.microsoft.com/office/drawing/2014/main" id="{57D4012E-B82F-AB7A-773E-ED90D39D496D}"/>
              </a:ext>
            </a:extLst>
          </p:cNvPr>
          <p:cNvSpPr>
            <a:spLocks noGrp="1"/>
          </p:cNvSpPr>
          <p:nvPr/>
        </p:nvSpPr>
        <p:spPr>
          <a:xfrm>
            <a:off x="6282033" y="1620695"/>
            <a:ext cx="3895344" cy="4562856"/>
          </a:xfrm>
          <a:prstGeom prst="roundRect">
            <a:avLst>
              <a:gd name="adj" fmla="val 2817"/>
            </a:avLst>
          </a:prstGeom>
          <a:solidFill>
            <a:srgbClr val="FFFFFF"/>
          </a:solidFill>
          <a:ln w="8890">
            <a:solidFill>
              <a:srgbClr val="D9E2D9"/>
            </a:solidFill>
            <a:prstDash val="solid"/>
          </a:ln>
        </p:spPr>
        <p:txBody>
          <a:bodyPr/>
          <a:lstStyle/>
          <a:p>
            <a:endParaRPr/>
          </a:p>
        </p:txBody>
      </p:sp>
      <p:pic>
        <p:nvPicPr>
          <p:cNvPr id="29" name="Image 0">
            <a:extLst>
              <a:ext uri="{FF2B5EF4-FFF2-40B4-BE49-F238E27FC236}">
                <a16:creationId xmlns:a16="http://schemas.microsoft.com/office/drawing/2014/main" id="{7FD5CD54-9E80-4D54-90D8-66E964FD61B2}"/>
              </a:ext>
            </a:extLst>
          </p:cNvPr>
          <p:cNvPicPr>
            <a:picLocks noChangeAspect="1"/>
          </p:cNvPicPr>
          <p:nvPr/>
        </p:nvPicPr>
        <p:blipFill>
          <a:blip r:embed="rId4"/>
          <a:stretch>
            <a:fillRect/>
          </a:stretch>
        </p:blipFill>
        <p:spPr>
          <a:xfrm>
            <a:off x="6410049" y="1866079"/>
            <a:ext cx="3767328" cy="3861120"/>
          </a:xfrm>
          <a:prstGeom prst="rect">
            <a:avLst/>
          </a:prstGeom>
        </p:spPr>
      </p:pic>
      <p:sp>
        <p:nvSpPr>
          <p:cNvPr id="30" name="section-label">
            <a:extLst>
              <a:ext uri="{FF2B5EF4-FFF2-40B4-BE49-F238E27FC236}">
                <a16:creationId xmlns:a16="http://schemas.microsoft.com/office/drawing/2014/main" id="{8B2401A4-5F00-4150-A0C4-32D951763CA3}"/>
              </a:ext>
            </a:extLst>
          </p:cNvPr>
          <p:cNvSpPr>
            <a:spLocks noGrp="1"/>
          </p:cNvSpPr>
          <p:nvPr/>
        </p:nvSpPr>
        <p:spPr>
          <a:xfrm>
            <a:off x="658368" y="342900"/>
            <a:ext cx="8382000" cy="228600"/>
          </a:xfrm>
          <a:prstGeom prst="rect">
            <a:avLst/>
          </a:prstGeom>
          <a:noFill/>
          <a:ln w="0">
            <a:noFill/>
          </a:ln>
        </p:spPr>
        <p:txBody>
          <a:bodyPr wrap="square" lIns="0" tIns="0" rIns="0" bIns="0" anchor="t">
            <a:noAutofit/>
          </a:bodyPr>
          <a:lstStyle>
            <a:defPPr algn="l">
              <a:defRPr sz="1100" b="1">
                <a:solidFill>
                  <a:srgbClr val="2D7040"/>
                </a:solidFill>
                <a:latin typeface="Aptos"/>
                <a:ea typeface="Aptos"/>
                <a:cs typeface="Aptos"/>
              </a:defRPr>
            </a:defPPr>
          </a:lstStyle>
          <a:p>
            <a:pPr algn="l">
              <a:defRPr sz="1100" b="1">
                <a:solidFill>
                  <a:srgbClr val="2D7040"/>
                </a:solidFill>
                <a:latin typeface="Aptos"/>
                <a:ea typeface="Aptos"/>
                <a:cs typeface="Aptos"/>
              </a:defRPr>
            </a:pPr>
            <a:r>
              <a:rPr sz="1100" b="1" dirty="0">
                <a:solidFill>
                  <a:srgbClr val="2D7040"/>
                </a:solidFill>
                <a:latin typeface="Aptos"/>
                <a:ea typeface="Aptos"/>
                <a:cs typeface="Aptos"/>
              </a:rPr>
              <a:t>02 / DESIGN - </a:t>
            </a:r>
            <a:r>
              <a:rPr lang="en-AU" sz="1100" b="1" dirty="0">
                <a:solidFill>
                  <a:srgbClr val="2D7040"/>
                </a:solidFill>
                <a:latin typeface="Aptos"/>
                <a:ea typeface="Aptos"/>
                <a:cs typeface="Aptos"/>
              </a:rPr>
              <a:t>Documenation</a:t>
            </a:r>
            <a:endParaRPr sz="1100" b="1" dirty="0">
              <a:solidFill>
                <a:srgbClr val="2D7040"/>
              </a:solidFill>
              <a:latin typeface="Aptos"/>
              <a:ea typeface="Aptos"/>
              <a:cs typeface="Aptos"/>
            </a:endParaRPr>
          </a:p>
        </p:txBody>
      </p:sp>
    </p:spTree>
    <p:extLst>
      <p:ext uri="{BB962C8B-B14F-4D97-AF65-F5344CB8AC3E}">
        <p14:creationId xmlns:p14="http://schemas.microsoft.com/office/powerpoint/2010/main" val="139011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8F4"/>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57720D0-4196-4A3B-8D4F-92C982EB3E5D}"/>
              </a:ext>
            </a:extLst>
          </p:cNvPr>
          <p:cNvSpPr>
            <a:spLocks noGrp="1"/>
          </p:cNvSpPr>
          <p:nvPr/>
        </p:nvSpPr>
        <p:spPr>
          <a:xfrm>
            <a:off x="0" y="0"/>
            <a:ext cx="105156" cy="6858000"/>
          </a:xfrm>
          <a:prstGeom prst="rect">
            <a:avLst/>
          </a:prstGeom>
          <a:solidFill>
            <a:srgbClr val="2D7040"/>
          </a:solidFill>
          <a:ln w="12700">
            <a:solidFill>
              <a:srgbClr val="2D7040">
                <a:alpha val="0"/>
              </a:srgbClr>
            </a:solidFill>
            <a:prstDash val="solid"/>
          </a:ln>
        </p:spPr>
        <p:txBody>
          <a:bodyPr/>
          <a:lstStyle/>
          <a:p>
            <a:endParaRPr/>
          </a:p>
        </p:txBody>
      </p:sp>
      <p:sp>
        <p:nvSpPr>
          <p:cNvPr id="4" name="Text 2">
            <a:extLst>
              <a:ext uri="{FF2B5EF4-FFF2-40B4-BE49-F238E27FC236}">
                <a16:creationId xmlns:a16="http://schemas.microsoft.com/office/drawing/2014/main" id="{C5BA2A98-60B0-468D-A15B-F25B73C1DAC3}"/>
              </a:ext>
            </a:extLst>
          </p:cNvPr>
          <p:cNvSpPr>
            <a:spLocks noGrp="1"/>
          </p:cNvSpPr>
          <p:nvPr/>
        </p:nvSpPr>
        <p:spPr>
          <a:xfrm>
            <a:off x="658368" y="758952"/>
            <a:ext cx="10698480" cy="502920"/>
          </a:xfrm>
          <a:prstGeom prst="rect">
            <a:avLst/>
          </a:prstGeom>
          <a:noFill/>
        </p:spPr>
        <p:txBody>
          <a:bodyPr wrap="square" lIns="0" tIns="0" rIns="0" bIns="0" anchor="ctr">
            <a:normAutofit/>
          </a:bodyPr>
          <a:lstStyle/>
          <a:p>
            <a:pPr marL="0" indent="0">
              <a:buNone/>
            </a:pPr>
            <a:r>
              <a:rPr sz="3000" b="1">
                <a:solidFill>
                  <a:srgbClr val="193F2A"/>
                </a:solidFill>
                <a:latin typeface="Aptos"/>
                <a:ea typeface="Aptos"/>
                <a:cs typeface="Aptos"/>
              </a:rPr>
              <a:t>Frontend structure</a:t>
            </a:r>
            <a:endParaRPr sz="3000"/>
          </a:p>
        </p:txBody>
      </p:sp>
      <p:sp>
        <p:nvSpPr>
          <p:cNvPr id="5" name="Text 3">
            <a:extLst>
              <a:ext uri="{FF2B5EF4-FFF2-40B4-BE49-F238E27FC236}">
                <a16:creationId xmlns:a16="http://schemas.microsoft.com/office/drawing/2014/main" id="{68B12368-5E46-449E-A2D1-D189C969A91A}"/>
              </a:ext>
            </a:extLst>
          </p:cNvPr>
          <p:cNvSpPr>
            <a:spLocks noGrp="1"/>
          </p:cNvSpPr>
          <p:nvPr/>
        </p:nvSpPr>
        <p:spPr>
          <a:xfrm>
            <a:off x="676656" y="1298448"/>
            <a:ext cx="10424160" cy="292608"/>
          </a:xfrm>
          <a:prstGeom prst="rect">
            <a:avLst/>
          </a:prstGeom>
          <a:noFill/>
        </p:spPr>
        <p:txBody>
          <a:bodyPr wrap="square" lIns="0" tIns="0" rIns="0" bIns="0" anchor="ctr">
            <a:normAutofit/>
          </a:bodyPr>
          <a:lstStyle/>
          <a:p>
            <a:pPr marL="0" indent="0">
              <a:buNone/>
            </a:pPr>
            <a:r>
              <a:rPr sz="1400">
                <a:solidFill>
                  <a:srgbClr val="62736A"/>
                </a:solidFill>
                <a:latin typeface="Aptos"/>
                <a:ea typeface="Aptos"/>
                <a:cs typeface="Aptos"/>
              </a:rPr>
              <a:t>Screens, shared components and data-handling code are separated</a:t>
            </a:r>
            <a:endParaRPr sz="1400"/>
          </a:p>
        </p:txBody>
      </p:sp>
      <p:sp>
        <p:nvSpPr>
          <p:cNvPr id="6" name="Text 4">
            <a:extLst>
              <a:ext uri="{FF2B5EF4-FFF2-40B4-BE49-F238E27FC236}">
                <a16:creationId xmlns:a16="http://schemas.microsoft.com/office/drawing/2014/main" id="{69F8E6E8-1E27-4115-A472-C6A281701036}"/>
              </a:ext>
            </a:extLst>
          </p:cNvPr>
          <p:cNvSpPr>
            <a:spLocks noGrp="1"/>
          </p:cNvSpPr>
          <p:nvPr/>
        </p:nvSpPr>
        <p:spPr>
          <a:xfrm>
            <a:off x="10561320" y="338328"/>
            <a:ext cx="1005840" cy="274320"/>
          </a:xfrm>
          <a:prstGeom prst="rect">
            <a:avLst/>
          </a:prstGeom>
          <a:noFill/>
        </p:spPr>
        <p:txBody>
          <a:bodyPr wrap="square" lIns="0" tIns="0" rIns="0" bIns="0" anchor="ctr">
            <a:normAutofit/>
          </a:bodyPr>
          <a:lstStyle/>
          <a:p>
            <a:pPr marL="0" indent="0" algn="r">
              <a:buNone/>
            </a:pPr>
            <a:r>
              <a:rPr sz="1400" b="1" dirty="0">
                <a:solidFill>
                  <a:srgbClr val="193F2A"/>
                </a:solidFill>
                <a:latin typeface="Aptos"/>
                <a:ea typeface="Aptos"/>
                <a:cs typeface="Aptos"/>
              </a:rPr>
              <a:t>FeedBoard</a:t>
            </a:r>
            <a:endParaRPr sz="1400" dirty="0"/>
          </a:p>
        </p:txBody>
      </p:sp>
      <p:sp>
        <p:nvSpPr>
          <p:cNvPr id="7" name="Shape 5">
            <a:extLst>
              <a:ext uri="{FF2B5EF4-FFF2-40B4-BE49-F238E27FC236}">
                <a16:creationId xmlns:a16="http://schemas.microsoft.com/office/drawing/2014/main" id="{666BD68D-3D1A-4B55-9607-1C5EBC4076A6}"/>
              </a:ext>
            </a:extLst>
          </p:cNvPr>
          <p:cNvSpPr>
            <a:spLocks noGrp="1"/>
          </p:cNvSpPr>
          <p:nvPr/>
        </p:nvSpPr>
        <p:spPr>
          <a:xfrm>
            <a:off x="658368" y="6492240"/>
            <a:ext cx="10844784" cy="0"/>
          </a:xfrm>
          <a:prstGeom prst="line">
            <a:avLst/>
          </a:prstGeom>
          <a:noFill/>
          <a:ln w="11430">
            <a:solidFill>
              <a:srgbClr val="D9E2D9"/>
            </a:solidFill>
            <a:prstDash val="solid"/>
          </a:ln>
        </p:spPr>
        <p:txBody>
          <a:bodyPr/>
          <a:lstStyle/>
          <a:p>
            <a:endParaRPr/>
          </a:p>
        </p:txBody>
      </p:sp>
      <p:sp>
        <p:nvSpPr>
          <p:cNvPr id="8" name="Text 6">
            <a:extLst>
              <a:ext uri="{FF2B5EF4-FFF2-40B4-BE49-F238E27FC236}">
                <a16:creationId xmlns:a16="http://schemas.microsoft.com/office/drawing/2014/main" id="{BBBA036D-4FE8-4CD2-96D3-00E7DFD2F607}"/>
              </a:ext>
            </a:extLst>
          </p:cNvPr>
          <p:cNvSpPr>
            <a:spLocks noGrp="1"/>
          </p:cNvSpPr>
          <p:nvPr/>
        </p:nvSpPr>
        <p:spPr>
          <a:xfrm>
            <a:off x="667512" y="6556248"/>
            <a:ext cx="4114800" cy="155448"/>
          </a:xfrm>
          <a:prstGeom prst="rect">
            <a:avLst/>
          </a:prstGeom>
          <a:noFill/>
        </p:spPr>
        <p:txBody>
          <a:bodyPr wrap="square" lIns="0" tIns="0" rIns="0" bIns="0" anchor="ctr">
            <a:normAutofit/>
          </a:bodyPr>
          <a:lstStyle/>
          <a:p>
            <a:pPr marL="0" indent="0">
              <a:buNone/>
            </a:pPr>
            <a:r>
              <a:rPr sz="900" b="1" spc="60">
                <a:solidFill>
                  <a:srgbClr val="62736A"/>
                </a:solidFill>
                <a:latin typeface="Aptos"/>
                <a:ea typeface="Aptos"/>
                <a:cs typeface="Aptos"/>
              </a:rPr>
              <a:t>GRAZING + FEED PLANNING</a:t>
            </a:r>
            <a:endParaRPr sz="900"/>
          </a:p>
        </p:txBody>
      </p:sp>
      <p:sp>
        <p:nvSpPr>
          <p:cNvPr id="10" name="Shape 8">
            <a:extLst>
              <a:ext uri="{FF2B5EF4-FFF2-40B4-BE49-F238E27FC236}">
                <a16:creationId xmlns:a16="http://schemas.microsoft.com/office/drawing/2014/main" id="{12B7BB1E-355C-4272-8D88-FEA23408EB13}"/>
              </a:ext>
            </a:extLst>
          </p:cNvPr>
          <p:cNvSpPr>
            <a:spLocks noGrp="1"/>
          </p:cNvSpPr>
          <p:nvPr/>
        </p:nvSpPr>
        <p:spPr>
          <a:xfrm>
            <a:off x="841248" y="1673352"/>
            <a:ext cx="2907792" cy="4507992"/>
          </a:xfrm>
          <a:prstGeom prst="roundRect">
            <a:avLst>
              <a:gd name="adj" fmla="val 3774"/>
            </a:avLst>
          </a:prstGeom>
          <a:solidFill>
            <a:srgbClr val="FFFFFF"/>
          </a:solidFill>
          <a:ln w="8890">
            <a:solidFill>
              <a:srgbClr val="D9E2D9"/>
            </a:solidFill>
            <a:prstDash val="solid"/>
          </a:ln>
        </p:spPr>
        <p:txBody>
          <a:bodyPr/>
          <a:lstStyle/>
          <a:p>
            <a:endParaRPr/>
          </a:p>
        </p:txBody>
      </p:sp>
      <p:pic>
        <p:nvPicPr>
          <p:cNvPr id="11" name="Image 0">
            <a:extLst>
              <a:ext uri="{FF2B5EF4-FFF2-40B4-BE49-F238E27FC236}">
                <a16:creationId xmlns:a16="http://schemas.microsoft.com/office/drawing/2014/main" id="{D659678D-A754-4DEA-9C15-95ED4BE6CEC0}"/>
              </a:ext>
            </a:extLst>
          </p:cNvPr>
          <p:cNvPicPr>
            <a:picLocks noChangeAspect="1"/>
          </p:cNvPicPr>
          <p:nvPr/>
        </p:nvPicPr>
        <p:blipFill>
          <a:blip r:embed="rId3"/>
          <a:stretch>
            <a:fillRect/>
          </a:stretch>
        </p:blipFill>
        <p:spPr>
          <a:xfrm>
            <a:off x="1502320" y="1737360"/>
            <a:ext cx="1585647" cy="4379976"/>
          </a:xfrm>
          <a:prstGeom prst="rect">
            <a:avLst/>
          </a:prstGeom>
        </p:spPr>
      </p:pic>
      <p:sp>
        <p:nvSpPr>
          <p:cNvPr id="12" name="Shape 9">
            <a:extLst>
              <a:ext uri="{FF2B5EF4-FFF2-40B4-BE49-F238E27FC236}">
                <a16:creationId xmlns:a16="http://schemas.microsoft.com/office/drawing/2014/main" id="{2A100A43-D2E1-4B16-A97E-C797922F227C}"/>
              </a:ext>
            </a:extLst>
          </p:cNvPr>
          <p:cNvSpPr>
            <a:spLocks noGrp="1"/>
          </p:cNvSpPr>
          <p:nvPr/>
        </p:nvSpPr>
        <p:spPr>
          <a:xfrm>
            <a:off x="4379976" y="1993392"/>
            <a:ext cx="338328" cy="338328"/>
          </a:xfrm>
          <a:prstGeom prst="ellipse">
            <a:avLst/>
          </a:prstGeom>
          <a:solidFill>
            <a:srgbClr val="2D7040"/>
          </a:solidFill>
          <a:ln w="12700">
            <a:solidFill>
              <a:srgbClr val="2D7040"/>
            </a:solidFill>
            <a:prstDash val="solid"/>
          </a:ln>
        </p:spPr>
        <p:txBody>
          <a:bodyPr/>
          <a:lstStyle/>
          <a:p>
            <a:endParaRPr/>
          </a:p>
        </p:txBody>
      </p:sp>
      <p:sp>
        <p:nvSpPr>
          <p:cNvPr id="13" name="Text 10">
            <a:extLst>
              <a:ext uri="{FF2B5EF4-FFF2-40B4-BE49-F238E27FC236}">
                <a16:creationId xmlns:a16="http://schemas.microsoft.com/office/drawing/2014/main" id="{6D9E904E-AEBC-4E23-A0AD-C7E0979DD6E6}"/>
              </a:ext>
            </a:extLst>
          </p:cNvPr>
          <p:cNvSpPr>
            <a:spLocks noGrp="1"/>
          </p:cNvSpPr>
          <p:nvPr/>
        </p:nvSpPr>
        <p:spPr>
          <a:xfrm>
            <a:off x="4430268" y="1999793"/>
            <a:ext cx="228600" cy="228600"/>
          </a:xfrm>
          <a:prstGeom prst="rect">
            <a:avLst/>
          </a:prstGeom>
          <a:noFill/>
        </p:spPr>
        <p:txBody>
          <a:bodyPr wrap="square" lIns="0" tIns="0" rIns="0" bIns="0" anchor="ctr">
            <a:normAutofit/>
          </a:bodyPr>
          <a:lstStyle/>
          <a:p>
            <a:pPr marL="0" indent="0" algn="ctr">
              <a:buNone/>
            </a:pPr>
            <a:r>
              <a:rPr sz="1300" b="1">
                <a:solidFill>
                  <a:srgbClr val="FFFFFF"/>
                </a:solidFill>
                <a:latin typeface="Aptos"/>
                <a:ea typeface="Aptos"/>
                <a:cs typeface="Aptos"/>
              </a:rPr>
              <a:t>✓</a:t>
            </a:r>
            <a:endParaRPr sz="1300"/>
          </a:p>
        </p:txBody>
      </p:sp>
      <p:sp>
        <p:nvSpPr>
          <p:cNvPr id="14" name="Text 11">
            <a:extLst>
              <a:ext uri="{FF2B5EF4-FFF2-40B4-BE49-F238E27FC236}">
                <a16:creationId xmlns:a16="http://schemas.microsoft.com/office/drawing/2014/main" id="{C08D125C-0308-4F4A-A8A4-4D8DE8F5F328}"/>
              </a:ext>
            </a:extLst>
          </p:cNvPr>
          <p:cNvSpPr>
            <a:spLocks noGrp="1"/>
          </p:cNvSpPr>
          <p:nvPr/>
        </p:nvSpPr>
        <p:spPr>
          <a:xfrm>
            <a:off x="4864608" y="1938528"/>
            <a:ext cx="6400800" cy="310896"/>
          </a:xfrm>
          <a:prstGeom prst="rect">
            <a:avLst/>
          </a:prstGeom>
          <a:noFill/>
        </p:spPr>
        <p:txBody>
          <a:bodyPr wrap="square" lIns="0" tIns="0" rIns="0" bIns="0" anchor="ctr">
            <a:normAutofit/>
          </a:bodyPr>
          <a:lstStyle/>
          <a:p>
            <a:pPr marL="0" indent="0">
              <a:buNone/>
            </a:pPr>
            <a:r>
              <a:rPr sz="1700" b="1" dirty="0">
                <a:solidFill>
                  <a:srgbClr val="193F2A"/>
                </a:solidFill>
                <a:latin typeface="Aptos"/>
                <a:ea typeface="Aptos"/>
                <a:cs typeface="Aptos"/>
              </a:rPr>
              <a:t>Pages</a:t>
            </a:r>
            <a:r>
              <a:rPr lang="en-AU" sz="1700" b="1" dirty="0">
                <a:solidFill>
                  <a:srgbClr val="193F2A"/>
                </a:solidFill>
                <a:latin typeface="Aptos"/>
                <a:ea typeface="Aptos"/>
                <a:cs typeface="Aptos"/>
              </a:rPr>
              <a:t> - 6</a:t>
            </a:r>
            <a:endParaRPr sz="1700" dirty="0"/>
          </a:p>
        </p:txBody>
      </p:sp>
      <p:sp>
        <p:nvSpPr>
          <p:cNvPr id="15" name="Text 12">
            <a:extLst>
              <a:ext uri="{FF2B5EF4-FFF2-40B4-BE49-F238E27FC236}">
                <a16:creationId xmlns:a16="http://schemas.microsoft.com/office/drawing/2014/main" id="{B6F84147-EAAC-423D-B559-4935080C800D}"/>
              </a:ext>
            </a:extLst>
          </p:cNvPr>
          <p:cNvSpPr>
            <a:spLocks noGrp="1"/>
          </p:cNvSpPr>
          <p:nvPr/>
        </p:nvSpPr>
        <p:spPr>
          <a:xfrm>
            <a:off x="4864608" y="2322576"/>
            <a:ext cx="6400800" cy="320040"/>
          </a:xfrm>
          <a:prstGeom prst="rect">
            <a:avLst/>
          </a:prstGeom>
          <a:noFill/>
        </p:spPr>
        <p:txBody>
          <a:bodyPr wrap="square" lIns="0" tIns="0" rIns="0" bIns="0" anchor="ctr">
            <a:normAutofit/>
          </a:bodyPr>
          <a:lstStyle/>
          <a:p>
            <a:pPr marL="0" indent="0">
              <a:buNone/>
            </a:pPr>
            <a:r>
              <a:rPr sz="1250">
                <a:solidFill>
                  <a:srgbClr val="62736A"/>
                </a:solidFill>
                <a:latin typeface="Aptos"/>
                <a:ea typeface="Aptos"/>
                <a:cs typeface="Aptos"/>
              </a:rPr>
              <a:t>Welcome, setup, planner and Farm Information</a:t>
            </a:r>
            <a:endParaRPr sz="1250"/>
          </a:p>
        </p:txBody>
      </p:sp>
      <p:sp>
        <p:nvSpPr>
          <p:cNvPr id="16" name="Shape 13">
            <a:extLst>
              <a:ext uri="{FF2B5EF4-FFF2-40B4-BE49-F238E27FC236}">
                <a16:creationId xmlns:a16="http://schemas.microsoft.com/office/drawing/2014/main" id="{1C1DD7E9-6C98-488D-9363-C015A549EB37}"/>
              </a:ext>
            </a:extLst>
          </p:cNvPr>
          <p:cNvSpPr>
            <a:spLocks noGrp="1"/>
          </p:cNvSpPr>
          <p:nvPr/>
        </p:nvSpPr>
        <p:spPr>
          <a:xfrm>
            <a:off x="4379976" y="3099816"/>
            <a:ext cx="338328" cy="338328"/>
          </a:xfrm>
          <a:prstGeom prst="ellipse">
            <a:avLst/>
          </a:prstGeom>
          <a:solidFill>
            <a:srgbClr val="2D7040"/>
          </a:solidFill>
          <a:ln w="12700">
            <a:solidFill>
              <a:srgbClr val="2D7040"/>
            </a:solidFill>
            <a:prstDash val="solid"/>
          </a:ln>
        </p:spPr>
        <p:txBody>
          <a:bodyPr/>
          <a:lstStyle/>
          <a:p>
            <a:endParaRPr/>
          </a:p>
        </p:txBody>
      </p:sp>
      <p:sp>
        <p:nvSpPr>
          <p:cNvPr id="17" name="Text 14">
            <a:extLst>
              <a:ext uri="{FF2B5EF4-FFF2-40B4-BE49-F238E27FC236}">
                <a16:creationId xmlns:a16="http://schemas.microsoft.com/office/drawing/2014/main" id="{82E7C018-4A48-42D3-8883-EE67D9ED1ED1}"/>
              </a:ext>
            </a:extLst>
          </p:cNvPr>
          <p:cNvSpPr>
            <a:spLocks noGrp="1"/>
          </p:cNvSpPr>
          <p:nvPr/>
        </p:nvSpPr>
        <p:spPr>
          <a:xfrm>
            <a:off x="4430268" y="3106217"/>
            <a:ext cx="228600" cy="228600"/>
          </a:xfrm>
          <a:prstGeom prst="rect">
            <a:avLst/>
          </a:prstGeom>
          <a:noFill/>
        </p:spPr>
        <p:txBody>
          <a:bodyPr wrap="square" lIns="0" tIns="0" rIns="0" bIns="0" anchor="ctr">
            <a:normAutofit/>
          </a:bodyPr>
          <a:lstStyle/>
          <a:p>
            <a:pPr marL="0" indent="0" algn="ctr">
              <a:buNone/>
            </a:pPr>
            <a:r>
              <a:rPr sz="1300" b="1">
                <a:solidFill>
                  <a:srgbClr val="FFFFFF"/>
                </a:solidFill>
                <a:latin typeface="Aptos"/>
                <a:ea typeface="Aptos"/>
                <a:cs typeface="Aptos"/>
              </a:rPr>
              <a:t>✓</a:t>
            </a:r>
            <a:endParaRPr sz="1300"/>
          </a:p>
        </p:txBody>
      </p:sp>
      <p:sp>
        <p:nvSpPr>
          <p:cNvPr id="18" name="Text 15">
            <a:extLst>
              <a:ext uri="{FF2B5EF4-FFF2-40B4-BE49-F238E27FC236}">
                <a16:creationId xmlns:a16="http://schemas.microsoft.com/office/drawing/2014/main" id="{1DB2B00E-41A3-4C40-BACE-B51968613573}"/>
              </a:ext>
            </a:extLst>
          </p:cNvPr>
          <p:cNvSpPr>
            <a:spLocks noGrp="1"/>
          </p:cNvSpPr>
          <p:nvPr/>
        </p:nvSpPr>
        <p:spPr>
          <a:xfrm>
            <a:off x="4864608" y="3044952"/>
            <a:ext cx="6400800" cy="310896"/>
          </a:xfrm>
          <a:prstGeom prst="rect">
            <a:avLst/>
          </a:prstGeom>
          <a:noFill/>
        </p:spPr>
        <p:txBody>
          <a:bodyPr wrap="square" lIns="0" tIns="0" rIns="0" bIns="0" anchor="ctr">
            <a:normAutofit/>
          </a:bodyPr>
          <a:lstStyle/>
          <a:p>
            <a:pPr marL="0" indent="0">
              <a:buNone/>
            </a:pPr>
            <a:r>
              <a:rPr sz="1700" b="1" dirty="0">
                <a:solidFill>
                  <a:srgbClr val="193F2A"/>
                </a:solidFill>
                <a:latin typeface="Aptos"/>
                <a:ea typeface="Aptos"/>
                <a:cs typeface="Aptos"/>
              </a:rPr>
              <a:t>Components</a:t>
            </a:r>
            <a:r>
              <a:rPr lang="en-AU" sz="1700" b="1" dirty="0">
                <a:solidFill>
                  <a:srgbClr val="193F2A"/>
                </a:solidFill>
                <a:latin typeface="Aptos"/>
                <a:ea typeface="Aptos"/>
                <a:cs typeface="Aptos"/>
              </a:rPr>
              <a:t> - 26</a:t>
            </a:r>
            <a:endParaRPr sz="1700" dirty="0"/>
          </a:p>
        </p:txBody>
      </p:sp>
      <p:sp>
        <p:nvSpPr>
          <p:cNvPr id="19" name="Text 16">
            <a:extLst>
              <a:ext uri="{FF2B5EF4-FFF2-40B4-BE49-F238E27FC236}">
                <a16:creationId xmlns:a16="http://schemas.microsoft.com/office/drawing/2014/main" id="{46DF9A18-A020-4E7E-A542-5F02F0D91DD5}"/>
              </a:ext>
            </a:extLst>
          </p:cNvPr>
          <p:cNvSpPr>
            <a:spLocks noGrp="1"/>
          </p:cNvSpPr>
          <p:nvPr/>
        </p:nvSpPr>
        <p:spPr>
          <a:xfrm>
            <a:off x="4864608" y="3429000"/>
            <a:ext cx="6400800" cy="320040"/>
          </a:xfrm>
          <a:prstGeom prst="rect">
            <a:avLst/>
          </a:prstGeom>
          <a:noFill/>
        </p:spPr>
        <p:txBody>
          <a:bodyPr wrap="square" lIns="0" tIns="0" rIns="0" bIns="0" anchor="ctr">
            <a:normAutofit/>
          </a:bodyPr>
          <a:lstStyle/>
          <a:p>
            <a:pPr marL="0" indent="0">
              <a:buNone/>
            </a:pPr>
            <a:r>
              <a:rPr sz="1250" dirty="0">
                <a:solidFill>
                  <a:srgbClr val="62736A"/>
                </a:solidFill>
                <a:latin typeface="Aptos"/>
                <a:ea typeface="Aptos"/>
                <a:cs typeface="Aptos"/>
              </a:rPr>
              <a:t>Reusable UI controls and farm-specific editors</a:t>
            </a:r>
            <a:endParaRPr sz="1250" dirty="0"/>
          </a:p>
        </p:txBody>
      </p:sp>
      <p:sp>
        <p:nvSpPr>
          <p:cNvPr id="20" name="Shape 17">
            <a:extLst>
              <a:ext uri="{FF2B5EF4-FFF2-40B4-BE49-F238E27FC236}">
                <a16:creationId xmlns:a16="http://schemas.microsoft.com/office/drawing/2014/main" id="{253FF27A-B144-4A2D-95F3-D4AE5D32500B}"/>
              </a:ext>
            </a:extLst>
          </p:cNvPr>
          <p:cNvSpPr>
            <a:spLocks noGrp="1"/>
          </p:cNvSpPr>
          <p:nvPr/>
        </p:nvSpPr>
        <p:spPr>
          <a:xfrm>
            <a:off x="4379976" y="4206240"/>
            <a:ext cx="338328" cy="338328"/>
          </a:xfrm>
          <a:prstGeom prst="ellipse">
            <a:avLst/>
          </a:prstGeom>
          <a:solidFill>
            <a:srgbClr val="2D7040"/>
          </a:solidFill>
          <a:ln w="12700">
            <a:solidFill>
              <a:srgbClr val="2D7040"/>
            </a:solidFill>
            <a:prstDash val="solid"/>
          </a:ln>
        </p:spPr>
        <p:txBody>
          <a:bodyPr/>
          <a:lstStyle/>
          <a:p>
            <a:endParaRPr/>
          </a:p>
        </p:txBody>
      </p:sp>
      <p:sp>
        <p:nvSpPr>
          <p:cNvPr id="21" name="Text 18">
            <a:extLst>
              <a:ext uri="{FF2B5EF4-FFF2-40B4-BE49-F238E27FC236}">
                <a16:creationId xmlns:a16="http://schemas.microsoft.com/office/drawing/2014/main" id="{1720D6C2-54F5-46DE-9D66-D18639ECDBAB}"/>
              </a:ext>
            </a:extLst>
          </p:cNvPr>
          <p:cNvSpPr>
            <a:spLocks noGrp="1"/>
          </p:cNvSpPr>
          <p:nvPr/>
        </p:nvSpPr>
        <p:spPr>
          <a:xfrm>
            <a:off x="4430268" y="4212641"/>
            <a:ext cx="228600" cy="228600"/>
          </a:xfrm>
          <a:prstGeom prst="rect">
            <a:avLst/>
          </a:prstGeom>
          <a:noFill/>
        </p:spPr>
        <p:txBody>
          <a:bodyPr wrap="square" lIns="0" tIns="0" rIns="0" bIns="0" anchor="ctr">
            <a:normAutofit/>
          </a:bodyPr>
          <a:lstStyle/>
          <a:p>
            <a:pPr marL="0" indent="0" algn="ctr">
              <a:buNone/>
            </a:pPr>
            <a:r>
              <a:rPr sz="1300" b="1">
                <a:solidFill>
                  <a:srgbClr val="FFFFFF"/>
                </a:solidFill>
                <a:latin typeface="Aptos"/>
                <a:ea typeface="Aptos"/>
                <a:cs typeface="Aptos"/>
              </a:rPr>
              <a:t>✓</a:t>
            </a:r>
            <a:endParaRPr sz="1300"/>
          </a:p>
        </p:txBody>
      </p:sp>
      <p:sp>
        <p:nvSpPr>
          <p:cNvPr id="22" name="Text 19">
            <a:extLst>
              <a:ext uri="{FF2B5EF4-FFF2-40B4-BE49-F238E27FC236}">
                <a16:creationId xmlns:a16="http://schemas.microsoft.com/office/drawing/2014/main" id="{83D4C24F-E31A-4CB7-97A0-ADBA401B9F83}"/>
              </a:ext>
            </a:extLst>
          </p:cNvPr>
          <p:cNvSpPr>
            <a:spLocks noGrp="1"/>
          </p:cNvSpPr>
          <p:nvPr/>
        </p:nvSpPr>
        <p:spPr>
          <a:xfrm>
            <a:off x="4864608" y="4151376"/>
            <a:ext cx="6400800" cy="310896"/>
          </a:xfrm>
          <a:prstGeom prst="rect">
            <a:avLst/>
          </a:prstGeom>
          <a:noFill/>
        </p:spPr>
        <p:txBody>
          <a:bodyPr wrap="square" lIns="0" tIns="0" rIns="0" bIns="0" anchor="ctr">
            <a:normAutofit/>
          </a:bodyPr>
          <a:lstStyle/>
          <a:p>
            <a:pPr marL="0" indent="0">
              <a:buNone/>
            </a:pPr>
            <a:r>
              <a:rPr sz="1700" b="1" dirty="0">
                <a:solidFill>
                  <a:srgbClr val="193F2A"/>
                </a:solidFill>
                <a:latin typeface="Aptos"/>
                <a:ea typeface="Aptos"/>
                <a:cs typeface="Aptos"/>
              </a:rPr>
              <a:t>Hooks and services</a:t>
            </a:r>
            <a:r>
              <a:rPr lang="en-AU" sz="1700" b="1" dirty="0">
                <a:solidFill>
                  <a:srgbClr val="193F2A"/>
                </a:solidFill>
                <a:latin typeface="Aptos"/>
                <a:ea typeface="Aptos"/>
                <a:cs typeface="Aptos"/>
              </a:rPr>
              <a:t> – 3 &amp; 3</a:t>
            </a:r>
            <a:endParaRPr sz="1700" dirty="0"/>
          </a:p>
        </p:txBody>
      </p:sp>
      <p:sp>
        <p:nvSpPr>
          <p:cNvPr id="23" name="Text 20">
            <a:extLst>
              <a:ext uri="{FF2B5EF4-FFF2-40B4-BE49-F238E27FC236}">
                <a16:creationId xmlns:a16="http://schemas.microsoft.com/office/drawing/2014/main" id="{123C7D2C-3846-4FAD-924F-595F6B911914}"/>
              </a:ext>
            </a:extLst>
          </p:cNvPr>
          <p:cNvSpPr>
            <a:spLocks noGrp="1"/>
          </p:cNvSpPr>
          <p:nvPr/>
        </p:nvSpPr>
        <p:spPr>
          <a:xfrm>
            <a:off x="4864608" y="4535424"/>
            <a:ext cx="6400800" cy="320040"/>
          </a:xfrm>
          <a:prstGeom prst="rect">
            <a:avLst/>
          </a:prstGeom>
          <a:noFill/>
        </p:spPr>
        <p:txBody>
          <a:bodyPr wrap="square" lIns="0" tIns="0" rIns="0" bIns="0" anchor="ctr">
            <a:normAutofit/>
          </a:bodyPr>
          <a:lstStyle/>
          <a:p>
            <a:pPr marL="0" indent="0">
              <a:buNone/>
            </a:pPr>
            <a:r>
              <a:rPr sz="1250">
                <a:solidFill>
                  <a:srgbClr val="62736A"/>
                </a:solidFill>
                <a:latin typeface="Aptos"/>
                <a:ea typeface="Aptos"/>
                <a:cs typeface="Aptos"/>
              </a:rPr>
              <a:t>Farm state, calculations and API communication</a:t>
            </a:r>
            <a:endParaRPr sz="1250"/>
          </a:p>
        </p:txBody>
      </p:sp>
      <p:sp>
        <p:nvSpPr>
          <p:cNvPr id="24" name="Shape 21">
            <a:extLst>
              <a:ext uri="{FF2B5EF4-FFF2-40B4-BE49-F238E27FC236}">
                <a16:creationId xmlns:a16="http://schemas.microsoft.com/office/drawing/2014/main" id="{329C04F7-4665-4E53-B2EE-213D04F68FD2}"/>
              </a:ext>
            </a:extLst>
          </p:cNvPr>
          <p:cNvSpPr>
            <a:spLocks noGrp="1"/>
          </p:cNvSpPr>
          <p:nvPr/>
        </p:nvSpPr>
        <p:spPr>
          <a:xfrm>
            <a:off x="4398264" y="5404104"/>
            <a:ext cx="6967728" cy="512064"/>
          </a:xfrm>
          <a:prstGeom prst="roundRect">
            <a:avLst>
              <a:gd name="adj" fmla="val 21429"/>
            </a:avLst>
          </a:prstGeom>
          <a:solidFill>
            <a:srgbClr val="EDF3E9"/>
          </a:solidFill>
          <a:ln w="8890">
            <a:solidFill>
              <a:srgbClr val="EDF3E9"/>
            </a:solidFill>
            <a:prstDash val="solid"/>
          </a:ln>
        </p:spPr>
        <p:txBody>
          <a:bodyPr/>
          <a:lstStyle/>
          <a:p>
            <a:endParaRPr/>
          </a:p>
        </p:txBody>
      </p:sp>
      <p:sp>
        <p:nvSpPr>
          <p:cNvPr id="25" name="Text 22">
            <a:extLst>
              <a:ext uri="{FF2B5EF4-FFF2-40B4-BE49-F238E27FC236}">
                <a16:creationId xmlns:a16="http://schemas.microsoft.com/office/drawing/2014/main" id="{3471C817-7404-48BD-931F-EB01C3CBB3A4}"/>
              </a:ext>
            </a:extLst>
          </p:cNvPr>
          <p:cNvSpPr>
            <a:spLocks noGrp="1"/>
          </p:cNvSpPr>
          <p:nvPr/>
        </p:nvSpPr>
        <p:spPr>
          <a:xfrm>
            <a:off x="4617720" y="5504688"/>
            <a:ext cx="6565392" cy="283464"/>
          </a:xfrm>
          <a:prstGeom prst="rect">
            <a:avLst/>
          </a:prstGeom>
          <a:noFill/>
        </p:spPr>
        <p:txBody>
          <a:bodyPr wrap="square" lIns="0" tIns="0" rIns="0" bIns="0" anchor="ctr">
            <a:normAutofit/>
          </a:bodyPr>
          <a:lstStyle/>
          <a:p>
            <a:pPr marL="0" indent="0" algn="ctr">
              <a:buNone/>
            </a:pPr>
            <a:r>
              <a:rPr sz="1600" b="1">
                <a:solidFill>
                  <a:srgbClr val="2D7040"/>
                </a:solidFill>
                <a:latin typeface="Aptos"/>
                <a:ea typeface="Aptos"/>
                <a:cs typeface="Aptos"/>
              </a:rPr>
              <a:t>React + Vite + Tailwind CSS</a:t>
            </a:r>
            <a:endParaRPr sz="1600"/>
          </a:p>
        </p:txBody>
      </p:sp>
      <p:sp>
        <p:nvSpPr>
          <p:cNvPr id="26" name="section-label">
            <a:extLst>
              <a:ext uri="{FF2B5EF4-FFF2-40B4-BE49-F238E27FC236}">
                <a16:creationId xmlns:a16="http://schemas.microsoft.com/office/drawing/2014/main" id="{B70E99BB-9694-467F-BDF8-29A7FA1E937F}"/>
              </a:ext>
            </a:extLst>
          </p:cNvPr>
          <p:cNvSpPr>
            <a:spLocks noGrp="1"/>
          </p:cNvSpPr>
          <p:nvPr/>
        </p:nvSpPr>
        <p:spPr>
          <a:xfrm>
            <a:off x="658368" y="342900"/>
            <a:ext cx="8382000" cy="228600"/>
          </a:xfrm>
          <a:prstGeom prst="rect">
            <a:avLst/>
          </a:prstGeom>
          <a:noFill/>
          <a:ln w="0">
            <a:noFill/>
          </a:ln>
        </p:spPr>
        <p:txBody>
          <a:bodyPr wrap="square" lIns="0" tIns="0" rIns="0" bIns="0" anchor="t">
            <a:noAutofit/>
          </a:bodyPr>
          <a:lstStyle>
            <a:defPPr algn="l">
              <a:defRPr sz="1100" b="1">
                <a:solidFill>
                  <a:srgbClr val="2D7040"/>
                </a:solidFill>
                <a:latin typeface="Aptos"/>
                <a:ea typeface="Aptos"/>
                <a:cs typeface="Aptos"/>
              </a:defRPr>
            </a:defPPr>
          </a:lstStyle>
          <a:p>
            <a:pPr algn="l">
              <a:defRPr sz="1100" b="1">
                <a:solidFill>
                  <a:srgbClr val="2D7040"/>
                </a:solidFill>
                <a:latin typeface="Aptos"/>
                <a:ea typeface="Aptos"/>
                <a:cs typeface="Aptos"/>
              </a:defRPr>
            </a:pPr>
            <a:r>
              <a:rPr sz="1100" b="1" dirty="0">
                <a:solidFill>
                  <a:srgbClr val="2D7040"/>
                </a:solidFill>
                <a:latin typeface="Aptos"/>
                <a:ea typeface="Aptos"/>
                <a:cs typeface="Aptos"/>
              </a:rPr>
              <a:t>03 / DELIVERY </a:t>
            </a:r>
            <a:r>
              <a:rPr lang="en-NZ" sz="1100" b="1" dirty="0">
                <a:solidFill>
                  <a:srgbClr val="2D7040"/>
                </a:solidFill>
                <a:latin typeface="Aptos"/>
                <a:ea typeface="Aptos"/>
                <a:cs typeface="Aptos"/>
              </a:rPr>
              <a:t>–</a:t>
            </a:r>
            <a:r>
              <a:rPr sz="1100" b="1" dirty="0">
                <a:solidFill>
                  <a:srgbClr val="2D7040"/>
                </a:solidFill>
                <a:latin typeface="Aptos"/>
                <a:ea typeface="Aptos"/>
                <a:cs typeface="Aptos"/>
              </a:rPr>
              <a:t> </a:t>
            </a:r>
            <a:r>
              <a:rPr lang="en-AU" sz="1100" b="1" dirty="0">
                <a:solidFill>
                  <a:srgbClr val="2D7040"/>
                </a:solidFill>
                <a:latin typeface="Aptos"/>
                <a:ea typeface="Aptos"/>
                <a:cs typeface="Aptos"/>
              </a:rPr>
              <a:t>Frontend </a:t>
            </a:r>
            <a:endParaRPr sz="1100" b="1" dirty="0">
              <a:solidFill>
                <a:srgbClr val="2D7040"/>
              </a:solidFill>
              <a:latin typeface="Aptos"/>
              <a:ea typeface="Aptos"/>
              <a:cs typeface="Aptos"/>
            </a:endParaRPr>
          </a:p>
        </p:txBody>
      </p:sp>
    </p:spTree>
    <p:extLst>
      <p:ext uri="{BB962C8B-B14F-4D97-AF65-F5344CB8AC3E}">
        <p14:creationId xmlns:p14="http://schemas.microsoft.com/office/powerpoint/2010/main" val="1330389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8F4"/>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7DFA42F-7B05-46C7-ACAB-F5E1EEF8463F}"/>
              </a:ext>
            </a:extLst>
          </p:cNvPr>
          <p:cNvSpPr>
            <a:spLocks noGrp="1"/>
          </p:cNvSpPr>
          <p:nvPr/>
        </p:nvSpPr>
        <p:spPr>
          <a:xfrm>
            <a:off x="0" y="0"/>
            <a:ext cx="105156" cy="6858000"/>
          </a:xfrm>
          <a:prstGeom prst="rect">
            <a:avLst/>
          </a:prstGeom>
          <a:solidFill>
            <a:srgbClr val="2D7040"/>
          </a:solidFill>
          <a:ln w="12700">
            <a:solidFill>
              <a:srgbClr val="2D7040">
                <a:alpha val="0"/>
              </a:srgbClr>
            </a:solidFill>
            <a:prstDash val="solid"/>
          </a:ln>
        </p:spPr>
        <p:txBody>
          <a:bodyPr/>
          <a:lstStyle/>
          <a:p>
            <a:endParaRPr/>
          </a:p>
        </p:txBody>
      </p:sp>
      <p:sp>
        <p:nvSpPr>
          <p:cNvPr id="4" name="Text 2">
            <a:extLst>
              <a:ext uri="{FF2B5EF4-FFF2-40B4-BE49-F238E27FC236}">
                <a16:creationId xmlns:a16="http://schemas.microsoft.com/office/drawing/2014/main" id="{7EE17B3E-CF69-4834-AF47-20CD0AE7687B}"/>
              </a:ext>
            </a:extLst>
          </p:cNvPr>
          <p:cNvSpPr>
            <a:spLocks noGrp="1"/>
          </p:cNvSpPr>
          <p:nvPr/>
        </p:nvSpPr>
        <p:spPr>
          <a:xfrm>
            <a:off x="658368" y="758952"/>
            <a:ext cx="10698480" cy="502920"/>
          </a:xfrm>
          <a:prstGeom prst="rect">
            <a:avLst/>
          </a:prstGeom>
          <a:noFill/>
        </p:spPr>
        <p:txBody>
          <a:bodyPr wrap="square" lIns="0" tIns="0" rIns="0" bIns="0" anchor="ctr">
            <a:normAutofit/>
          </a:bodyPr>
          <a:lstStyle/>
          <a:p>
            <a:pPr marL="0" indent="0">
              <a:buNone/>
            </a:pPr>
            <a:r>
              <a:rPr sz="3000" b="1">
                <a:solidFill>
                  <a:srgbClr val="193F2A"/>
                </a:solidFill>
                <a:latin typeface="Aptos"/>
                <a:ea typeface="Aptos"/>
                <a:cs typeface="Aptos"/>
              </a:rPr>
              <a:t>Backend structure</a:t>
            </a:r>
            <a:endParaRPr sz="3000"/>
          </a:p>
        </p:txBody>
      </p:sp>
      <p:sp>
        <p:nvSpPr>
          <p:cNvPr id="5" name="Text 3">
            <a:extLst>
              <a:ext uri="{FF2B5EF4-FFF2-40B4-BE49-F238E27FC236}">
                <a16:creationId xmlns:a16="http://schemas.microsoft.com/office/drawing/2014/main" id="{2288D939-43D5-4019-9419-57C8C9512237}"/>
              </a:ext>
            </a:extLst>
          </p:cNvPr>
          <p:cNvSpPr>
            <a:spLocks noGrp="1"/>
          </p:cNvSpPr>
          <p:nvPr/>
        </p:nvSpPr>
        <p:spPr>
          <a:xfrm>
            <a:off x="676656" y="1298448"/>
            <a:ext cx="10424160" cy="292608"/>
          </a:xfrm>
          <a:prstGeom prst="rect">
            <a:avLst/>
          </a:prstGeom>
          <a:noFill/>
        </p:spPr>
        <p:txBody>
          <a:bodyPr wrap="square" lIns="0" tIns="0" rIns="0" bIns="0" anchor="ctr">
            <a:normAutofit/>
          </a:bodyPr>
          <a:lstStyle/>
          <a:p>
            <a:pPr marL="0" indent="0">
              <a:buNone/>
            </a:pPr>
            <a:r>
              <a:rPr sz="1400" dirty="0">
                <a:solidFill>
                  <a:srgbClr val="62736A"/>
                </a:solidFill>
                <a:latin typeface="Aptos"/>
                <a:ea typeface="Aptos"/>
                <a:cs typeface="Aptos"/>
              </a:rPr>
              <a:t>MVC-style separation for API requests and business logic</a:t>
            </a:r>
            <a:endParaRPr sz="1400" dirty="0"/>
          </a:p>
        </p:txBody>
      </p:sp>
      <p:sp>
        <p:nvSpPr>
          <p:cNvPr id="6" name="Text 4">
            <a:extLst>
              <a:ext uri="{FF2B5EF4-FFF2-40B4-BE49-F238E27FC236}">
                <a16:creationId xmlns:a16="http://schemas.microsoft.com/office/drawing/2014/main" id="{D3C2816C-BE22-4807-A066-EE40DC62E4BA}"/>
              </a:ext>
            </a:extLst>
          </p:cNvPr>
          <p:cNvSpPr>
            <a:spLocks noGrp="1"/>
          </p:cNvSpPr>
          <p:nvPr/>
        </p:nvSpPr>
        <p:spPr>
          <a:xfrm>
            <a:off x="10561320" y="338328"/>
            <a:ext cx="1005840" cy="274320"/>
          </a:xfrm>
          <a:prstGeom prst="rect">
            <a:avLst/>
          </a:prstGeom>
          <a:noFill/>
        </p:spPr>
        <p:txBody>
          <a:bodyPr wrap="square" lIns="0" tIns="0" rIns="0" bIns="0" anchor="ctr">
            <a:normAutofit/>
          </a:bodyPr>
          <a:lstStyle/>
          <a:p>
            <a:pPr marL="0" indent="0" algn="r">
              <a:buNone/>
            </a:pPr>
            <a:r>
              <a:rPr sz="1400" b="1" dirty="0">
                <a:solidFill>
                  <a:srgbClr val="193F2A"/>
                </a:solidFill>
                <a:latin typeface="Aptos"/>
                <a:ea typeface="Aptos"/>
                <a:cs typeface="Aptos"/>
              </a:rPr>
              <a:t>FeedBoard</a:t>
            </a:r>
            <a:endParaRPr sz="1400" dirty="0"/>
          </a:p>
        </p:txBody>
      </p:sp>
      <p:sp>
        <p:nvSpPr>
          <p:cNvPr id="7" name="Shape 5">
            <a:extLst>
              <a:ext uri="{FF2B5EF4-FFF2-40B4-BE49-F238E27FC236}">
                <a16:creationId xmlns:a16="http://schemas.microsoft.com/office/drawing/2014/main" id="{936EF8F6-E6F2-4DAF-AE7C-5321855A21E5}"/>
              </a:ext>
            </a:extLst>
          </p:cNvPr>
          <p:cNvSpPr>
            <a:spLocks noGrp="1"/>
          </p:cNvSpPr>
          <p:nvPr/>
        </p:nvSpPr>
        <p:spPr>
          <a:xfrm>
            <a:off x="658368" y="6492240"/>
            <a:ext cx="10844784" cy="0"/>
          </a:xfrm>
          <a:prstGeom prst="line">
            <a:avLst/>
          </a:prstGeom>
          <a:noFill/>
          <a:ln w="11430">
            <a:solidFill>
              <a:srgbClr val="D9E2D9"/>
            </a:solidFill>
            <a:prstDash val="solid"/>
          </a:ln>
        </p:spPr>
        <p:txBody>
          <a:bodyPr/>
          <a:lstStyle/>
          <a:p>
            <a:endParaRPr/>
          </a:p>
        </p:txBody>
      </p:sp>
      <p:sp>
        <p:nvSpPr>
          <p:cNvPr id="8" name="Text 6">
            <a:extLst>
              <a:ext uri="{FF2B5EF4-FFF2-40B4-BE49-F238E27FC236}">
                <a16:creationId xmlns:a16="http://schemas.microsoft.com/office/drawing/2014/main" id="{CCBB8B16-7DCD-427E-BE11-CB47783C22A1}"/>
              </a:ext>
            </a:extLst>
          </p:cNvPr>
          <p:cNvSpPr>
            <a:spLocks noGrp="1"/>
          </p:cNvSpPr>
          <p:nvPr/>
        </p:nvSpPr>
        <p:spPr>
          <a:xfrm>
            <a:off x="667512" y="6556248"/>
            <a:ext cx="4114800" cy="155448"/>
          </a:xfrm>
          <a:prstGeom prst="rect">
            <a:avLst/>
          </a:prstGeom>
          <a:noFill/>
        </p:spPr>
        <p:txBody>
          <a:bodyPr wrap="square" lIns="0" tIns="0" rIns="0" bIns="0" anchor="ctr">
            <a:normAutofit/>
          </a:bodyPr>
          <a:lstStyle/>
          <a:p>
            <a:pPr marL="0" indent="0">
              <a:buNone/>
            </a:pPr>
            <a:r>
              <a:rPr sz="900" b="1" spc="60">
                <a:solidFill>
                  <a:srgbClr val="62736A"/>
                </a:solidFill>
                <a:latin typeface="Aptos"/>
                <a:ea typeface="Aptos"/>
                <a:cs typeface="Aptos"/>
              </a:rPr>
              <a:t>GRAZING + FEED PLANNING</a:t>
            </a:r>
            <a:endParaRPr sz="900"/>
          </a:p>
        </p:txBody>
      </p:sp>
      <p:sp>
        <p:nvSpPr>
          <p:cNvPr id="10" name="Shape 8">
            <a:extLst>
              <a:ext uri="{FF2B5EF4-FFF2-40B4-BE49-F238E27FC236}">
                <a16:creationId xmlns:a16="http://schemas.microsoft.com/office/drawing/2014/main" id="{165450E1-838F-4F7E-8932-80FE5427CD75}"/>
              </a:ext>
            </a:extLst>
          </p:cNvPr>
          <p:cNvSpPr>
            <a:spLocks noGrp="1"/>
          </p:cNvSpPr>
          <p:nvPr/>
        </p:nvSpPr>
        <p:spPr>
          <a:xfrm>
            <a:off x="832104" y="1673352"/>
            <a:ext cx="2880360" cy="4507992"/>
          </a:xfrm>
          <a:prstGeom prst="roundRect">
            <a:avLst>
              <a:gd name="adj" fmla="val 3810"/>
            </a:avLst>
          </a:prstGeom>
          <a:solidFill>
            <a:srgbClr val="FFFFFF"/>
          </a:solidFill>
          <a:ln w="8890">
            <a:solidFill>
              <a:srgbClr val="D9E2D9"/>
            </a:solidFill>
            <a:prstDash val="solid"/>
          </a:ln>
        </p:spPr>
        <p:txBody>
          <a:bodyPr/>
          <a:lstStyle/>
          <a:p>
            <a:endParaRPr/>
          </a:p>
        </p:txBody>
      </p:sp>
      <p:pic>
        <p:nvPicPr>
          <p:cNvPr id="11" name="Image 0">
            <a:extLst>
              <a:ext uri="{FF2B5EF4-FFF2-40B4-BE49-F238E27FC236}">
                <a16:creationId xmlns:a16="http://schemas.microsoft.com/office/drawing/2014/main" id="{E261C42E-B756-4A5E-B89F-A2AD4B00E5CC}"/>
              </a:ext>
            </a:extLst>
          </p:cNvPr>
          <p:cNvPicPr>
            <a:picLocks noChangeAspect="1"/>
          </p:cNvPicPr>
          <p:nvPr/>
        </p:nvPicPr>
        <p:blipFill>
          <a:blip r:embed="rId3"/>
          <a:stretch>
            <a:fillRect/>
          </a:stretch>
        </p:blipFill>
        <p:spPr>
          <a:xfrm>
            <a:off x="922066" y="1737360"/>
            <a:ext cx="2700436" cy="4379976"/>
          </a:xfrm>
          <a:prstGeom prst="rect">
            <a:avLst/>
          </a:prstGeom>
        </p:spPr>
      </p:pic>
      <p:sp>
        <p:nvSpPr>
          <p:cNvPr id="12" name="Shape 9">
            <a:extLst>
              <a:ext uri="{FF2B5EF4-FFF2-40B4-BE49-F238E27FC236}">
                <a16:creationId xmlns:a16="http://schemas.microsoft.com/office/drawing/2014/main" id="{08EC060D-B6F8-461B-8773-6FE0A7155255}"/>
              </a:ext>
            </a:extLst>
          </p:cNvPr>
          <p:cNvSpPr>
            <a:spLocks noGrp="1"/>
          </p:cNvSpPr>
          <p:nvPr/>
        </p:nvSpPr>
        <p:spPr>
          <a:xfrm>
            <a:off x="4288536" y="1837944"/>
            <a:ext cx="6958584" cy="713232"/>
          </a:xfrm>
          <a:prstGeom prst="roundRect">
            <a:avLst>
              <a:gd name="adj" fmla="val 15385"/>
            </a:avLst>
          </a:prstGeom>
          <a:solidFill>
            <a:srgbClr val="EDF3E9"/>
          </a:solidFill>
          <a:ln w="8890">
            <a:solidFill>
              <a:srgbClr val="D9E2D9"/>
            </a:solidFill>
            <a:prstDash val="solid"/>
          </a:ln>
        </p:spPr>
        <p:txBody>
          <a:bodyPr/>
          <a:lstStyle/>
          <a:p>
            <a:endParaRPr dirty="0"/>
          </a:p>
        </p:txBody>
      </p:sp>
      <p:sp>
        <p:nvSpPr>
          <p:cNvPr id="13" name="Text 10">
            <a:extLst>
              <a:ext uri="{FF2B5EF4-FFF2-40B4-BE49-F238E27FC236}">
                <a16:creationId xmlns:a16="http://schemas.microsoft.com/office/drawing/2014/main" id="{033DC94B-E66F-432C-A82A-F9E5D273A2B1}"/>
              </a:ext>
            </a:extLst>
          </p:cNvPr>
          <p:cNvSpPr>
            <a:spLocks noGrp="1"/>
          </p:cNvSpPr>
          <p:nvPr/>
        </p:nvSpPr>
        <p:spPr>
          <a:xfrm>
            <a:off x="4544568" y="1993392"/>
            <a:ext cx="6483096" cy="301752"/>
          </a:xfrm>
          <a:prstGeom prst="rect">
            <a:avLst/>
          </a:prstGeom>
          <a:noFill/>
        </p:spPr>
        <p:txBody>
          <a:bodyPr wrap="square" lIns="0" tIns="0" rIns="0" bIns="0" anchor="ctr">
            <a:normAutofit/>
          </a:bodyPr>
          <a:lstStyle/>
          <a:p>
            <a:pPr marL="0" indent="0">
              <a:buNone/>
            </a:pPr>
            <a:r>
              <a:rPr sz="1700" b="1" dirty="0">
                <a:solidFill>
                  <a:srgbClr val="193F2A"/>
                </a:solidFill>
                <a:latin typeface="Aptos"/>
                <a:ea typeface="Aptos"/>
                <a:cs typeface="Aptos"/>
              </a:rPr>
              <a:t>Routes — </a:t>
            </a:r>
            <a:r>
              <a:rPr lang="en-AU" sz="1700" b="1" dirty="0">
                <a:solidFill>
                  <a:srgbClr val="193F2A"/>
                </a:solidFill>
                <a:latin typeface="Aptos"/>
                <a:ea typeface="Aptos"/>
                <a:cs typeface="Aptos"/>
              </a:rPr>
              <a:t>post, get, patch, put, and delete. </a:t>
            </a:r>
            <a:endParaRPr sz="1700" dirty="0"/>
          </a:p>
        </p:txBody>
      </p:sp>
      <p:sp>
        <p:nvSpPr>
          <p:cNvPr id="14" name="Shape 11">
            <a:extLst>
              <a:ext uri="{FF2B5EF4-FFF2-40B4-BE49-F238E27FC236}">
                <a16:creationId xmlns:a16="http://schemas.microsoft.com/office/drawing/2014/main" id="{A2EBE4D3-3F7B-4DC7-945D-08592B67676B}"/>
              </a:ext>
            </a:extLst>
          </p:cNvPr>
          <p:cNvSpPr>
            <a:spLocks noGrp="1"/>
          </p:cNvSpPr>
          <p:nvPr/>
        </p:nvSpPr>
        <p:spPr>
          <a:xfrm>
            <a:off x="4288536" y="2767069"/>
            <a:ext cx="6958584" cy="713232"/>
          </a:xfrm>
          <a:prstGeom prst="roundRect">
            <a:avLst>
              <a:gd name="adj" fmla="val 15385"/>
            </a:avLst>
          </a:prstGeom>
          <a:solidFill>
            <a:srgbClr val="FFFFFF"/>
          </a:solidFill>
          <a:ln w="8890">
            <a:solidFill>
              <a:srgbClr val="D9E2D9"/>
            </a:solidFill>
            <a:prstDash val="solid"/>
          </a:ln>
        </p:spPr>
        <p:txBody>
          <a:bodyPr/>
          <a:lstStyle/>
          <a:p>
            <a:endParaRPr/>
          </a:p>
        </p:txBody>
      </p:sp>
      <p:sp>
        <p:nvSpPr>
          <p:cNvPr id="15" name="Text 12">
            <a:extLst>
              <a:ext uri="{FF2B5EF4-FFF2-40B4-BE49-F238E27FC236}">
                <a16:creationId xmlns:a16="http://schemas.microsoft.com/office/drawing/2014/main" id="{0F83C844-BCB9-4EA6-9C09-40C5661EE60C}"/>
              </a:ext>
            </a:extLst>
          </p:cNvPr>
          <p:cNvSpPr>
            <a:spLocks noGrp="1"/>
          </p:cNvSpPr>
          <p:nvPr/>
        </p:nvSpPr>
        <p:spPr>
          <a:xfrm>
            <a:off x="4544568" y="2889504"/>
            <a:ext cx="6483096" cy="301752"/>
          </a:xfrm>
          <a:prstGeom prst="rect">
            <a:avLst/>
          </a:prstGeom>
          <a:noFill/>
        </p:spPr>
        <p:txBody>
          <a:bodyPr wrap="square" lIns="0" tIns="0" rIns="0" bIns="0" anchor="ctr">
            <a:normAutofit/>
          </a:bodyPr>
          <a:lstStyle/>
          <a:p>
            <a:pPr marL="0" indent="0">
              <a:buNone/>
            </a:pPr>
            <a:r>
              <a:rPr sz="1700">
                <a:solidFill>
                  <a:srgbClr val="193F2A"/>
                </a:solidFill>
                <a:latin typeface="Aptos"/>
                <a:ea typeface="Aptos"/>
                <a:cs typeface="Aptos"/>
              </a:rPr>
              <a:t>Controllers — handle requests and responses</a:t>
            </a:r>
            <a:endParaRPr sz="1700"/>
          </a:p>
        </p:txBody>
      </p:sp>
      <p:sp>
        <p:nvSpPr>
          <p:cNvPr id="16" name="Shape 13">
            <a:extLst>
              <a:ext uri="{FF2B5EF4-FFF2-40B4-BE49-F238E27FC236}">
                <a16:creationId xmlns:a16="http://schemas.microsoft.com/office/drawing/2014/main" id="{1560A970-88CC-425C-908E-228D834448E5}"/>
              </a:ext>
            </a:extLst>
          </p:cNvPr>
          <p:cNvSpPr>
            <a:spLocks noGrp="1"/>
          </p:cNvSpPr>
          <p:nvPr/>
        </p:nvSpPr>
        <p:spPr>
          <a:xfrm>
            <a:off x="4288536" y="3611880"/>
            <a:ext cx="6958584" cy="713232"/>
          </a:xfrm>
          <a:prstGeom prst="roundRect">
            <a:avLst>
              <a:gd name="adj" fmla="val 15385"/>
            </a:avLst>
          </a:prstGeom>
          <a:solidFill>
            <a:srgbClr val="EDF3E9"/>
          </a:solidFill>
          <a:ln w="8890">
            <a:solidFill>
              <a:srgbClr val="D9E2D9"/>
            </a:solidFill>
            <a:prstDash val="solid"/>
          </a:ln>
        </p:spPr>
        <p:txBody>
          <a:bodyPr/>
          <a:lstStyle/>
          <a:p>
            <a:endParaRPr/>
          </a:p>
        </p:txBody>
      </p:sp>
      <p:sp>
        <p:nvSpPr>
          <p:cNvPr id="17" name="Text 14">
            <a:extLst>
              <a:ext uri="{FF2B5EF4-FFF2-40B4-BE49-F238E27FC236}">
                <a16:creationId xmlns:a16="http://schemas.microsoft.com/office/drawing/2014/main" id="{6D947758-997B-441F-892E-40A5D90CACA8}"/>
              </a:ext>
            </a:extLst>
          </p:cNvPr>
          <p:cNvSpPr>
            <a:spLocks noGrp="1"/>
          </p:cNvSpPr>
          <p:nvPr/>
        </p:nvSpPr>
        <p:spPr>
          <a:xfrm>
            <a:off x="4544568" y="3785616"/>
            <a:ext cx="6483096" cy="301752"/>
          </a:xfrm>
          <a:prstGeom prst="rect">
            <a:avLst/>
          </a:prstGeom>
          <a:noFill/>
        </p:spPr>
        <p:txBody>
          <a:bodyPr wrap="square" lIns="0" tIns="0" rIns="0" bIns="0" anchor="ctr">
            <a:normAutofit/>
          </a:bodyPr>
          <a:lstStyle/>
          <a:p>
            <a:pPr marL="0" indent="0">
              <a:buNone/>
            </a:pPr>
            <a:r>
              <a:rPr sz="1700">
                <a:solidFill>
                  <a:srgbClr val="193F2A"/>
                </a:solidFill>
                <a:latin typeface="Aptos"/>
                <a:ea typeface="Aptos"/>
                <a:cs typeface="Aptos"/>
              </a:rPr>
              <a:t>Models — read and write MySQL records</a:t>
            </a:r>
            <a:endParaRPr sz="1700"/>
          </a:p>
        </p:txBody>
      </p:sp>
      <p:sp>
        <p:nvSpPr>
          <p:cNvPr id="18" name="Shape 15">
            <a:extLst>
              <a:ext uri="{FF2B5EF4-FFF2-40B4-BE49-F238E27FC236}">
                <a16:creationId xmlns:a16="http://schemas.microsoft.com/office/drawing/2014/main" id="{134174C1-29EF-45AF-8C5B-53C5CC290A56}"/>
              </a:ext>
            </a:extLst>
          </p:cNvPr>
          <p:cNvSpPr>
            <a:spLocks noGrp="1"/>
          </p:cNvSpPr>
          <p:nvPr/>
        </p:nvSpPr>
        <p:spPr>
          <a:xfrm>
            <a:off x="4288536" y="4507992"/>
            <a:ext cx="6958584" cy="713232"/>
          </a:xfrm>
          <a:prstGeom prst="roundRect">
            <a:avLst>
              <a:gd name="adj" fmla="val 15385"/>
            </a:avLst>
          </a:prstGeom>
          <a:solidFill>
            <a:srgbClr val="FFFFFF"/>
          </a:solidFill>
          <a:ln w="8890">
            <a:solidFill>
              <a:srgbClr val="D9E2D9"/>
            </a:solidFill>
            <a:prstDash val="solid"/>
          </a:ln>
        </p:spPr>
        <p:txBody>
          <a:bodyPr/>
          <a:lstStyle/>
          <a:p>
            <a:endParaRPr/>
          </a:p>
        </p:txBody>
      </p:sp>
      <p:sp>
        <p:nvSpPr>
          <p:cNvPr id="19" name="Text 16">
            <a:extLst>
              <a:ext uri="{FF2B5EF4-FFF2-40B4-BE49-F238E27FC236}">
                <a16:creationId xmlns:a16="http://schemas.microsoft.com/office/drawing/2014/main" id="{CB49D819-8083-4886-8F14-93E03E41814C}"/>
              </a:ext>
            </a:extLst>
          </p:cNvPr>
          <p:cNvSpPr>
            <a:spLocks noGrp="1"/>
          </p:cNvSpPr>
          <p:nvPr/>
        </p:nvSpPr>
        <p:spPr>
          <a:xfrm>
            <a:off x="4544568" y="4681728"/>
            <a:ext cx="6483096" cy="301752"/>
          </a:xfrm>
          <a:prstGeom prst="rect">
            <a:avLst/>
          </a:prstGeom>
          <a:noFill/>
        </p:spPr>
        <p:txBody>
          <a:bodyPr wrap="square" lIns="0" tIns="0" rIns="0" bIns="0" anchor="ctr">
            <a:normAutofit/>
          </a:bodyPr>
          <a:lstStyle/>
          <a:p>
            <a:pPr marL="0" indent="0">
              <a:buNone/>
            </a:pPr>
            <a:r>
              <a:rPr sz="1700">
                <a:solidFill>
                  <a:srgbClr val="193F2A"/>
                </a:solidFill>
                <a:latin typeface="Aptos"/>
                <a:ea typeface="Aptos"/>
                <a:cs typeface="Aptos"/>
              </a:rPr>
              <a:t>Services + calculations — business rules</a:t>
            </a:r>
            <a:endParaRPr sz="1700"/>
          </a:p>
        </p:txBody>
      </p:sp>
      <p:sp>
        <p:nvSpPr>
          <p:cNvPr id="20" name="Shape 17">
            <a:extLst>
              <a:ext uri="{FF2B5EF4-FFF2-40B4-BE49-F238E27FC236}">
                <a16:creationId xmlns:a16="http://schemas.microsoft.com/office/drawing/2014/main" id="{4E8F86C6-3290-45CC-8FEC-2A6FFEAF73BD}"/>
              </a:ext>
            </a:extLst>
          </p:cNvPr>
          <p:cNvSpPr>
            <a:spLocks noGrp="1"/>
          </p:cNvSpPr>
          <p:nvPr/>
        </p:nvSpPr>
        <p:spPr>
          <a:xfrm>
            <a:off x="4288536" y="5650992"/>
            <a:ext cx="6958584" cy="329184"/>
          </a:xfrm>
          <a:prstGeom prst="roundRect">
            <a:avLst>
              <a:gd name="adj" fmla="val 33333"/>
            </a:avLst>
          </a:prstGeom>
          <a:solidFill>
            <a:srgbClr val="E5ECDD"/>
          </a:solidFill>
          <a:ln w="8890">
            <a:solidFill>
              <a:srgbClr val="E5ECDD"/>
            </a:solidFill>
            <a:prstDash val="solid"/>
          </a:ln>
        </p:spPr>
        <p:txBody>
          <a:bodyPr/>
          <a:lstStyle/>
          <a:p>
            <a:endParaRPr/>
          </a:p>
        </p:txBody>
      </p:sp>
      <p:sp>
        <p:nvSpPr>
          <p:cNvPr id="21" name="Text 18">
            <a:extLst>
              <a:ext uri="{FF2B5EF4-FFF2-40B4-BE49-F238E27FC236}">
                <a16:creationId xmlns:a16="http://schemas.microsoft.com/office/drawing/2014/main" id="{6F50CA0D-54D2-4D94-AF6B-959529CDA50B}"/>
              </a:ext>
            </a:extLst>
          </p:cNvPr>
          <p:cNvSpPr>
            <a:spLocks noGrp="1"/>
          </p:cNvSpPr>
          <p:nvPr/>
        </p:nvSpPr>
        <p:spPr>
          <a:xfrm>
            <a:off x="4361688" y="5687568"/>
            <a:ext cx="6812280" cy="201168"/>
          </a:xfrm>
          <a:prstGeom prst="rect">
            <a:avLst/>
          </a:prstGeom>
          <a:noFill/>
        </p:spPr>
        <p:txBody>
          <a:bodyPr wrap="square" lIns="0" tIns="0" rIns="0" bIns="0" anchor="ctr">
            <a:normAutofit/>
          </a:bodyPr>
          <a:lstStyle/>
          <a:p>
            <a:pPr marL="0" indent="0" algn="ctr">
              <a:buNone/>
            </a:pPr>
            <a:r>
              <a:rPr sz="1300" b="1">
                <a:solidFill>
                  <a:srgbClr val="193F2A"/>
                </a:solidFill>
                <a:latin typeface="Aptos"/>
                <a:ea typeface="Aptos"/>
                <a:cs typeface="Aptos"/>
              </a:rPr>
              <a:t>Middleware: authentication, validation and safe error handling</a:t>
            </a:r>
            <a:endParaRPr sz="1300"/>
          </a:p>
        </p:txBody>
      </p:sp>
      <p:sp>
        <p:nvSpPr>
          <p:cNvPr id="22" name="section-label">
            <a:extLst>
              <a:ext uri="{FF2B5EF4-FFF2-40B4-BE49-F238E27FC236}">
                <a16:creationId xmlns:a16="http://schemas.microsoft.com/office/drawing/2014/main" id="{96FE55F9-D8CE-482F-A5C4-C0EC057E4594}"/>
              </a:ext>
            </a:extLst>
          </p:cNvPr>
          <p:cNvSpPr>
            <a:spLocks noGrp="1"/>
          </p:cNvSpPr>
          <p:nvPr/>
        </p:nvSpPr>
        <p:spPr>
          <a:xfrm>
            <a:off x="658368" y="342900"/>
            <a:ext cx="8382000" cy="228600"/>
          </a:xfrm>
          <a:prstGeom prst="rect">
            <a:avLst/>
          </a:prstGeom>
          <a:noFill/>
          <a:ln w="0">
            <a:noFill/>
          </a:ln>
        </p:spPr>
        <p:txBody>
          <a:bodyPr wrap="square" lIns="0" tIns="0" rIns="0" bIns="0" anchor="t">
            <a:noAutofit/>
          </a:bodyPr>
          <a:lstStyle>
            <a:defPPr algn="l">
              <a:defRPr sz="1100" b="1">
                <a:solidFill>
                  <a:srgbClr val="2D7040"/>
                </a:solidFill>
                <a:latin typeface="Aptos"/>
                <a:ea typeface="Aptos"/>
                <a:cs typeface="Aptos"/>
              </a:defRPr>
            </a:defPPr>
          </a:lstStyle>
          <a:p>
            <a:pPr algn="l">
              <a:defRPr sz="1100" b="1">
                <a:solidFill>
                  <a:srgbClr val="2D7040"/>
                </a:solidFill>
                <a:latin typeface="Aptos"/>
                <a:ea typeface="Aptos"/>
                <a:cs typeface="Aptos"/>
              </a:defRPr>
            </a:pPr>
            <a:r>
              <a:rPr sz="1100" b="1" dirty="0">
                <a:solidFill>
                  <a:srgbClr val="2D7040"/>
                </a:solidFill>
                <a:latin typeface="Aptos"/>
                <a:ea typeface="Aptos"/>
                <a:cs typeface="Aptos"/>
              </a:rPr>
              <a:t>03 / DELIVERY </a:t>
            </a:r>
            <a:r>
              <a:rPr lang="en-NZ" sz="1100" b="1" dirty="0">
                <a:solidFill>
                  <a:srgbClr val="2D7040"/>
                </a:solidFill>
                <a:latin typeface="Aptos"/>
                <a:ea typeface="Aptos"/>
                <a:cs typeface="Aptos"/>
              </a:rPr>
              <a:t>–</a:t>
            </a:r>
            <a:r>
              <a:rPr sz="1100" b="1" dirty="0">
                <a:solidFill>
                  <a:srgbClr val="2D7040"/>
                </a:solidFill>
                <a:latin typeface="Aptos"/>
                <a:ea typeface="Aptos"/>
                <a:cs typeface="Aptos"/>
              </a:rPr>
              <a:t> </a:t>
            </a:r>
            <a:r>
              <a:rPr lang="en-AU" sz="1100" b="1" dirty="0">
                <a:solidFill>
                  <a:srgbClr val="2D7040"/>
                </a:solidFill>
                <a:latin typeface="Aptos"/>
                <a:ea typeface="Aptos"/>
                <a:cs typeface="Aptos"/>
              </a:rPr>
              <a:t>Backend </a:t>
            </a:r>
            <a:endParaRPr sz="1100" b="1" dirty="0">
              <a:solidFill>
                <a:srgbClr val="2D7040"/>
              </a:solidFill>
              <a:latin typeface="Aptos"/>
              <a:ea typeface="Aptos"/>
              <a:cs typeface="Aptos"/>
            </a:endParaRPr>
          </a:p>
        </p:txBody>
      </p:sp>
    </p:spTree>
    <p:extLst>
      <p:ext uri="{BB962C8B-B14F-4D97-AF65-F5344CB8AC3E}">
        <p14:creationId xmlns:p14="http://schemas.microsoft.com/office/powerpoint/2010/main" val="1601262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8F4"/>
        </a:solidFill>
        <a:effectLst/>
      </p:bgPr>
    </p:bg>
    <p:spTree>
      <p:nvGrpSpPr>
        <p:cNvPr id="1" name="">
          <a:extLst>
            <a:ext uri="{FF2B5EF4-FFF2-40B4-BE49-F238E27FC236}">
              <a16:creationId xmlns:a16="http://schemas.microsoft.com/office/drawing/2014/main" id="{4F92290E-4EA3-CD6D-CEB9-2B7F52EBDC5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4C9548D-195F-154A-74B1-266901C100BE}"/>
              </a:ext>
            </a:extLst>
          </p:cNvPr>
          <p:cNvSpPr>
            <a:spLocks noGrp="1"/>
          </p:cNvSpPr>
          <p:nvPr/>
        </p:nvSpPr>
        <p:spPr>
          <a:xfrm>
            <a:off x="0" y="0"/>
            <a:ext cx="105156" cy="6858000"/>
          </a:xfrm>
          <a:prstGeom prst="rect">
            <a:avLst/>
          </a:prstGeom>
          <a:solidFill>
            <a:srgbClr val="2D7040"/>
          </a:solidFill>
          <a:ln w="12700">
            <a:solidFill>
              <a:srgbClr val="2D7040">
                <a:alpha val="0"/>
              </a:srgbClr>
            </a:solidFill>
            <a:prstDash val="solid"/>
          </a:ln>
        </p:spPr>
        <p:txBody>
          <a:bodyPr/>
          <a:lstStyle/>
          <a:p>
            <a:endParaRPr/>
          </a:p>
        </p:txBody>
      </p:sp>
      <p:sp>
        <p:nvSpPr>
          <p:cNvPr id="6" name="Text 4">
            <a:extLst>
              <a:ext uri="{FF2B5EF4-FFF2-40B4-BE49-F238E27FC236}">
                <a16:creationId xmlns:a16="http://schemas.microsoft.com/office/drawing/2014/main" id="{F2C00C2C-1C7B-532C-0840-74A1B13210A2}"/>
              </a:ext>
            </a:extLst>
          </p:cNvPr>
          <p:cNvSpPr>
            <a:spLocks noGrp="1"/>
          </p:cNvSpPr>
          <p:nvPr/>
        </p:nvSpPr>
        <p:spPr>
          <a:xfrm>
            <a:off x="10561320" y="338328"/>
            <a:ext cx="1005840" cy="274320"/>
          </a:xfrm>
          <a:prstGeom prst="rect">
            <a:avLst/>
          </a:prstGeom>
          <a:noFill/>
        </p:spPr>
        <p:txBody>
          <a:bodyPr wrap="square" lIns="0" tIns="0" rIns="0" bIns="0" anchor="ctr">
            <a:normAutofit/>
          </a:bodyPr>
          <a:lstStyle/>
          <a:p>
            <a:pPr marL="0" indent="0" algn="r">
              <a:buNone/>
            </a:pPr>
            <a:r>
              <a:rPr sz="1400" b="1" dirty="0">
                <a:solidFill>
                  <a:srgbClr val="193F2A"/>
                </a:solidFill>
                <a:latin typeface="Aptos"/>
                <a:ea typeface="Aptos"/>
                <a:cs typeface="Aptos"/>
              </a:rPr>
              <a:t>FeedBoard</a:t>
            </a:r>
            <a:endParaRPr sz="1400" dirty="0"/>
          </a:p>
        </p:txBody>
      </p:sp>
      <p:sp>
        <p:nvSpPr>
          <p:cNvPr id="7" name="Shape 5">
            <a:extLst>
              <a:ext uri="{FF2B5EF4-FFF2-40B4-BE49-F238E27FC236}">
                <a16:creationId xmlns:a16="http://schemas.microsoft.com/office/drawing/2014/main" id="{BC2E1D34-0D27-314A-F0A9-9F54B654F541}"/>
              </a:ext>
            </a:extLst>
          </p:cNvPr>
          <p:cNvSpPr>
            <a:spLocks noGrp="1"/>
          </p:cNvSpPr>
          <p:nvPr/>
        </p:nvSpPr>
        <p:spPr>
          <a:xfrm>
            <a:off x="658368" y="6492240"/>
            <a:ext cx="10844784" cy="0"/>
          </a:xfrm>
          <a:prstGeom prst="line">
            <a:avLst/>
          </a:prstGeom>
          <a:noFill/>
          <a:ln w="11430">
            <a:solidFill>
              <a:srgbClr val="D9E2D9"/>
            </a:solidFill>
            <a:prstDash val="solid"/>
          </a:ln>
        </p:spPr>
        <p:txBody>
          <a:bodyPr/>
          <a:lstStyle/>
          <a:p>
            <a:endParaRPr/>
          </a:p>
        </p:txBody>
      </p:sp>
      <p:sp>
        <p:nvSpPr>
          <p:cNvPr id="8" name="Text 6">
            <a:extLst>
              <a:ext uri="{FF2B5EF4-FFF2-40B4-BE49-F238E27FC236}">
                <a16:creationId xmlns:a16="http://schemas.microsoft.com/office/drawing/2014/main" id="{A930F5AE-ABDA-5C8A-8AC4-FDE33327CC6D}"/>
              </a:ext>
            </a:extLst>
          </p:cNvPr>
          <p:cNvSpPr>
            <a:spLocks noGrp="1"/>
          </p:cNvSpPr>
          <p:nvPr/>
        </p:nvSpPr>
        <p:spPr>
          <a:xfrm>
            <a:off x="667512" y="6556248"/>
            <a:ext cx="4114800" cy="155448"/>
          </a:xfrm>
          <a:prstGeom prst="rect">
            <a:avLst/>
          </a:prstGeom>
          <a:noFill/>
        </p:spPr>
        <p:txBody>
          <a:bodyPr wrap="square" lIns="0" tIns="0" rIns="0" bIns="0" anchor="ctr">
            <a:normAutofit/>
          </a:bodyPr>
          <a:lstStyle/>
          <a:p>
            <a:pPr marL="0" indent="0">
              <a:buNone/>
            </a:pPr>
            <a:r>
              <a:rPr sz="900" b="1" spc="60">
                <a:solidFill>
                  <a:srgbClr val="62736A"/>
                </a:solidFill>
                <a:latin typeface="Aptos"/>
                <a:ea typeface="Aptos"/>
                <a:cs typeface="Aptos"/>
              </a:rPr>
              <a:t>GRAZING + FEED PLANNING</a:t>
            </a:r>
            <a:endParaRPr sz="900"/>
          </a:p>
        </p:txBody>
      </p:sp>
      <p:sp>
        <p:nvSpPr>
          <p:cNvPr id="9" name="title">
            <a:extLst>
              <a:ext uri="{FF2B5EF4-FFF2-40B4-BE49-F238E27FC236}">
                <a16:creationId xmlns:a16="http://schemas.microsoft.com/office/drawing/2014/main" id="{B4719F50-0473-7592-B7BD-046A2CFA2F5D}"/>
              </a:ext>
            </a:extLst>
          </p:cNvPr>
          <p:cNvSpPr>
            <a:spLocks noGrp="1"/>
          </p:cNvSpPr>
          <p:nvPr/>
        </p:nvSpPr>
        <p:spPr>
          <a:xfrm>
            <a:off x="658368" y="771525"/>
            <a:ext cx="10810875" cy="561975"/>
          </a:xfrm>
          <a:prstGeom prst="rect">
            <a:avLst/>
          </a:prstGeom>
          <a:noFill/>
          <a:ln w="0">
            <a:noFill/>
          </a:ln>
        </p:spPr>
        <p:txBody>
          <a:bodyPr wrap="square" lIns="0" tIns="0" rIns="0" bIns="0" anchor="t">
            <a:noAutofit/>
          </a:bodyPr>
          <a:lstStyle>
            <a:defPPr algn="l">
              <a:defRPr sz="3000" b="1">
                <a:solidFill>
                  <a:srgbClr val="193F2A"/>
                </a:solidFill>
                <a:latin typeface="Aptos"/>
                <a:ea typeface="Aptos"/>
                <a:cs typeface="Aptos"/>
              </a:defRPr>
            </a:defPPr>
          </a:lstStyle>
          <a:p>
            <a:r>
              <a:rPr lang="en-AU" dirty="0"/>
              <a:t>Highlighted features</a:t>
            </a:r>
            <a:endParaRPr dirty="0"/>
          </a:p>
        </p:txBody>
      </p:sp>
      <p:sp>
        <p:nvSpPr>
          <p:cNvPr id="17" name="subtitle">
            <a:extLst>
              <a:ext uri="{FF2B5EF4-FFF2-40B4-BE49-F238E27FC236}">
                <a16:creationId xmlns:a16="http://schemas.microsoft.com/office/drawing/2014/main" id="{BBEF1718-126D-AA32-F4DC-25E43668DD67}"/>
              </a:ext>
            </a:extLst>
          </p:cNvPr>
          <p:cNvSpPr>
            <a:spLocks noGrp="1"/>
          </p:cNvSpPr>
          <p:nvPr/>
        </p:nvSpPr>
        <p:spPr>
          <a:xfrm>
            <a:off x="676656" y="1409700"/>
            <a:ext cx="10420350" cy="314325"/>
          </a:xfrm>
          <a:prstGeom prst="rect">
            <a:avLst/>
          </a:prstGeom>
          <a:noFill/>
          <a:ln w="0">
            <a:noFill/>
          </a:ln>
        </p:spPr>
        <p:txBody>
          <a:bodyPr wrap="square" lIns="0" tIns="0" rIns="0" bIns="0" anchor="t">
            <a:noAutofit/>
          </a:bodyPr>
          <a:lstStyle>
            <a:defPPr algn="l">
              <a:defRPr sz="1400" b="0">
                <a:solidFill>
                  <a:srgbClr val="62736A"/>
                </a:solidFill>
                <a:latin typeface="Aptos"/>
                <a:ea typeface="Aptos"/>
                <a:cs typeface="Aptos"/>
              </a:defRPr>
            </a:defPPr>
          </a:lstStyle>
          <a:p>
            <a:r>
              <a:rPr dirty="0"/>
              <a:t>How FeedBoard makes farm planning quicker to update</a:t>
            </a:r>
          </a:p>
        </p:txBody>
      </p:sp>
      <p:sp>
        <p:nvSpPr>
          <p:cNvPr id="24" name="feature-card">
            <a:extLst>
              <a:ext uri="{FF2B5EF4-FFF2-40B4-BE49-F238E27FC236}">
                <a16:creationId xmlns:a16="http://schemas.microsoft.com/office/drawing/2014/main" id="{526F8122-6F0F-63D7-C502-2E36AECCD661}"/>
              </a:ext>
            </a:extLst>
          </p:cNvPr>
          <p:cNvSpPr/>
          <p:nvPr/>
        </p:nvSpPr>
        <p:spPr>
          <a:xfrm>
            <a:off x="749808" y="1956816"/>
            <a:ext cx="5266944" cy="1088136"/>
          </a:xfrm>
          <a:prstGeom prst="roundRect">
            <a:avLst/>
          </a:prstGeom>
          <a:solidFill>
            <a:srgbClr val="F7F9F4"/>
          </a:solidFill>
          <a:ln w="10160">
            <a:solidFill>
              <a:srgbClr val="DAE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a:extLst>
              <a:ext uri="{FF2B5EF4-FFF2-40B4-BE49-F238E27FC236}">
                <a16:creationId xmlns:a16="http://schemas.microsoft.com/office/drawing/2014/main" id="{71E631B7-015C-3A29-2D18-B05D82FA38BA}"/>
              </a:ext>
            </a:extLst>
          </p:cNvPr>
          <p:cNvSpPr/>
          <p:nvPr/>
        </p:nvSpPr>
        <p:spPr>
          <a:xfrm>
            <a:off x="941832" y="2167128"/>
            <a:ext cx="41148" cy="667512"/>
          </a:xfrm>
          <a:prstGeom prst="rect">
            <a:avLst/>
          </a:prstGeom>
          <a:solidFill>
            <a:srgbClr val="2D7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8869BF3B-DA5E-3E8F-06E8-3E89294B4D8C}"/>
              </a:ext>
            </a:extLst>
          </p:cNvPr>
          <p:cNvSpPr txBox="1"/>
          <p:nvPr/>
        </p:nvSpPr>
        <p:spPr>
          <a:xfrm>
            <a:off x="1143000" y="2093976"/>
            <a:ext cx="4645152" cy="320040"/>
          </a:xfrm>
          <a:prstGeom prst="rect">
            <a:avLst/>
          </a:prstGeom>
          <a:noFill/>
        </p:spPr>
        <p:txBody>
          <a:bodyPr wrap="square" lIns="0" tIns="0" rIns="0" bIns="0" anchor="ctr">
            <a:spAutoFit/>
          </a:bodyPr>
          <a:lstStyle/>
          <a:p>
            <a:pPr algn="l">
              <a:spcBef>
                <a:spcPts val="0"/>
              </a:spcBef>
              <a:spcAft>
                <a:spcPts val="0"/>
              </a:spcAft>
            </a:pPr>
            <a:r>
              <a:rPr sz="1710" b="1">
                <a:solidFill>
                  <a:srgbClr val="193F2A"/>
                </a:solidFill>
                <a:latin typeface="Aptos"/>
              </a:rPr>
              <a:t>Paddock importer</a:t>
            </a:r>
          </a:p>
        </p:txBody>
      </p:sp>
      <p:sp>
        <p:nvSpPr>
          <p:cNvPr id="29" name="TextBox 28">
            <a:extLst>
              <a:ext uri="{FF2B5EF4-FFF2-40B4-BE49-F238E27FC236}">
                <a16:creationId xmlns:a16="http://schemas.microsoft.com/office/drawing/2014/main" id="{82147623-7C1C-7D81-9FCB-7D4F7D1D09DA}"/>
              </a:ext>
            </a:extLst>
          </p:cNvPr>
          <p:cNvSpPr txBox="1"/>
          <p:nvPr/>
        </p:nvSpPr>
        <p:spPr>
          <a:xfrm>
            <a:off x="1152144" y="2600919"/>
            <a:ext cx="4636008" cy="195438"/>
          </a:xfrm>
          <a:prstGeom prst="rect">
            <a:avLst/>
          </a:prstGeom>
          <a:noFill/>
        </p:spPr>
        <p:txBody>
          <a:bodyPr wrap="square" lIns="0" tIns="0" rIns="0" bIns="0" anchor="ctr">
            <a:spAutoFit/>
          </a:bodyPr>
          <a:lstStyle/>
          <a:p>
            <a:pPr algn="l">
              <a:spcBef>
                <a:spcPts val="0"/>
              </a:spcBef>
              <a:spcAft>
                <a:spcPts val="0"/>
              </a:spcAft>
            </a:pPr>
            <a:r>
              <a:rPr lang="en-AU" sz="1270" b="0" dirty="0">
                <a:solidFill>
                  <a:srgbClr val="4F6357"/>
                </a:solidFill>
                <a:latin typeface="Aptos"/>
              </a:rPr>
              <a:t>Custom JavaScript parser, prevents manual inputting</a:t>
            </a:r>
            <a:endParaRPr sz="1270" b="0" dirty="0">
              <a:solidFill>
                <a:srgbClr val="4F6357"/>
              </a:solidFill>
              <a:latin typeface="Aptos"/>
            </a:endParaRPr>
          </a:p>
        </p:txBody>
      </p:sp>
      <p:sp>
        <p:nvSpPr>
          <p:cNvPr id="30" name="feature-card">
            <a:extLst>
              <a:ext uri="{FF2B5EF4-FFF2-40B4-BE49-F238E27FC236}">
                <a16:creationId xmlns:a16="http://schemas.microsoft.com/office/drawing/2014/main" id="{0601DF7C-F2E3-BEFC-C914-443625A3664B}"/>
              </a:ext>
            </a:extLst>
          </p:cNvPr>
          <p:cNvSpPr/>
          <p:nvPr/>
        </p:nvSpPr>
        <p:spPr>
          <a:xfrm>
            <a:off x="6172200" y="1956816"/>
            <a:ext cx="5266944" cy="1088136"/>
          </a:xfrm>
          <a:prstGeom prst="roundRect">
            <a:avLst/>
          </a:prstGeom>
          <a:solidFill>
            <a:srgbClr val="F7F9F4"/>
          </a:solidFill>
          <a:ln w="10160">
            <a:solidFill>
              <a:srgbClr val="DAE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9593572A-3898-3D6D-EDA7-E89CF2E928E5}"/>
              </a:ext>
            </a:extLst>
          </p:cNvPr>
          <p:cNvSpPr/>
          <p:nvPr/>
        </p:nvSpPr>
        <p:spPr>
          <a:xfrm>
            <a:off x="6364224" y="2167128"/>
            <a:ext cx="41148" cy="667512"/>
          </a:xfrm>
          <a:prstGeom prst="rect">
            <a:avLst/>
          </a:prstGeom>
          <a:solidFill>
            <a:srgbClr val="2D7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0C903C02-6F82-0831-F58D-6AE16AC40294}"/>
              </a:ext>
            </a:extLst>
          </p:cNvPr>
          <p:cNvSpPr txBox="1"/>
          <p:nvPr/>
        </p:nvSpPr>
        <p:spPr>
          <a:xfrm>
            <a:off x="6565392" y="2122421"/>
            <a:ext cx="4645152" cy="263149"/>
          </a:xfrm>
          <a:prstGeom prst="rect">
            <a:avLst/>
          </a:prstGeom>
          <a:noFill/>
        </p:spPr>
        <p:txBody>
          <a:bodyPr wrap="square" lIns="0" tIns="0" rIns="0" bIns="0" anchor="ctr">
            <a:spAutoFit/>
          </a:bodyPr>
          <a:lstStyle/>
          <a:p>
            <a:pPr algn="l">
              <a:spcBef>
                <a:spcPts val="0"/>
              </a:spcBef>
              <a:spcAft>
                <a:spcPts val="0"/>
              </a:spcAft>
            </a:pPr>
            <a:r>
              <a:rPr lang="en-AU" sz="1710" b="1" dirty="0">
                <a:solidFill>
                  <a:srgbClr val="193F2A"/>
                </a:solidFill>
                <a:latin typeface="Aptos"/>
              </a:rPr>
              <a:t>Calculations</a:t>
            </a:r>
            <a:endParaRPr sz="1710" b="1" dirty="0">
              <a:solidFill>
                <a:srgbClr val="193F2A"/>
              </a:solidFill>
              <a:latin typeface="Aptos"/>
            </a:endParaRPr>
          </a:p>
        </p:txBody>
      </p:sp>
      <p:sp>
        <p:nvSpPr>
          <p:cNvPr id="36" name="TextBox 35">
            <a:extLst>
              <a:ext uri="{FF2B5EF4-FFF2-40B4-BE49-F238E27FC236}">
                <a16:creationId xmlns:a16="http://schemas.microsoft.com/office/drawing/2014/main" id="{A01301A0-DCA2-AF0D-5C94-3FA3B2500A5E}"/>
              </a:ext>
            </a:extLst>
          </p:cNvPr>
          <p:cNvSpPr txBox="1"/>
          <p:nvPr/>
        </p:nvSpPr>
        <p:spPr>
          <a:xfrm>
            <a:off x="6565392" y="2586044"/>
            <a:ext cx="4636008" cy="195438"/>
          </a:xfrm>
          <a:prstGeom prst="rect">
            <a:avLst/>
          </a:prstGeom>
          <a:noFill/>
        </p:spPr>
        <p:txBody>
          <a:bodyPr wrap="square" lIns="0" tIns="0" rIns="0" bIns="0" anchor="ctr">
            <a:spAutoFit/>
          </a:bodyPr>
          <a:lstStyle/>
          <a:p>
            <a:pPr algn="l">
              <a:spcBef>
                <a:spcPts val="0"/>
              </a:spcBef>
              <a:spcAft>
                <a:spcPts val="0"/>
              </a:spcAft>
            </a:pPr>
            <a:r>
              <a:rPr lang="en-AU" sz="1270" b="0" dirty="0">
                <a:solidFill>
                  <a:srgbClr val="4F6357"/>
                </a:solidFill>
                <a:latin typeface="Aptos"/>
              </a:rPr>
              <a:t>Shows 6 main feed calculations</a:t>
            </a:r>
            <a:r>
              <a:rPr sz="1270" b="0" dirty="0">
                <a:solidFill>
                  <a:srgbClr val="4F6357"/>
                </a:solidFill>
                <a:latin typeface="Aptos"/>
              </a:rPr>
              <a:t>.</a:t>
            </a:r>
          </a:p>
        </p:txBody>
      </p:sp>
      <p:sp>
        <p:nvSpPr>
          <p:cNvPr id="37" name="feature-card">
            <a:extLst>
              <a:ext uri="{FF2B5EF4-FFF2-40B4-BE49-F238E27FC236}">
                <a16:creationId xmlns:a16="http://schemas.microsoft.com/office/drawing/2014/main" id="{2570647B-206E-CA29-2E81-E37BBA9BD537}"/>
              </a:ext>
            </a:extLst>
          </p:cNvPr>
          <p:cNvSpPr/>
          <p:nvPr/>
        </p:nvSpPr>
        <p:spPr>
          <a:xfrm>
            <a:off x="749808" y="3218688"/>
            <a:ext cx="5266944" cy="1088136"/>
          </a:xfrm>
          <a:prstGeom prst="roundRect">
            <a:avLst/>
          </a:prstGeom>
          <a:solidFill>
            <a:srgbClr val="F7F9F4"/>
          </a:solidFill>
          <a:ln w="10160">
            <a:solidFill>
              <a:srgbClr val="DAE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a:extLst>
              <a:ext uri="{FF2B5EF4-FFF2-40B4-BE49-F238E27FC236}">
                <a16:creationId xmlns:a16="http://schemas.microsoft.com/office/drawing/2014/main" id="{5D99A48B-A4FA-EC10-FE05-67A389C7C982}"/>
              </a:ext>
            </a:extLst>
          </p:cNvPr>
          <p:cNvSpPr/>
          <p:nvPr/>
        </p:nvSpPr>
        <p:spPr>
          <a:xfrm>
            <a:off x="941832" y="3429000"/>
            <a:ext cx="41148" cy="667512"/>
          </a:xfrm>
          <a:prstGeom prst="rect">
            <a:avLst/>
          </a:prstGeom>
          <a:solidFill>
            <a:srgbClr val="2D7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FFA18C9E-C9BC-BB2F-2A23-81E091C57467}"/>
              </a:ext>
            </a:extLst>
          </p:cNvPr>
          <p:cNvSpPr txBox="1"/>
          <p:nvPr/>
        </p:nvSpPr>
        <p:spPr>
          <a:xfrm>
            <a:off x="1143000" y="3355848"/>
            <a:ext cx="4645152" cy="320040"/>
          </a:xfrm>
          <a:prstGeom prst="rect">
            <a:avLst/>
          </a:prstGeom>
          <a:noFill/>
        </p:spPr>
        <p:txBody>
          <a:bodyPr wrap="square" lIns="0" tIns="0" rIns="0" bIns="0" anchor="ctr">
            <a:spAutoFit/>
          </a:bodyPr>
          <a:lstStyle/>
          <a:p>
            <a:pPr algn="l">
              <a:spcBef>
                <a:spcPts val="0"/>
              </a:spcBef>
              <a:spcAft>
                <a:spcPts val="0"/>
              </a:spcAft>
            </a:pPr>
            <a:r>
              <a:rPr sz="1710" b="1">
                <a:solidFill>
                  <a:srgbClr val="193F2A"/>
                </a:solidFill>
                <a:latin typeface="Aptos"/>
              </a:rPr>
              <a:t>Autosave and browser drafts</a:t>
            </a:r>
          </a:p>
        </p:txBody>
      </p:sp>
      <p:sp>
        <p:nvSpPr>
          <p:cNvPr id="40" name="TextBox 39">
            <a:extLst>
              <a:ext uri="{FF2B5EF4-FFF2-40B4-BE49-F238E27FC236}">
                <a16:creationId xmlns:a16="http://schemas.microsoft.com/office/drawing/2014/main" id="{DCA89635-E7EF-6E00-5D64-50BB1F999E96}"/>
              </a:ext>
            </a:extLst>
          </p:cNvPr>
          <p:cNvSpPr txBox="1"/>
          <p:nvPr/>
        </p:nvSpPr>
        <p:spPr>
          <a:xfrm>
            <a:off x="1062228" y="3847916"/>
            <a:ext cx="5064252" cy="195437"/>
          </a:xfrm>
          <a:prstGeom prst="rect">
            <a:avLst/>
          </a:prstGeom>
          <a:noFill/>
        </p:spPr>
        <p:txBody>
          <a:bodyPr wrap="square" lIns="0" tIns="0" rIns="0" bIns="0" anchor="ctr">
            <a:spAutoFit/>
          </a:bodyPr>
          <a:lstStyle/>
          <a:p>
            <a:pPr algn="l">
              <a:spcBef>
                <a:spcPts val="0"/>
              </a:spcBef>
              <a:spcAft>
                <a:spcPts val="0"/>
              </a:spcAft>
            </a:pPr>
            <a:r>
              <a:rPr lang="en-AU" sz="1270" b="0" dirty="0">
                <a:solidFill>
                  <a:srgbClr val="4F6357"/>
                </a:solidFill>
                <a:latin typeface="Aptos"/>
              </a:rPr>
              <a:t>Saves locally and automatically, uses custom react hook &amp; services</a:t>
            </a:r>
            <a:endParaRPr sz="1270" b="0" dirty="0">
              <a:solidFill>
                <a:srgbClr val="4F6357"/>
              </a:solidFill>
              <a:latin typeface="Aptos"/>
            </a:endParaRPr>
          </a:p>
        </p:txBody>
      </p:sp>
      <p:sp>
        <p:nvSpPr>
          <p:cNvPr id="41" name="feature-card">
            <a:extLst>
              <a:ext uri="{FF2B5EF4-FFF2-40B4-BE49-F238E27FC236}">
                <a16:creationId xmlns:a16="http://schemas.microsoft.com/office/drawing/2014/main" id="{66671BFD-75D3-1798-C1BA-A44D11F3D747}"/>
              </a:ext>
            </a:extLst>
          </p:cNvPr>
          <p:cNvSpPr/>
          <p:nvPr/>
        </p:nvSpPr>
        <p:spPr>
          <a:xfrm>
            <a:off x="6172200" y="3218688"/>
            <a:ext cx="5266944" cy="1088136"/>
          </a:xfrm>
          <a:prstGeom prst="roundRect">
            <a:avLst/>
          </a:prstGeom>
          <a:solidFill>
            <a:srgbClr val="F7F9F4"/>
          </a:solidFill>
          <a:ln w="10160">
            <a:solidFill>
              <a:srgbClr val="DAE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a:extLst>
              <a:ext uri="{FF2B5EF4-FFF2-40B4-BE49-F238E27FC236}">
                <a16:creationId xmlns:a16="http://schemas.microsoft.com/office/drawing/2014/main" id="{867625E6-3099-45EE-59FE-8C85F7EF0319}"/>
              </a:ext>
            </a:extLst>
          </p:cNvPr>
          <p:cNvSpPr/>
          <p:nvPr/>
        </p:nvSpPr>
        <p:spPr>
          <a:xfrm>
            <a:off x="6364224" y="3429000"/>
            <a:ext cx="41148" cy="667512"/>
          </a:xfrm>
          <a:prstGeom prst="rect">
            <a:avLst/>
          </a:prstGeom>
          <a:solidFill>
            <a:srgbClr val="2D7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a:extLst>
              <a:ext uri="{FF2B5EF4-FFF2-40B4-BE49-F238E27FC236}">
                <a16:creationId xmlns:a16="http://schemas.microsoft.com/office/drawing/2014/main" id="{97EDB016-5197-31D9-58FB-D3BEC821E571}"/>
              </a:ext>
            </a:extLst>
          </p:cNvPr>
          <p:cNvSpPr txBox="1"/>
          <p:nvPr/>
        </p:nvSpPr>
        <p:spPr>
          <a:xfrm>
            <a:off x="6565392" y="3355848"/>
            <a:ext cx="4645152" cy="320040"/>
          </a:xfrm>
          <a:prstGeom prst="rect">
            <a:avLst/>
          </a:prstGeom>
          <a:noFill/>
        </p:spPr>
        <p:txBody>
          <a:bodyPr wrap="square" lIns="0" tIns="0" rIns="0" bIns="0" anchor="ctr">
            <a:spAutoFit/>
          </a:bodyPr>
          <a:lstStyle/>
          <a:p>
            <a:pPr algn="l">
              <a:spcBef>
                <a:spcPts val="0"/>
              </a:spcBef>
              <a:spcAft>
                <a:spcPts val="0"/>
              </a:spcAft>
            </a:pPr>
            <a:r>
              <a:rPr sz="1710" b="1">
                <a:solidFill>
                  <a:srgbClr val="193F2A"/>
                </a:solidFill>
                <a:latin typeface="Aptos"/>
              </a:rPr>
              <a:t>Feed and crop calculations</a:t>
            </a:r>
          </a:p>
        </p:txBody>
      </p:sp>
      <p:sp>
        <p:nvSpPr>
          <p:cNvPr id="44" name="TextBox 43">
            <a:extLst>
              <a:ext uri="{FF2B5EF4-FFF2-40B4-BE49-F238E27FC236}">
                <a16:creationId xmlns:a16="http://schemas.microsoft.com/office/drawing/2014/main" id="{2812CEF4-C666-BD0A-D86C-F66FDC7E83CE}"/>
              </a:ext>
            </a:extLst>
          </p:cNvPr>
          <p:cNvSpPr txBox="1"/>
          <p:nvPr/>
        </p:nvSpPr>
        <p:spPr>
          <a:xfrm>
            <a:off x="6565392" y="3685032"/>
            <a:ext cx="4636008" cy="521207"/>
          </a:xfrm>
          <a:prstGeom prst="rect">
            <a:avLst/>
          </a:prstGeom>
          <a:noFill/>
        </p:spPr>
        <p:txBody>
          <a:bodyPr wrap="square" lIns="0" tIns="0" rIns="0" bIns="0" anchor="ctr">
            <a:spAutoFit/>
          </a:bodyPr>
          <a:lstStyle/>
          <a:p>
            <a:pPr algn="l">
              <a:spcBef>
                <a:spcPts val="0"/>
              </a:spcBef>
              <a:spcAft>
                <a:spcPts val="0"/>
              </a:spcAft>
            </a:pPr>
            <a:r>
              <a:rPr sz="1270" b="0">
                <a:solidFill>
                  <a:srgbClr val="4F6357"/>
                </a:solidFill>
                <a:latin typeface="Aptos"/>
              </a:rPr>
              <a:t>See kgDM per animal and estimated crop finish dates.</a:t>
            </a:r>
          </a:p>
        </p:txBody>
      </p:sp>
      <p:sp>
        <p:nvSpPr>
          <p:cNvPr id="45" name="feature-card">
            <a:extLst>
              <a:ext uri="{FF2B5EF4-FFF2-40B4-BE49-F238E27FC236}">
                <a16:creationId xmlns:a16="http://schemas.microsoft.com/office/drawing/2014/main" id="{84589191-9F8C-DEA8-9251-58C7986B7896}"/>
              </a:ext>
            </a:extLst>
          </p:cNvPr>
          <p:cNvSpPr/>
          <p:nvPr/>
        </p:nvSpPr>
        <p:spPr>
          <a:xfrm>
            <a:off x="749808" y="4480560"/>
            <a:ext cx="5266944" cy="1088136"/>
          </a:xfrm>
          <a:prstGeom prst="roundRect">
            <a:avLst/>
          </a:prstGeom>
          <a:solidFill>
            <a:srgbClr val="F7F9F4"/>
          </a:solidFill>
          <a:ln w="10160">
            <a:solidFill>
              <a:srgbClr val="DAE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a:extLst>
              <a:ext uri="{FF2B5EF4-FFF2-40B4-BE49-F238E27FC236}">
                <a16:creationId xmlns:a16="http://schemas.microsoft.com/office/drawing/2014/main" id="{A64BBAF6-88F1-660C-2678-AB5654A9FA54}"/>
              </a:ext>
            </a:extLst>
          </p:cNvPr>
          <p:cNvSpPr/>
          <p:nvPr/>
        </p:nvSpPr>
        <p:spPr>
          <a:xfrm>
            <a:off x="941832" y="4690872"/>
            <a:ext cx="41148" cy="667512"/>
          </a:xfrm>
          <a:prstGeom prst="rect">
            <a:avLst/>
          </a:prstGeom>
          <a:solidFill>
            <a:srgbClr val="2D7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a:extLst>
              <a:ext uri="{FF2B5EF4-FFF2-40B4-BE49-F238E27FC236}">
                <a16:creationId xmlns:a16="http://schemas.microsoft.com/office/drawing/2014/main" id="{2D77E625-3AF8-E799-F9C1-AE4C5D8E0100}"/>
              </a:ext>
            </a:extLst>
          </p:cNvPr>
          <p:cNvSpPr txBox="1"/>
          <p:nvPr/>
        </p:nvSpPr>
        <p:spPr>
          <a:xfrm>
            <a:off x="1143000" y="4617720"/>
            <a:ext cx="4645152" cy="320040"/>
          </a:xfrm>
          <a:prstGeom prst="rect">
            <a:avLst/>
          </a:prstGeom>
          <a:noFill/>
        </p:spPr>
        <p:txBody>
          <a:bodyPr wrap="square" lIns="0" tIns="0" rIns="0" bIns="0" anchor="ctr">
            <a:spAutoFit/>
          </a:bodyPr>
          <a:lstStyle/>
          <a:p>
            <a:pPr algn="l">
              <a:spcBef>
                <a:spcPts val="0"/>
              </a:spcBef>
              <a:spcAft>
                <a:spcPts val="0"/>
              </a:spcAft>
            </a:pPr>
            <a:r>
              <a:rPr sz="1710" b="1" dirty="0">
                <a:solidFill>
                  <a:srgbClr val="193F2A"/>
                </a:solidFill>
                <a:latin typeface="Aptos"/>
              </a:rPr>
              <a:t>Individual CRUD updates</a:t>
            </a:r>
          </a:p>
        </p:txBody>
      </p:sp>
      <p:sp>
        <p:nvSpPr>
          <p:cNvPr id="48" name="TextBox 47">
            <a:extLst>
              <a:ext uri="{FF2B5EF4-FFF2-40B4-BE49-F238E27FC236}">
                <a16:creationId xmlns:a16="http://schemas.microsoft.com/office/drawing/2014/main" id="{CB86A4D9-34EC-C035-47C6-98386C5C4FEA}"/>
              </a:ext>
            </a:extLst>
          </p:cNvPr>
          <p:cNvSpPr txBox="1"/>
          <p:nvPr/>
        </p:nvSpPr>
        <p:spPr>
          <a:xfrm>
            <a:off x="1143000" y="5109788"/>
            <a:ext cx="4636008" cy="195438"/>
          </a:xfrm>
          <a:prstGeom prst="rect">
            <a:avLst/>
          </a:prstGeom>
          <a:noFill/>
        </p:spPr>
        <p:txBody>
          <a:bodyPr wrap="square" lIns="0" tIns="0" rIns="0" bIns="0" anchor="ctr">
            <a:spAutoFit/>
          </a:bodyPr>
          <a:lstStyle/>
          <a:p>
            <a:pPr algn="l">
              <a:spcBef>
                <a:spcPts val="0"/>
              </a:spcBef>
              <a:spcAft>
                <a:spcPts val="0"/>
              </a:spcAft>
            </a:pPr>
            <a:r>
              <a:rPr lang="en-AU" sz="1270" dirty="0">
                <a:solidFill>
                  <a:srgbClr val="4F6357"/>
                </a:solidFill>
                <a:latin typeface="Aptos"/>
              </a:rPr>
              <a:t>Updates individual records, linked to seven</a:t>
            </a:r>
            <a:r>
              <a:rPr lang="en-AU" sz="1270" b="0" dirty="0">
                <a:solidFill>
                  <a:srgbClr val="4F6357"/>
                </a:solidFill>
                <a:latin typeface="Aptos"/>
              </a:rPr>
              <a:t> entities </a:t>
            </a:r>
            <a:endParaRPr sz="1270" b="0" dirty="0">
              <a:solidFill>
                <a:srgbClr val="4F6357"/>
              </a:solidFill>
              <a:latin typeface="Aptos"/>
            </a:endParaRPr>
          </a:p>
        </p:txBody>
      </p:sp>
      <p:sp>
        <p:nvSpPr>
          <p:cNvPr id="49" name="feature-card">
            <a:extLst>
              <a:ext uri="{FF2B5EF4-FFF2-40B4-BE49-F238E27FC236}">
                <a16:creationId xmlns:a16="http://schemas.microsoft.com/office/drawing/2014/main" id="{FB5EA02F-2F9E-0AED-6228-367857AFF7BC}"/>
              </a:ext>
            </a:extLst>
          </p:cNvPr>
          <p:cNvSpPr/>
          <p:nvPr/>
        </p:nvSpPr>
        <p:spPr>
          <a:xfrm>
            <a:off x="6172200" y="4480560"/>
            <a:ext cx="5266944" cy="1088136"/>
          </a:xfrm>
          <a:prstGeom prst="roundRect">
            <a:avLst/>
          </a:prstGeom>
          <a:solidFill>
            <a:srgbClr val="F7F9F4"/>
          </a:solidFill>
          <a:ln w="10160">
            <a:solidFill>
              <a:srgbClr val="DAE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a:extLst>
              <a:ext uri="{FF2B5EF4-FFF2-40B4-BE49-F238E27FC236}">
                <a16:creationId xmlns:a16="http://schemas.microsoft.com/office/drawing/2014/main" id="{2803F780-E2D2-A627-EC95-0927F7781D8F}"/>
              </a:ext>
            </a:extLst>
          </p:cNvPr>
          <p:cNvSpPr/>
          <p:nvPr/>
        </p:nvSpPr>
        <p:spPr>
          <a:xfrm>
            <a:off x="6364224" y="4690872"/>
            <a:ext cx="41148" cy="667512"/>
          </a:xfrm>
          <a:prstGeom prst="rect">
            <a:avLst/>
          </a:prstGeom>
          <a:solidFill>
            <a:srgbClr val="2D7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a:extLst>
              <a:ext uri="{FF2B5EF4-FFF2-40B4-BE49-F238E27FC236}">
                <a16:creationId xmlns:a16="http://schemas.microsoft.com/office/drawing/2014/main" id="{B538563E-3146-8ECC-84FF-F972C5860115}"/>
              </a:ext>
            </a:extLst>
          </p:cNvPr>
          <p:cNvSpPr txBox="1"/>
          <p:nvPr/>
        </p:nvSpPr>
        <p:spPr>
          <a:xfrm>
            <a:off x="6565392" y="4646165"/>
            <a:ext cx="4645152" cy="263149"/>
          </a:xfrm>
          <a:prstGeom prst="rect">
            <a:avLst/>
          </a:prstGeom>
          <a:noFill/>
        </p:spPr>
        <p:txBody>
          <a:bodyPr wrap="square" lIns="0" tIns="0" rIns="0" bIns="0" anchor="ctr">
            <a:spAutoFit/>
          </a:bodyPr>
          <a:lstStyle/>
          <a:p>
            <a:pPr algn="l">
              <a:spcBef>
                <a:spcPts val="0"/>
              </a:spcBef>
              <a:spcAft>
                <a:spcPts val="0"/>
              </a:spcAft>
            </a:pPr>
            <a:r>
              <a:rPr sz="1710" b="1" dirty="0">
                <a:solidFill>
                  <a:srgbClr val="193F2A"/>
                </a:solidFill>
                <a:latin typeface="Aptos"/>
              </a:rPr>
              <a:t>Weather</a:t>
            </a:r>
          </a:p>
        </p:txBody>
      </p:sp>
      <p:sp>
        <p:nvSpPr>
          <p:cNvPr id="52" name="TextBox 51">
            <a:extLst>
              <a:ext uri="{FF2B5EF4-FFF2-40B4-BE49-F238E27FC236}">
                <a16:creationId xmlns:a16="http://schemas.microsoft.com/office/drawing/2014/main" id="{EBC50E87-2FC2-A3DB-9476-920C6F217047}"/>
              </a:ext>
            </a:extLst>
          </p:cNvPr>
          <p:cNvSpPr txBox="1"/>
          <p:nvPr/>
        </p:nvSpPr>
        <p:spPr>
          <a:xfrm>
            <a:off x="6565392" y="5109788"/>
            <a:ext cx="4636008" cy="195438"/>
          </a:xfrm>
          <a:prstGeom prst="rect">
            <a:avLst/>
          </a:prstGeom>
          <a:noFill/>
        </p:spPr>
        <p:txBody>
          <a:bodyPr wrap="square" lIns="0" tIns="0" rIns="0" bIns="0" anchor="ctr">
            <a:spAutoFit/>
          </a:bodyPr>
          <a:lstStyle/>
          <a:p>
            <a:pPr algn="l">
              <a:spcBef>
                <a:spcPts val="0"/>
              </a:spcBef>
              <a:spcAft>
                <a:spcPts val="0"/>
              </a:spcAft>
            </a:pPr>
            <a:r>
              <a:rPr lang="en-AU" sz="1270" dirty="0">
                <a:solidFill>
                  <a:srgbClr val="4F6357"/>
                </a:solidFill>
                <a:latin typeface="Aptos"/>
              </a:rPr>
              <a:t>Integration with a third party.</a:t>
            </a:r>
            <a:endParaRPr sz="1270" b="0" dirty="0">
              <a:solidFill>
                <a:srgbClr val="4F6357"/>
              </a:solidFill>
              <a:latin typeface="Aptos"/>
            </a:endParaRPr>
          </a:p>
        </p:txBody>
      </p:sp>
      <p:sp>
        <p:nvSpPr>
          <p:cNvPr id="53" name="section-label">
            <a:extLst>
              <a:ext uri="{FF2B5EF4-FFF2-40B4-BE49-F238E27FC236}">
                <a16:creationId xmlns:a16="http://schemas.microsoft.com/office/drawing/2014/main" id="{BC407786-907A-BA5C-DE42-3F11A0A6CD41}"/>
              </a:ext>
            </a:extLst>
          </p:cNvPr>
          <p:cNvSpPr>
            <a:spLocks noGrp="1"/>
          </p:cNvSpPr>
          <p:nvPr/>
        </p:nvSpPr>
        <p:spPr>
          <a:xfrm>
            <a:off x="624840" y="338328"/>
            <a:ext cx="8382000" cy="228600"/>
          </a:xfrm>
          <a:prstGeom prst="rect">
            <a:avLst/>
          </a:prstGeom>
          <a:noFill/>
          <a:ln w="0">
            <a:noFill/>
          </a:ln>
        </p:spPr>
        <p:txBody>
          <a:bodyPr wrap="square" lIns="0" tIns="0" rIns="0" bIns="0" anchor="t">
            <a:noAutofit/>
          </a:bodyPr>
          <a:lstStyle>
            <a:defPPr algn="l">
              <a:defRPr sz="1100" b="1">
                <a:solidFill>
                  <a:srgbClr val="2D7040"/>
                </a:solidFill>
                <a:latin typeface="Aptos"/>
                <a:ea typeface="Aptos"/>
                <a:cs typeface="Aptos"/>
              </a:defRPr>
            </a:defPPr>
          </a:lstStyle>
          <a:p>
            <a:pPr algn="l">
              <a:defRPr sz="1100" b="1">
                <a:solidFill>
                  <a:srgbClr val="2D7040"/>
                </a:solidFill>
                <a:latin typeface="Aptos"/>
                <a:ea typeface="Aptos"/>
                <a:cs typeface="Aptos"/>
              </a:defRPr>
            </a:pPr>
            <a:r>
              <a:rPr sz="1100" b="1" dirty="0">
                <a:solidFill>
                  <a:srgbClr val="2D7040"/>
                </a:solidFill>
                <a:latin typeface="Aptos"/>
                <a:ea typeface="Aptos"/>
                <a:cs typeface="Aptos"/>
              </a:rPr>
              <a:t>02 / D</a:t>
            </a:r>
            <a:r>
              <a:rPr lang="en-AU" sz="1100" b="1" dirty="0">
                <a:solidFill>
                  <a:srgbClr val="2D7040"/>
                </a:solidFill>
                <a:latin typeface="Aptos"/>
                <a:ea typeface="Aptos"/>
                <a:cs typeface="Aptos"/>
              </a:rPr>
              <a:t>elivery - Features</a:t>
            </a:r>
            <a:endParaRPr sz="1100" b="1" dirty="0">
              <a:solidFill>
                <a:srgbClr val="2D7040"/>
              </a:solidFill>
              <a:latin typeface="Aptos"/>
              <a:ea typeface="Aptos"/>
              <a:cs typeface="Aptos"/>
            </a:endParaRPr>
          </a:p>
        </p:txBody>
      </p:sp>
    </p:spTree>
    <p:extLst>
      <p:ext uri="{BB962C8B-B14F-4D97-AF65-F5344CB8AC3E}">
        <p14:creationId xmlns:p14="http://schemas.microsoft.com/office/powerpoint/2010/main" val="4201817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8F4"/>
        </a:solidFill>
        <a:effectLst/>
      </p:bgPr>
    </p:bg>
    <p:spTree>
      <p:nvGrpSpPr>
        <p:cNvPr id="1" name=""/>
        <p:cNvGrpSpPr/>
        <p:nvPr/>
      </p:nvGrpSpPr>
      <p:grpSpPr>
        <a:xfrm>
          <a:off x="0" y="0"/>
          <a:ext cx="0" cy="0"/>
          <a:chOff x="0" y="0"/>
          <a:chExt cx="0" cy="0"/>
        </a:xfrm>
      </p:grpSpPr>
      <p:sp>
        <p:nvSpPr>
          <p:cNvPr id="9" name="brand-edge">
            <a:extLst>
              <a:ext uri="{FF2B5EF4-FFF2-40B4-BE49-F238E27FC236}">
                <a16:creationId xmlns:a16="http://schemas.microsoft.com/office/drawing/2014/main" id="{D35BFEC1-60B6-4B76-A0EB-17D8638A0E93}"/>
              </a:ext>
            </a:extLst>
          </p:cNvPr>
          <p:cNvSpPr>
            <a:spLocks noGrp="1"/>
          </p:cNvSpPr>
          <p:nvPr/>
        </p:nvSpPr>
        <p:spPr>
          <a:xfrm>
            <a:off x="0" y="0"/>
            <a:ext cx="105156" cy="6858000"/>
          </a:xfrm>
          <a:prstGeom prst="rect">
            <a:avLst/>
          </a:prstGeom>
          <a:solidFill>
            <a:srgbClr val="2D7040"/>
          </a:solidFill>
          <a:ln w="0">
            <a:noFill/>
          </a:ln>
        </p:spPr>
        <p:txBody>
          <a:bodyPr/>
          <a:lstStyle/>
          <a:p>
            <a:endParaRPr lang="en-US"/>
          </a:p>
        </p:txBody>
      </p:sp>
      <p:sp>
        <p:nvSpPr>
          <p:cNvPr id="3" name="title">
            <a:extLst>
              <a:ext uri="{FF2B5EF4-FFF2-40B4-BE49-F238E27FC236}">
                <a16:creationId xmlns:a16="http://schemas.microsoft.com/office/drawing/2014/main" id="{E9B18E13-696F-4D51-BB85-DFC28EC7EC49}"/>
              </a:ext>
            </a:extLst>
          </p:cNvPr>
          <p:cNvSpPr>
            <a:spLocks noGrp="1"/>
          </p:cNvSpPr>
          <p:nvPr/>
        </p:nvSpPr>
        <p:spPr>
          <a:xfrm>
            <a:off x="658368" y="771525"/>
            <a:ext cx="10810875" cy="561975"/>
          </a:xfrm>
          <a:prstGeom prst="rect">
            <a:avLst/>
          </a:prstGeom>
          <a:noFill/>
          <a:ln w="0">
            <a:noFill/>
          </a:ln>
        </p:spPr>
        <p:txBody>
          <a:bodyPr wrap="square" lIns="0" tIns="0" rIns="0" bIns="0" anchor="t">
            <a:noAutofit/>
          </a:bodyPr>
          <a:lstStyle>
            <a:defPPr algn="l">
              <a:defRPr sz="3000" b="1">
                <a:solidFill>
                  <a:srgbClr val="193F2A"/>
                </a:solidFill>
                <a:latin typeface="Aptos"/>
                <a:ea typeface="Aptos"/>
                <a:cs typeface="Aptos"/>
              </a:defRPr>
            </a:defPPr>
          </a:lstStyle>
          <a:p>
            <a:r>
              <a:t>Security requirements</a:t>
            </a:r>
          </a:p>
        </p:txBody>
      </p:sp>
      <p:sp>
        <p:nvSpPr>
          <p:cNvPr id="4" name="subtitle">
            <a:extLst>
              <a:ext uri="{FF2B5EF4-FFF2-40B4-BE49-F238E27FC236}">
                <a16:creationId xmlns:a16="http://schemas.microsoft.com/office/drawing/2014/main" id="{547FAA1F-D9AE-44B9-B7D8-9D59BDD7772C}"/>
              </a:ext>
            </a:extLst>
          </p:cNvPr>
          <p:cNvSpPr>
            <a:spLocks noGrp="1"/>
          </p:cNvSpPr>
          <p:nvPr/>
        </p:nvSpPr>
        <p:spPr>
          <a:xfrm>
            <a:off x="676656" y="1409700"/>
            <a:ext cx="10420350" cy="314325"/>
          </a:xfrm>
          <a:prstGeom prst="rect">
            <a:avLst/>
          </a:prstGeom>
          <a:noFill/>
          <a:ln w="0">
            <a:noFill/>
          </a:ln>
        </p:spPr>
        <p:txBody>
          <a:bodyPr wrap="square" lIns="0" tIns="0" rIns="0" bIns="0" anchor="t">
            <a:noAutofit/>
          </a:bodyPr>
          <a:lstStyle>
            <a:defPPr algn="l">
              <a:defRPr sz="1400" b="0">
                <a:solidFill>
                  <a:srgbClr val="62736A"/>
                </a:solidFill>
                <a:latin typeface="Aptos"/>
                <a:ea typeface="Aptos"/>
                <a:cs typeface="Aptos"/>
              </a:defRPr>
            </a:defPPr>
          </a:lstStyle>
          <a:p>
            <a:r>
              <a:rPr dirty="0"/>
              <a:t>Security controls already implemented in FeedBoard</a:t>
            </a:r>
          </a:p>
        </p:txBody>
      </p:sp>
      <p:sp>
        <p:nvSpPr>
          <p:cNvPr id="5" name="brand">
            <a:extLst>
              <a:ext uri="{FF2B5EF4-FFF2-40B4-BE49-F238E27FC236}">
                <a16:creationId xmlns:a16="http://schemas.microsoft.com/office/drawing/2014/main" id="{980C30CD-0E7E-4C7E-A1B9-0546EC4C493A}"/>
              </a:ext>
            </a:extLst>
          </p:cNvPr>
          <p:cNvSpPr>
            <a:spLocks noGrp="1"/>
          </p:cNvSpPr>
          <p:nvPr/>
        </p:nvSpPr>
        <p:spPr>
          <a:xfrm>
            <a:off x="10563225" y="371475"/>
            <a:ext cx="1047750" cy="247650"/>
          </a:xfrm>
          <a:prstGeom prst="rect">
            <a:avLst/>
          </a:prstGeom>
          <a:noFill/>
          <a:ln w="0">
            <a:noFill/>
          </a:ln>
        </p:spPr>
        <p:txBody>
          <a:bodyPr wrap="square" lIns="0" tIns="0" rIns="0" bIns="0" anchor="t">
            <a:noAutofit/>
          </a:bodyPr>
          <a:lstStyle>
            <a:defPPr algn="l">
              <a:defRPr sz="1400" b="1">
                <a:solidFill>
                  <a:srgbClr val="193F2A"/>
                </a:solidFill>
                <a:latin typeface="Aptos"/>
                <a:ea typeface="Aptos"/>
                <a:cs typeface="Aptos"/>
              </a:defRPr>
            </a:defPPr>
          </a:lstStyle>
          <a:p>
            <a:pPr algn="l">
              <a:defRPr sz="1400" b="1">
                <a:solidFill>
                  <a:srgbClr val="193F2A"/>
                </a:solidFill>
                <a:latin typeface="Aptos"/>
                <a:ea typeface="Aptos"/>
                <a:cs typeface="Aptos"/>
              </a:defRPr>
            </a:pPr>
            <a:r>
              <a:rPr sz="1400" b="1" dirty="0">
                <a:solidFill>
                  <a:srgbClr val="193F2A"/>
                </a:solidFill>
                <a:latin typeface="Aptos"/>
                <a:ea typeface="Aptos"/>
                <a:cs typeface="Aptos"/>
              </a:rPr>
              <a:t>FeedBoard</a:t>
            </a:r>
          </a:p>
        </p:txBody>
      </p:sp>
      <p:sp>
        <p:nvSpPr>
          <p:cNvPr id="6" name="footer-rule">
            <a:extLst>
              <a:ext uri="{FF2B5EF4-FFF2-40B4-BE49-F238E27FC236}">
                <a16:creationId xmlns:a16="http://schemas.microsoft.com/office/drawing/2014/main" id="{BE881086-61EB-48A8-AD58-5BD1178F784B}"/>
              </a:ext>
            </a:extLst>
          </p:cNvPr>
          <p:cNvSpPr>
            <a:spLocks noGrp="1"/>
          </p:cNvSpPr>
          <p:nvPr/>
        </p:nvSpPr>
        <p:spPr>
          <a:xfrm>
            <a:off x="658368" y="6492240"/>
            <a:ext cx="10844784" cy="9525"/>
          </a:xfrm>
          <a:prstGeom prst="rect">
            <a:avLst/>
          </a:prstGeom>
          <a:solidFill>
            <a:srgbClr val="D9E2D9"/>
          </a:solidFill>
          <a:ln w="0">
            <a:noFill/>
          </a:ln>
        </p:spPr>
        <p:txBody>
          <a:bodyPr/>
          <a:lstStyle/>
          <a:p>
            <a:endParaRPr lang="en-US"/>
          </a:p>
        </p:txBody>
      </p:sp>
      <p:sp>
        <p:nvSpPr>
          <p:cNvPr id="7" name="footer">
            <a:extLst>
              <a:ext uri="{FF2B5EF4-FFF2-40B4-BE49-F238E27FC236}">
                <a16:creationId xmlns:a16="http://schemas.microsoft.com/office/drawing/2014/main" id="{A181ED11-DCB3-4A47-9E21-319AA0468C7B}"/>
              </a:ext>
            </a:extLst>
          </p:cNvPr>
          <p:cNvSpPr>
            <a:spLocks noGrp="1"/>
          </p:cNvSpPr>
          <p:nvPr/>
        </p:nvSpPr>
        <p:spPr>
          <a:xfrm>
            <a:off x="667512" y="6556248"/>
            <a:ext cx="4114800" cy="171450"/>
          </a:xfrm>
          <a:prstGeom prst="rect">
            <a:avLst/>
          </a:prstGeom>
          <a:noFill/>
          <a:ln w="0">
            <a:noFill/>
          </a:ln>
        </p:spPr>
        <p:txBody>
          <a:bodyPr wrap="square" lIns="0" tIns="0" rIns="0" bIns="0" anchor="t">
            <a:noAutofit/>
          </a:bodyPr>
          <a:lstStyle>
            <a:defPPr algn="l">
              <a:defRPr sz="900" b="1">
                <a:solidFill>
                  <a:srgbClr val="62736A"/>
                </a:solidFill>
                <a:latin typeface="Aptos"/>
                <a:ea typeface="Aptos"/>
                <a:cs typeface="Aptos"/>
              </a:defRPr>
            </a:defPPr>
          </a:lstStyle>
          <a:p>
            <a:pPr algn="l">
              <a:defRPr sz="900" b="1">
                <a:solidFill>
                  <a:srgbClr val="62736A"/>
                </a:solidFill>
                <a:latin typeface="Aptos"/>
                <a:ea typeface="Aptos"/>
                <a:cs typeface="Aptos"/>
              </a:defRPr>
            </a:pPr>
            <a:r>
              <a:rPr sz="900" b="1">
                <a:solidFill>
                  <a:srgbClr val="62736A"/>
                </a:solidFill>
                <a:latin typeface="Aptos"/>
                <a:ea typeface="Aptos"/>
                <a:cs typeface="Aptos"/>
              </a:rPr>
              <a:t>GRAZING + FEED PLANNING</a:t>
            </a:r>
          </a:p>
        </p:txBody>
      </p:sp>
      <p:sp>
        <p:nvSpPr>
          <p:cNvPr id="10" name="feature-card"/>
          <p:cNvSpPr/>
          <p:nvPr/>
        </p:nvSpPr>
        <p:spPr>
          <a:xfrm>
            <a:off x="749808" y="1956816"/>
            <a:ext cx="5266944" cy="1088136"/>
          </a:xfrm>
          <a:prstGeom prst="roundRect">
            <a:avLst/>
          </a:prstGeom>
          <a:solidFill>
            <a:srgbClr val="F7F9F4"/>
          </a:solidFill>
          <a:ln w="10160">
            <a:solidFill>
              <a:srgbClr val="DAE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41832" y="2167128"/>
            <a:ext cx="41148" cy="667512"/>
          </a:xfrm>
          <a:prstGeom prst="rect">
            <a:avLst/>
          </a:prstGeom>
          <a:solidFill>
            <a:srgbClr val="2D7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30452" y="2082737"/>
            <a:ext cx="4645152" cy="320040"/>
          </a:xfrm>
          <a:prstGeom prst="rect">
            <a:avLst/>
          </a:prstGeom>
          <a:noFill/>
        </p:spPr>
        <p:txBody>
          <a:bodyPr wrap="square" lIns="0" tIns="0" rIns="0" bIns="0" anchor="ctr">
            <a:spAutoFit/>
          </a:bodyPr>
          <a:lstStyle/>
          <a:p>
            <a:pPr algn="l">
              <a:spcBef>
                <a:spcPts val="0"/>
              </a:spcBef>
              <a:spcAft>
                <a:spcPts val="0"/>
              </a:spcAft>
            </a:pPr>
            <a:r>
              <a:rPr sz="1710" b="1" dirty="0">
                <a:solidFill>
                  <a:srgbClr val="193F2A"/>
                </a:solidFill>
                <a:latin typeface="Aptos"/>
              </a:rPr>
              <a:t>Argon2id — password hashing</a:t>
            </a:r>
          </a:p>
        </p:txBody>
      </p:sp>
      <p:sp>
        <p:nvSpPr>
          <p:cNvPr id="13" name="TextBox 12"/>
          <p:cNvSpPr txBox="1"/>
          <p:nvPr/>
        </p:nvSpPr>
        <p:spPr>
          <a:xfrm>
            <a:off x="1143000" y="2423160"/>
            <a:ext cx="4636008" cy="521207"/>
          </a:xfrm>
          <a:prstGeom prst="rect">
            <a:avLst/>
          </a:prstGeom>
          <a:noFill/>
        </p:spPr>
        <p:txBody>
          <a:bodyPr wrap="square" lIns="0" tIns="0" rIns="0" bIns="0" anchor="ctr">
            <a:spAutoFit/>
          </a:bodyPr>
          <a:lstStyle/>
          <a:p>
            <a:pPr algn="l">
              <a:spcBef>
                <a:spcPts val="0"/>
              </a:spcBef>
              <a:spcAft>
                <a:spcPts val="0"/>
              </a:spcAft>
            </a:pPr>
            <a:r>
              <a:rPr sz="1270" b="0">
                <a:solidFill>
                  <a:srgbClr val="4F6357"/>
                </a:solidFill>
                <a:latin typeface="Aptos"/>
              </a:rPr>
              <a:t>Stores salted password hashes, not plain passwords.</a:t>
            </a:r>
          </a:p>
        </p:txBody>
      </p:sp>
      <p:sp>
        <p:nvSpPr>
          <p:cNvPr id="14" name="feature-card"/>
          <p:cNvSpPr/>
          <p:nvPr/>
        </p:nvSpPr>
        <p:spPr>
          <a:xfrm>
            <a:off x="6172200" y="1956816"/>
            <a:ext cx="5266944" cy="1088136"/>
          </a:xfrm>
          <a:prstGeom prst="roundRect">
            <a:avLst/>
          </a:prstGeom>
          <a:solidFill>
            <a:srgbClr val="F7F9F4"/>
          </a:solidFill>
          <a:ln w="10160">
            <a:solidFill>
              <a:srgbClr val="DAE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364224" y="2167128"/>
            <a:ext cx="41148" cy="667512"/>
          </a:xfrm>
          <a:prstGeom prst="rect">
            <a:avLst/>
          </a:prstGeom>
          <a:solidFill>
            <a:srgbClr val="2D7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06499" y="2093976"/>
            <a:ext cx="4645152" cy="320040"/>
          </a:xfrm>
          <a:prstGeom prst="rect">
            <a:avLst/>
          </a:prstGeom>
          <a:noFill/>
        </p:spPr>
        <p:txBody>
          <a:bodyPr wrap="square" lIns="0" tIns="0" rIns="0" bIns="0" anchor="ctr">
            <a:spAutoFit/>
          </a:bodyPr>
          <a:lstStyle/>
          <a:p>
            <a:pPr algn="l">
              <a:spcBef>
                <a:spcPts val="0"/>
              </a:spcBef>
              <a:spcAft>
                <a:spcPts val="0"/>
              </a:spcAft>
            </a:pPr>
            <a:r>
              <a:rPr sz="1710" b="1" dirty="0">
                <a:solidFill>
                  <a:srgbClr val="193F2A"/>
                </a:solidFill>
                <a:latin typeface="Aptos"/>
              </a:rPr>
              <a:t>Secure login sessions</a:t>
            </a:r>
          </a:p>
        </p:txBody>
      </p:sp>
      <p:sp>
        <p:nvSpPr>
          <p:cNvPr id="17" name="TextBox 16"/>
          <p:cNvSpPr txBox="1"/>
          <p:nvPr/>
        </p:nvSpPr>
        <p:spPr>
          <a:xfrm>
            <a:off x="6565392" y="2586044"/>
            <a:ext cx="4636008" cy="195438"/>
          </a:xfrm>
          <a:prstGeom prst="rect">
            <a:avLst/>
          </a:prstGeom>
          <a:noFill/>
        </p:spPr>
        <p:txBody>
          <a:bodyPr wrap="square" lIns="0" tIns="0" rIns="0" bIns="0" anchor="ctr">
            <a:spAutoFit/>
          </a:bodyPr>
          <a:lstStyle/>
          <a:p>
            <a:pPr algn="l">
              <a:spcBef>
                <a:spcPts val="0"/>
              </a:spcBef>
              <a:spcAft>
                <a:spcPts val="0"/>
              </a:spcAft>
            </a:pPr>
            <a:r>
              <a:rPr lang="en-AU" sz="1270" dirty="0">
                <a:solidFill>
                  <a:srgbClr val="4F6357"/>
                </a:solidFill>
                <a:latin typeface="Aptos"/>
              </a:rPr>
              <a:t>Manages session with </a:t>
            </a:r>
            <a:r>
              <a:rPr sz="1270" b="0" dirty="0">
                <a:solidFill>
                  <a:srgbClr val="4F6357"/>
                </a:solidFill>
                <a:latin typeface="Aptos"/>
              </a:rPr>
              <a:t>Htt</a:t>
            </a:r>
            <a:r>
              <a:rPr lang="en-AU" sz="1270" b="0" dirty="0">
                <a:solidFill>
                  <a:srgbClr val="4F6357"/>
                </a:solidFill>
                <a:latin typeface="Aptos"/>
              </a:rPr>
              <a:t>pOnly</a:t>
            </a:r>
            <a:r>
              <a:rPr sz="1270" b="0" dirty="0">
                <a:solidFill>
                  <a:srgbClr val="4F6357"/>
                </a:solidFill>
                <a:latin typeface="Aptos"/>
              </a:rPr>
              <a:t> cookies; 8-hour limit.</a:t>
            </a:r>
          </a:p>
        </p:txBody>
      </p:sp>
      <p:sp>
        <p:nvSpPr>
          <p:cNvPr id="18" name="feature-card"/>
          <p:cNvSpPr/>
          <p:nvPr/>
        </p:nvSpPr>
        <p:spPr>
          <a:xfrm>
            <a:off x="749808" y="3218688"/>
            <a:ext cx="5266944" cy="1088136"/>
          </a:xfrm>
          <a:prstGeom prst="roundRect">
            <a:avLst/>
          </a:prstGeom>
          <a:solidFill>
            <a:srgbClr val="F7F9F4"/>
          </a:solidFill>
          <a:ln w="10160">
            <a:solidFill>
              <a:srgbClr val="DAE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41832" y="3429000"/>
            <a:ext cx="41148" cy="667512"/>
          </a:xfrm>
          <a:prstGeom prst="rect">
            <a:avLst/>
          </a:prstGeom>
          <a:solidFill>
            <a:srgbClr val="2D7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55014" y="3365902"/>
            <a:ext cx="4645152" cy="320040"/>
          </a:xfrm>
          <a:prstGeom prst="rect">
            <a:avLst/>
          </a:prstGeom>
          <a:noFill/>
        </p:spPr>
        <p:txBody>
          <a:bodyPr wrap="square" lIns="0" tIns="0" rIns="0" bIns="0" anchor="ctr">
            <a:spAutoFit/>
          </a:bodyPr>
          <a:lstStyle/>
          <a:p>
            <a:pPr algn="l">
              <a:spcBef>
                <a:spcPts val="0"/>
              </a:spcBef>
              <a:spcAft>
                <a:spcPts val="0"/>
              </a:spcAft>
            </a:pPr>
            <a:r>
              <a:rPr sz="1710" b="1" dirty="0">
                <a:solidFill>
                  <a:srgbClr val="193F2A"/>
                </a:solidFill>
                <a:latin typeface="Aptos"/>
              </a:rPr>
              <a:t>Helmet — HTTP headers</a:t>
            </a:r>
          </a:p>
        </p:txBody>
      </p:sp>
      <p:sp>
        <p:nvSpPr>
          <p:cNvPr id="21" name="TextBox 20"/>
          <p:cNvSpPr txBox="1"/>
          <p:nvPr/>
        </p:nvSpPr>
        <p:spPr>
          <a:xfrm>
            <a:off x="1143000" y="3847916"/>
            <a:ext cx="4636008" cy="195438"/>
          </a:xfrm>
          <a:prstGeom prst="rect">
            <a:avLst/>
          </a:prstGeom>
          <a:noFill/>
        </p:spPr>
        <p:txBody>
          <a:bodyPr wrap="square" lIns="0" tIns="0" rIns="0" bIns="0" anchor="ctr">
            <a:spAutoFit/>
          </a:bodyPr>
          <a:lstStyle/>
          <a:p>
            <a:pPr algn="l">
              <a:spcBef>
                <a:spcPts val="0"/>
              </a:spcBef>
              <a:spcAft>
                <a:spcPts val="0"/>
              </a:spcAft>
            </a:pPr>
            <a:r>
              <a:rPr lang="en-AU" sz="1270" b="0" dirty="0">
                <a:solidFill>
                  <a:srgbClr val="4F6357"/>
                </a:solidFill>
                <a:latin typeface="Aptos"/>
              </a:rPr>
              <a:t>Help protects unauthorised attacks</a:t>
            </a:r>
            <a:r>
              <a:rPr sz="1270" b="0" dirty="0">
                <a:solidFill>
                  <a:srgbClr val="4F6357"/>
                </a:solidFill>
                <a:latin typeface="Aptos"/>
              </a:rPr>
              <a:t>.</a:t>
            </a:r>
          </a:p>
        </p:txBody>
      </p:sp>
      <p:sp>
        <p:nvSpPr>
          <p:cNvPr id="22" name="feature-card"/>
          <p:cNvSpPr/>
          <p:nvPr/>
        </p:nvSpPr>
        <p:spPr>
          <a:xfrm>
            <a:off x="6172200" y="3218688"/>
            <a:ext cx="5266944" cy="1088136"/>
          </a:xfrm>
          <a:prstGeom prst="roundRect">
            <a:avLst/>
          </a:prstGeom>
          <a:solidFill>
            <a:srgbClr val="F7F9F4"/>
          </a:solidFill>
          <a:ln w="10160">
            <a:solidFill>
              <a:srgbClr val="DAE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364224" y="3429000"/>
            <a:ext cx="41148" cy="667512"/>
          </a:xfrm>
          <a:prstGeom prst="rect">
            <a:avLst/>
          </a:prstGeom>
          <a:solidFill>
            <a:srgbClr val="2D7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793992" y="3355848"/>
            <a:ext cx="4645152" cy="320040"/>
          </a:xfrm>
          <a:prstGeom prst="rect">
            <a:avLst/>
          </a:prstGeom>
          <a:noFill/>
        </p:spPr>
        <p:txBody>
          <a:bodyPr wrap="square" lIns="0" tIns="0" rIns="0" bIns="0" anchor="ctr">
            <a:spAutoFit/>
          </a:bodyPr>
          <a:lstStyle/>
          <a:p>
            <a:pPr algn="l">
              <a:spcBef>
                <a:spcPts val="0"/>
              </a:spcBef>
              <a:spcAft>
                <a:spcPts val="0"/>
              </a:spcAft>
            </a:pPr>
            <a:r>
              <a:rPr sz="1710" b="1" dirty="0">
                <a:solidFill>
                  <a:srgbClr val="193F2A"/>
                </a:solidFill>
                <a:latin typeface="Aptos"/>
              </a:rPr>
              <a:t>Express Rate Limit</a:t>
            </a:r>
          </a:p>
        </p:txBody>
      </p:sp>
      <p:sp>
        <p:nvSpPr>
          <p:cNvPr id="25" name="TextBox 24"/>
          <p:cNvSpPr txBox="1"/>
          <p:nvPr/>
        </p:nvSpPr>
        <p:spPr>
          <a:xfrm>
            <a:off x="6565392" y="3685032"/>
            <a:ext cx="4636008" cy="521207"/>
          </a:xfrm>
          <a:prstGeom prst="rect">
            <a:avLst/>
          </a:prstGeom>
          <a:noFill/>
        </p:spPr>
        <p:txBody>
          <a:bodyPr wrap="square" lIns="0" tIns="0" rIns="0" bIns="0" anchor="ctr">
            <a:spAutoFit/>
          </a:bodyPr>
          <a:lstStyle/>
          <a:p>
            <a:pPr algn="l">
              <a:spcBef>
                <a:spcPts val="0"/>
              </a:spcBef>
              <a:spcAft>
                <a:spcPts val="0"/>
              </a:spcAft>
            </a:pPr>
            <a:r>
              <a:rPr sz="1270" b="0">
                <a:solidFill>
                  <a:srgbClr val="4F6357"/>
                </a:solidFill>
                <a:latin typeface="Aptos"/>
              </a:rPr>
              <a:t>Restricts repeated login and excessive API requests.</a:t>
            </a:r>
          </a:p>
        </p:txBody>
      </p:sp>
      <p:sp>
        <p:nvSpPr>
          <p:cNvPr id="26" name="feature-card"/>
          <p:cNvSpPr/>
          <p:nvPr/>
        </p:nvSpPr>
        <p:spPr>
          <a:xfrm>
            <a:off x="749808" y="4480560"/>
            <a:ext cx="5266944" cy="1088136"/>
          </a:xfrm>
          <a:prstGeom prst="roundRect">
            <a:avLst/>
          </a:prstGeom>
          <a:solidFill>
            <a:srgbClr val="F7F9F4"/>
          </a:solidFill>
          <a:ln w="10160">
            <a:solidFill>
              <a:srgbClr val="DAE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41832" y="4690872"/>
            <a:ext cx="41148" cy="667512"/>
          </a:xfrm>
          <a:prstGeom prst="rect">
            <a:avLst/>
          </a:prstGeom>
          <a:solidFill>
            <a:srgbClr val="2D7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299538" y="4646165"/>
            <a:ext cx="4645152" cy="263149"/>
          </a:xfrm>
          <a:prstGeom prst="rect">
            <a:avLst/>
          </a:prstGeom>
          <a:noFill/>
        </p:spPr>
        <p:txBody>
          <a:bodyPr wrap="square" lIns="0" tIns="0" rIns="0" bIns="0" anchor="ctr">
            <a:spAutoFit/>
          </a:bodyPr>
          <a:lstStyle/>
          <a:p>
            <a:pPr algn="l">
              <a:spcBef>
                <a:spcPts val="0"/>
              </a:spcBef>
              <a:spcAft>
                <a:spcPts val="0"/>
              </a:spcAft>
            </a:pPr>
            <a:r>
              <a:rPr sz="1710" b="1" dirty="0">
                <a:solidFill>
                  <a:srgbClr val="193F2A"/>
                </a:solidFill>
                <a:latin typeface="Aptos"/>
              </a:rPr>
              <a:t>CSRF protection</a:t>
            </a:r>
          </a:p>
        </p:txBody>
      </p:sp>
      <p:sp>
        <p:nvSpPr>
          <p:cNvPr id="29" name="TextBox 28"/>
          <p:cNvSpPr txBox="1"/>
          <p:nvPr/>
        </p:nvSpPr>
        <p:spPr>
          <a:xfrm>
            <a:off x="1143000" y="5012069"/>
            <a:ext cx="4636008" cy="390876"/>
          </a:xfrm>
          <a:prstGeom prst="rect">
            <a:avLst/>
          </a:prstGeom>
          <a:noFill/>
        </p:spPr>
        <p:txBody>
          <a:bodyPr wrap="square" lIns="0" tIns="0" rIns="0" bIns="0" anchor="ctr">
            <a:spAutoFit/>
          </a:bodyPr>
          <a:lstStyle/>
          <a:p>
            <a:pPr algn="l">
              <a:spcBef>
                <a:spcPts val="0"/>
              </a:spcBef>
              <a:spcAft>
                <a:spcPts val="0"/>
              </a:spcAft>
            </a:pPr>
            <a:r>
              <a:rPr sz="1270" b="0" dirty="0">
                <a:solidFill>
                  <a:srgbClr val="4F6357"/>
                </a:solidFill>
                <a:latin typeface="Aptos"/>
              </a:rPr>
              <a:t>Random session tokens checked with timingSafeEqual().</a:t>
            </a:r>
            <a:r>
              <a:rPr lang="en-AU" sz="1270" b="0" dirty="0">
                <a:solidFill>
                  <a:srgbClr val="4F6357"/>
                </a:solidFill>
                <a:latin typeface="Aptos"/>
              </a:rPr>
              <a:t> Prevents unauthorised requests. </a:t>
            </a:r>
            <a:endParaRPr sz="1270" b="0" dirty="0">
              <a:solidFill>
                <a:srgbClr val="4F6357"/>
              </a:solidFill>
              <a:latin typeface="Aptos"/>
            </a:endParaRPr>
          </a:p>
        </p:txBody>
      </p:sp>
      <p:sp>
        <p:nvSpPr>
          <p:cNvPr id="30" name="feature-card"/>
          <p:cNvSpPr/>
          <p:nvPr/>
        </p:nvSpPr>
        <p:spPr>
          <a:xfrm>
            <a:off x="6172200" y="4480560"/>
            <a:ext cx="5266944" cy="1088136"/>
          </a:xfrm>
          <a:prstGeom prst="roundRect">
            <a:avLst/>
          </a:prstGeom>
          <a:solidFill>
            <a:srgbClr val="F7F9F4"/>
          </a:solidFill>
          <a:ln w="10160">
            <a:solidFill>
              <a:srgbClr val="DAE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364224" y="4690872"/>
            <a:ext cx="41148" cy="667512"/>
          </a:xfrm>
          <a:prstGeom prst="rect">
            <a:avLst/>
          </a:prstGeom>
          <a:solidFill>
            <a:srgbClr val="2D7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661404" y="4623301"/>
            <a:ext cx="4645152" cy="263149"/>
          </a:xfrm>
          <a:prstGeom prst="rect">
            <a:avLst/>
          </a:prstGeom>
          <a:noFill/>
        </p:spPr>
        <p:txBody>
          <a:bodyPr wrap="square" lIns="0" tIns="0" rIns="0" bIns="0" anchor="ctr">
            <a:spAutoFit/>
          </a:bodyPr>
          <a:lstStyle/>
          <a:p>
            <a:pPr algn="l">
              <a:spcBef>
                <a:spcPts val="0"/>
              </a:spcBef>
              <a:spcAft>
                <a:spcPts val="0"/>
              </a:spcAft>
            </a:pPr>
            <a:r>
              <a:rPr sz="1710" b="1" dirty="0">
                <a:solidFill>
                  <a:srgbClr val="193F2A"/>
                </a:solidFill>
                <a:latin typeface="Aptos"/>
              </a:rPr>
              <a:t>MySQL2 — data </a:t>
            </a:r>
            <a:r>
              <a:rPr lang="en-AU" sz="1710" b="1" dirty="0">
                <a:solidFill>
                  <a:srgbClr val="193F2A"/>
                </a:solidFill>
                <a:latin typeface="Aptos"/>
              </a:rPr>
              <a:t>transactions</a:t>
            </a:r>
            <a:endParaRPr sz="1710" b="1" dirty="0">
              <a:solidFill>
                <a:srgbClr val="193F2A"/>
              </a:solidFill>
              <a:latin typeface="Aptos"/>
            </a:endParaRPr>
          </a:p>
        </p:txBody>
      </p:sp>
      <p:sp>
        <p:nvSpPr>
          <p:cNvPr id="33" name="TextBox 32"/>
          <p:cNvSpPr txBox="1"/>
          <p:nvPr/>
        </p:nvSpPr>
        <p:spPr>
          <a:xfrm>
            <a:off x="6565392" y="5109788"/>
            <a:ext cx="4636008" cy="195438"/>
          </a:xfrm>
          <a:prstGeom prst="rect">
            <a:avLst/>
          </a:prstGeom>
          <a:noFill/>
        </p:spPr>
        <p:txBody>
          <a:bodyPr wrap="square" lIns="0" tIns="0" rIns="0" bIns="0" anchor="ctr">
            <a:spAutoFit/>
          </a:bodyPr>
          <a:lstStyle/>
          <a:p>
            <a:pPr algn="l">
              <a:spcBef>
                <a:spcPts val="0"/>
              </a:spcBef>
              <a:spcAft>
                <a:spcPts val="0"/>
              </a:spcAft>
            </a:pPr>
            <a:r>
              <a:rPr lang="en-AU" sz="1270" b="0" dirty="0">
                <a:solidFill>
                  <a:srgbClr val="4F6357"/>
                </a:solidFill>
                <a:latin typeface="Aptos"/>
              </a:rPr>
              <a:t>Supports saving linked farm records together</a:t>
            </a:r>
            <a:r>
              <a:rPr sz="1270" b="0" dirty="0">
                <a:solidFill>
                  <a:srgbClr val="4F6357"/>
                </a:solidFill>
                <a:latin typeface="Aptos"/>
              </a:rPr>
              <a:t>.</a:t>
            </a:r>
          </a:p>
        </p:txBody>
      </p:sp>
      <p:pic>
        <p:nvPicPr>
          <p:cNvPr id="35" name="Picture 34">
            <a:extLst>
              <a:ext uri="{FF2B5EF4-FFF2-40B4-BE49-F238E27FC236}">
                <a16:creationId xmlns:a16="http://schemas.microsoft.com/office/drawing/2014/main" id="{53B6A67D-4214-3A12-91EA-AAE039C659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9626" y="3319458"/>
            <a:ext cx="241300" cy="330200"/>
          </a:xfrm>
          <a:prstGeom prst="rect">
            <a:avLst/>
          </a:prstGeom>
        </p:spPr>
      </p:pic>
      <p:pic>
        <p:nvPicPr>
          <p:cNvPr id="37" name="Picture 36">
            <a:extLst>
              <a:ext uri="{FF2B5EF4-FFF2-40B4-BE49-F238E27FC236}">
                <a16:creationId xmlns:a16="http://schemas.microsoft.com/office/drawing/2014/main" id="{70796856-474C-73F7-96D4-91574ECE90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5601" y="2067345"/>
            <a:ext cx="304800" cy="317500"/>
          </a:xfrm>
          <a:prstGeom prst="rect">
            <a:avLst/>
          </a:prstGeom>
        </p:spPr>
      </p:pic>
      <p:pic>
        <p:nvPicPr>
          <p:cNvPr id="39" name="Picture 38">
            <a:extLst>
              <a:ext uri="{FF2B5EF4-FFF2-40B4-BE49-F238E27FC236}">
                <a16:creationId xmlns:a16="http://schemas.microsoft.com/office/drawing/2014/main" id="{C5D64CF7-2F31-69C5-BF0B-BB5849DD9E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1014" y="3398012"/>
            <a:ext cx="254000" cy="254000"/>
          </a:xfrm>
          <a:prstGeom prst="rect">
            <a:avLst/>
          </a:prstGeom>
        </p:spPr>
      </p:pic>
      <p:pic>
        <p:nvPicPr>
          <p:cNvPr id="41" name="Picture 40">
            <a:extLst>
              <a:ext uri="{FF2B5EF4-FFF2-40B4-BE49-F238E27FC236}">
                <a16:creationId xmlns:a16="http://schemas.microsoft.com/office/drawing/2014/main" id="{83985FCC-24A3-5E83-5DBA-3C6E686BFDD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09330" y="4603820"/>
            <a:ext cx="228600" cy="279400"/>
          </a:xfrm>
          <a:prstGeom prst="rect">
            <a:avLst/>
          </a:prstGeom>
        </p:spPr>
      </p:pic>
      <p:pic>
        <p:nvPicPr>
          <p:cNvPr id="43" name="Picture 42">
            <a:extLst>
              <a:ext uri="{FF2B5EF4-FFF2-40B4-BE49-F238E27FC236}">
                <a16:creationId xmlns:a16="http://schemas.microsoft.com/office/drawing/2014/main" id="{2C3AADFC-60DB-2369-A825-A0F4F4313BC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24051" y="2113350"/>
            <a:ext cx="254000" cy="254000"/>
          </a:xfrm>
          <a:prstGeom prst="rect">
            <a:avLst/>
          </a:prstGeom>
        </p:spPr>
      </p:pic>
      <p:pic>
        <p:nvPicPr>
          <p:cNvPr id="45" name="Picture 44">
            <a:extLst>
              <a:ext uri="{FF2B5EF4-FFF2-40B4-BE49-F238E27FC236}">
                <a16:creationId xmlns:a16="http://schemas.microsoft.com/office/drawing/2014/main" id="{13F750C9-6D29-CA65-3119-71141602C2D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11576" y="4646165"/>
            <a:ext cx="215900" cy="228600"/>
          </a:xfrm>
          <a:prstGeom prst="rect">
            <a:avLst/>
          </a:prstGeom>
        </p:spPr>
      </p:pic>
      <p:sp>
        <p:nvSpPr>
          <p:cNvPr id="48" name="section-label">
            <a:extLst>
              <a:ext uri="{FF2B5EF4-FFF2-40B4-BE49-F238E27FC236}">
                <a16:creationId xmlns:a16="http://schemas.microsoft.com/office/drawing/2014/main" id="{BCBF4B25-ED80-129C-6116-8EA15467A6E2}"/>
              </a:ext>
            </a:extLst>
          </p:cNvPr>
          <p:cNvSpPr>
            <a:spLocks noGrp="1"/>
          </p:cNvSpPr>
          <p:nvPr/>
        </p:nvSpPr>
        <p:spPr>
          <a:xfrm>
            <a:off x="647075" y="342611"/>
            <a:ext cx="8382000" cy="228600"/>
          </a:xfrm>
          <a:prstGeom prst="rect">
            <a:avLst/>
          </a:prstGeom>
          <a:noFill/>
          <a:ln w="0">
            <a:noFill/>
          </a:ln>
        </p:spPr>
        <p:txBody>
          <a:bodyPr wrap="square" lIns="0" tIns="0" rIns="0" bIns="0" anchor="t">
            <a:noAutofit/>
          </a:bodyPr>
          <a:lstStyle>
            <a:defPPr algn="l">
              <a:defRPr sz="1100" b="1">
                <a:solidFill>
                  <a:srgbClr val="2D7040"/>
                </a:solidFill>
                <a:latin typeface="Aptos"/>
                <a:ea typeface="Aptos"/>
                <a:cs typeface="Aptos"/>
              </a:defRPr>
            </a:defPPr>
          </a:lstStyle>
          <a:p>
            <a:pPr algn="l">
              <a:defRPr sz="1100" b="1">
                <a:solidFill>
                  <a:srgbClr val="2D7040"/>
                </a:solidFill>
                <a:latin typeface="Aptos"/>
                <a:ea typeface="Aptos"/>
                <a:cs typeface="Aptos"/>
              </a:defRPr>
            </a:pPr>
            <a:r>
              <a:rPr sz="1100" b="1" dirty="0">
                <a:solidFill>
                  <a:srgbClr val="2D7040"/>
                </a:solidFill>
                <a:latin typeface="Aptos"/>
                <a:ea typeface="Aptos"/>
                <a:cs typeface="Aptos"/>
              </a:rPr>
              <a:t>02 / D</a:t>
            </a:r>
            <a:r>
              <a:rPr lang="en-AU" sz="1100" b="1" dirty="0">
                <a:solidFill>
                  <a:srgbClr val="2D7040"/>
                </a:solidFill>
                <a:latin typeface="Aptos"/>
                <a:ea typeface="Aptos"/>
                <a:cs typeface="Aptos"/>
              </a:rPr>
              <a:t>elivery - Security</a:t>
            </a:r>
            <a:endParaRPr sz="1100" b="1" dirty="0">
              <a:solidFill>
                <a:srgbClr val="2D7040"/>
              </a:solidFill>
              <a:latin typeface="Aptos"/>
              <a:ea typeface="Aptos"/>
              <a:cs typeface="Aptos"/>
            </a:endParaRPr>
          </a:p>
        </p:txBody>
      </p:sp>
    </p:spTree>
    <p:extLst>
      <p:ext uri="{BB962C8B-B14F-4D97-AF65-F5344CB8AC3E}">
        <p14:creationId xmlns:p14="http://schemas.microsoft.com/office/powerpoint/2010/main" val="1095865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8F4"/>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B50E40E-1BCA-4B9B-8C4F-87DC301C788E}"/>
              </a:ext>
            </a:extLst>
          </p:cNvPr>
          <p:cNvSpPr>
            <a:spLocks noGrp="1"/>
          </p:cNvSpPr>
          <p:nvPr/>
        </p:nvSpPr>
        <p:spPr>
          <a:xfrm>
            <a:off x="0" y="0"/>
            <a:ext cx="105156" cy="6858000"/>
          </a:xfrm>
          <a:prstGeom prst="rect">
            <a:avLst/>
          </a:prstGeom>
          <a:solidFill>
            <a:srgbClr val="2D7040"/>
          </a:solidFill>
          <a:ln w="12700">
            <a:solidFill>
              <a:srgbClr val="2D7040">
                <a:alpha val="0"/>
              </a:srgbClr>
            </a:solidFill>
            <a:prstDash val="solid"/>
          </a:ln>
        </p:spPr>
        <p:txBody>
          <a:bodyPr/>
          <a:lstStyle/>
          <a:p>
            <a:endParaRPr/>
          </a:p>
        </p:txBody>
      </p:sp>
      <p:sp>
        <p:nvSpPr>
          <p:cNvPr id="4" name="Text 2">
            <a:extLst>
              <a:ext uri="{FF2B5EF4-FFF2-40B4-BE49-F238E27FC236}">
                <a16:creationId xmlns:a16="http://schemas.microsoft.com/office/drawing/2014/main" id="{4EE3F49F-F8D3-498E-B874-E56A518B7A5A}"/>
              </a:ext>
            </a:extLst>
          </p:cNvPr>
          <p:cNvSpPr>
            <a:spLocks noGrp="1"/>
          </p:cNvSpPr>
          <p:nvPr/>
        </p:nvSpPr>
        <p:spPr>
          <a:xfrm>
            <a:off x="658368" y="758952"/>
            <a:ext cx="10698480" cy="502920"/>
          </a:xfrm>
          <a:prstGeom prst="rect">
            <a:avLst/>
          </a:prstGeom>
          <a:noFill/>
        </p:spPr>
        <p:txBody>
          <a:bodyPr wrap="square" lIns="0" tIns="0" rIns="0" bIns="0" anchor="ctr">
            <a:normAutofit/>
          </a:bodyPr>
          <a:lstStyle/>
          <a:p>
            <a:pPr marL="0" indent="0">
              <a:buNone/>
            </a:pPr>
            <a:r>
              <a:rPr sz="3000" b="1">
                <a:solidFill>
                  <a:srgbClr val="193F2A"/>
                </a:solidFill>
                <a:latin typeface="Aptos"/>
                <a:ea typeface="Aptos"/>
                <a:cs typeface="Aptos"/>
              </a:rPr>
              <a:t>Testing and validation</a:t>
            </a:r>
            <a:endParaRPr sz="3000"/>
          </a:p>
        </p:txBody>
      </p:sp>
      <p:sp>
        <p:nvSpPr>
          <p:cNvPr id="5" name="Text 3">
            <a:extLst>
              <a:ext uri="{FF2B5EF4-FFF2-40B4-BE49-F238E27FC236}">
                <a16:creationId xmlns:a16="http://schemas.microsoft.com/office/drawing/2014/main" id="{2A2B793B-4E04-494D-9712-6E163FE31301}"/>
              </a:ext>
            </a:extLst>
          </p:cNvPr>
          <p:cNvSpPr>
            <a:spLocks noGrp="1"/>
          </p:cNvSpPr>
          <p:nvPr/>
        </p:nvSpPr>
        <p:spPr>
          <a:xfrm>
            <a:off x="676656" y="1298448"/>
            <a:ext cx="10424160" cy="292608"/>
          </a:xfrm>
          <a:prstGeom prst="rect">
            <a:avLst/>
          </a:prstGeom>
          <a:noFill/>
        </p:spPr>
        <p:txBody>
          <a:bodyPr wrap="square" lIns="0" tIns="0" rIns="0" bIns="0" anchor="t">
            <a:noAutofit/>
          </a:bodyPr>
          <a:lstStyle>
            <a:defPPr algn="l">
              <a:defRPr sz="1400" b="0">
                <a:solidFill>
                  <a:srgbClr val="62736A"/>
                </a:solidFill>
                <a:latin typeface="Aptos"/>
                <a:ea typeface="Aptos"/>
                <a:cs typeface="Aptos"/>
              </a:defRPr>
            </a:defPPr>
          </a:lstStyle>
          <a:p>
            <a:pPr marL="0" indent="0" algn="l">
              <a:buNone/>
              <a:defRPr sz="1400" b="0">
                <a:solidFill>
                  <a:srgbClr val="62736A"/>
                </a:solidFill>
                <a:latin typeface="Aptos"/>
                <a:ea typeface="Aptos"/>
                <a:cs typeface="Aptos"/>
              </a:defRPr>
            </a:pPr>
            <a:r>
              <a:rPr sz="1400" b="0">
                <a:solidFill>
                  <a:srgbClr val="62736A"/>
                </a:solidFill>
                <a:latin typeface="Aptos"/>
                <a:ea typeface="Aptos"/>
                <a:cs typeface="Aptos"/>
              </a:rPr>
              <a:t>Recorded unit, persistence and API integration test results</a:t>
            </a:r>
            <a:endParaRPr sz="1400"/>
          </a:p>
        </p:txBody>
      </p:sp>
      <p:sp>
        <p:nvSpPr>
          <p:cNvPr id="6" name="Text 4">
            <a:extLst>
              <a:ext uri="{FF2B5EF4-FFF2-40B4-BE49-F238E27FC236}">
                <a16:creationId xmlns:a16="http://schemas.microsoft.com/office/drawing/2014/main" id="{E27E07F7-297C-4DA9-9489-59FC6513ED37}"/>
              </a:ext>
            </a:extLst>
          </p:cNvPr>
          <p:cNvSpPr>
            <a:spLocks noGrp="1"/>
          </p:cNvSpPr>
          <p:nvPr/>
        </p:nvSpPr>
        <p:spPr>
          <a:xfrm>
            <a:off x="10561320" y="338328"/>
            <a:ext cx="1005840" cy="274320"/>
          </a:xfrm>
          <a:prstGeom prst="rect">
            <a:avLst/>
          </a:prstGeom>
          <a:noFill/>
        </p:spPr>
        <p:txBody>
          <a:bodyPr wrap="square" lIns="0" tIns="0" rIns="0" bIns="0" anchor="ctr">
            <a:normAutofit/>
          </a:bodyPr>
          <a:lstStyle/>
          <a:p>
            <a:pPr marL="0" indent="0" algn="r">
              <a:buNone/>
            </a:pPr>
            <a:r>
              <a:rPr sz="1400" b="1" dirty="0">
                <a:solidFill>
                  <a:srgbClr val="193F2A"/>
                </a:solidFill>
                <a:latin typeface="Aptos"/>
                <a:ea typeface="Aptos"/>
                <a:cs typeface="Aptos"/>
              </a:rPr>
              <a:t>FeedBoard</a:t>
            </a:r>
            <a:endParaRPr sz="1400" dirty="0"/>
          </a:p>
        </p:txBody>
      </p:sp>
      <p:sp>
        <p:nvSpPr>
          <p:cNvPr id="7" name="Shape 5">
            <a:extLst>
              <a:ext uri="{FF2B5EF4-FFF2-40B4-BE49-F238E27FC236}">
                <a16:creationId xmlns:a16="http://schemas.microsoft.com/office/drawing/2014/main" id="{687774F1-2CE5-4AC9-925B-09AF9511273C}"/>
              </a:ext>
            </a:extLst>
          </p:cNvPr>
          <p:cNvSpPr>
            <a:spLocks noGrp="1"/>
          </p:cNvSpPr>
          <p:nvPr/>
        </p:nvSpPr>
        <p:spPr>
          <a:xfrm>
            <a:off x="658368" y="6492240"/>
            <a:ext cx="10844784" cy="0"/>
          </a:xfrm>
          <a:prstGeom prst="line">
            <a:avLst/>
          </a:prstGeom>
          <a:noFill/>
          <a:ln w="11430">
            <a:solidFill>
              <a:srgbClr val="D9E2D9"/>
            </a:solidFill>
            <a:prstDash val="solid"/>
          </a:ln>
        </p:spPr>
        <p:txBody>
          <a:bodyPr/>
          <a:lstStyle/>
          <a:p>
            <a:endParaRPr/>
          </a:p>
        </p:txBody>
      </p:sp>
      <p:sp>
        <p:nvSpPr>
          <p:cNvPr id="8" name="Text 6">
            <a:extLst>
              <a:ext uri="{FF2B5EF4-FFF2-40B4-BE49-F238E27FC236}">
                <a16:creationId xmlns:a16="http://schemas.microsoft.com/office/drawing/2014/main" id="{321CCD57-2B11-4254-B1D2-6A2CDA889768}"/>
              </a:ext>
            </a:extLst>
          </p:cNvPr>
          <p:cNvSpPr>
            <a:spLocks noGrp="1"/>
          </p:cNvSpPr>
          <p:nvPr/>
        </p:nvSpPr>
        <p:spPr>
          <a:xfrm>
            <a:off x="667512" y="6556248"/>
            <a:ext cx="4114800" cy="155448"/>
          </a:xfrm>
          <a:prstGeom prst="rect">
            <a:avLst/>
          </a:prstGeom>
          <a:noFill/>
        </p:spPr>
        <p:txBody>
          <a:bodyPr wrap="square" lIns="0" tIns="0" rIns="0" bIns="0" anchor="ctr">
            <a:normAutofit/>
          </a:bodyPr>
          <a:lstStyle/>
          <a:p>
            <a:pPr marL="0" indent="0">
              <a:buNone/>
            </a:pPr>
            <a:r>
              <a:rPr sz="900" b="1" spc="60">
                <a:solidFill>
                  <a:srgbClr val="62736A"/>
                </a:solidFill>
                <a:latin typeface="Aptos"/>
                <a:ea typeface="Aptos"/>
                <a:cs typeface="Aptos"/>
              </a:rPr>
              <a:t>GRAZING + FEED PLANNING</a:t>
            </a:r>
            <a:endParaRPr sz="900"/>
          </a:p>
        </p:txBody>
      </p:sp>
      <p:sp>
        <p:nvSpPr>
          <p:cNvPr id="10" name="Shape 8">
            <a:extLst>
              <a:ext uri="{FF2B5EF4-FFF2-40B4-BE49-F238E27FC236}">
                <a16:creationId xmlns:a16="http://schemas.microsoft.com/office/drawing/2014/main" id="{85CC05A1-01C0-4561-8314-5EE88954A170}"/>
              </a:ext>
            </a:extLst>
          </p:cNvPr>
          <p:cNvSpPr>
            <a:spLocks noGrp="1"/>
          </p:cNvSpPr>
          <p:nvPr/>
        </p:nvSpPr>
        <p:spPr>
          <a:xfrm>
            <a:off x="749808" y="1719072"/>
            <a:ext cx="3584448" cy="4370832"/>
          </a:xfrm>
          <a:prstGeom prst="roundRect">
            <a:avLst>
              <a:gd name="adj" fmla="val 3061"/>
            </a:avLst>
          </a:prstGeom>
          <a:solidFill>
            <a:srgbClr val="FFFFFF"/>
          </a:solidFill>
          <a:ln w="8890">
            <a:solidFill>
              <a:srgbClr val="D9E2D9"/>
            </a:solidFill>
            <a:prstDash val="solid"/>
          </a:ln>
        </p:spPr>
        <p:txBody>
          <a:bodyPr/>
          <a:lstStyle/>
          <a:p>
            <a:endParaRPr/>
          </a:p>
        </p:txBody>
      </p:sp>
      <p:sp>
        <p:nvSpPr>
          <p:cNvPr id="11" name="Text 9">
            <a:extLst>
              <a:ext uri="{FF2B5EF4-FFF2-40B4-BE49-F238E27FC236}">
                <a16:creationId xmlns:a16="http://schemas.microsoft.com/office/drawing/2014/main" id="{0E28D002-7DD2-4B89-8648-92EA6A847C94}"/>
              </a:ext>
            </a:extLst>
          </p:cNvPr>
          <p:cNvSpPr>
            <a:spLocks noGrp="1"/>
          </p:cNvSpPr>
          <p:nvPr/>
        </p:nvSpPr>
        <p:spPr>
          <a:xfrm>
            <a:off x="1005840" y="1956816"/>
            <a:ext cx="1143000" cy="758952"/>
          </a:xfrm>
          <a:prstGeom prst="rect">
            <a:avLst/>
          </a:prstGeom>
          <a:noFill/>
        </p:spPr>
        <p:txBody>
          <a:bodyPr wrap="square" lIns="0" tIns="0" rIns="0" bIns="0" anchor="ctr">
            <a:normAutofit/>
          </a:bodyPr>
          <a:lstStyle/>
          <a:p>
            <a:pPr marL="0" indent="0">
              <a:buNone/>
            </a:pPr>
            <a:r>
              <a:rPr sz="4200" b="1">
                <a:solidFill>
                  <a:srgbClr val="2D7040"/>
                </a:solidFill>
                <a:latin typeface="Aptos"/>
                <a:ea typeface="Aptos"/>
                <a:cs typeface="Aptos"/>
              </a:rPr>
              <a:t>4</a:t>
            </a:r>
            <a:endParaRPr sz="4200"/>
          </a:p>
        </p:txBody>
      </p:sp>
      <p:sp>
        <p:nvSpPr>
          <p:cNvPr id="12" name="Text 10">
            <a:extLst>
              <a:ext uri="{FF2B5EF4-FFF2-40B4-BE49-F238E27FC236}">
                <a16:creationId xmlns:a16="http://schemas.microsoft.com/office/drawing/2014/main" id="{D8C68362-B0F5-4F40-BDFF-741322D0D7E3}"/>
              </a:ext>
            </a:extLst>
          </p:cNvPr>
          <p:cNvSpPr>
            <a:spLocks noGrp="1"/>
          </p:cNvSpPr>
          <p:nvPr/>
        </p:nvSpPr>
        <p:spPr>
          <a:xfrm>
            <a:off x="1014984" y="2743200"/>
            <a:ext cx="3017520" cy="356616"/>
          </a:xfrm>
          <a:prstGeom prst="rect">
            <a:avLst/>
          </a:prstGeom>
          <a:noFill/>
        </p:spPr>
        <p:txBody>
          <a:bodyPr wrap="square" lIns="0" tIns="0" rIns="0" bIns="0" anchor="ctr">
            <a:normAutofit/>
          </a:bodyPr>
          <a:lstStyle/>
          <a:p>
            <a:pPr marL="0" indent="0">
              <a:buNone/>
            </a:pPr>
            <a:r>
              <a:rPr sz="1700" b="1">
                <a:solidFill>
                  <a:srgbClr val="193F2A"/>
                </a:solidFill>
                <a:latin typeface="Aptos"/>
                <a:ea typeface="Aptos"/>
                <a:cs typeface="Aptos"/>
              </a:rPr>
              <a:t>Frontend unit tests</a:t>
            </a:r>
            <a:endParaRPr sz="1700"/>
          </a:p>
        </p:txBody>
      </p:sp>
      <p:pic>
        <p:nvPicPr>
          <p:cNvPr id="13" name="Image 0">
            <a:extLst>
              <a:ext uri="{FF2B5EF4-FFF2-40B4-BE49-F238E27FC236}">
                <a16:creationId xmlns:a16="http://schemas.microsoft.com/office/drawing/2014/main" id="{9B6D6982-8E3A-46DB-BC7B-82112556265C}"/>
              </a:ext>
            </a:extLst>
          </p:cNvPr>
          <p:cNvPicPr>
            <a:picLocks noChangeAspect="1"/>
          </p:cNvPicPr>
          <p:nvPr/>
        </p:nvPicPr>
        <p:blipFill>
          <a:blip r:embed="rId3"/>
          <a:stretch>
            <a:fillRect/>
          </a:stretch>
        </p:blipFill>
        <p:spPr>
          <a:xfrm>
            <a:off x="978408" y="3949916"/>
            <a:ext cx="3118104" cy="1079576"/>
          </a:xfrm>
          <a:prstGeom prst="rect">
            <a:avLst/>
          </a:prstGeom>
        </p:spPr>
      </p:pic>
      <p:sp>
        <p:nvSpPr>
          <p:cNvPr id="14" name="Shape 11">
            <a:extLst>
              <a:ext uri="{FF2B5EF4-FFF2-40B4-BE49-F238E27FC236}">
                <a16:creationId xmlns:a16="http://schemas.microsoft.com/office/drawing/2014/main" id="{E5BF2571-D13F-46EF-AFC1-4B395D8A25DA}"/>
              </a:ext>
            </a:extLst>
          </p:cNvPr>
          <p:cNvSpPr>
            <a:spLocks noGrp="1"/>
          </p:cNvSpPr>
          <p:nvPr/>
        </p:nvSpPr>
        <p:spPr>
          <a:xfrm>
            <a:off x="4645152" y="1719072"/>
            <a:ext cx="3584448" cy="4370832"/>
          </a:xfrm>
          <a:prstGeom prst="roundRect">
            <a:avLst>
              <a:gd name="adj" fmla="val 3061"/>
            </a:avLst>
          </a:prstGeom>
          <a:solidFill>
            <a:srgbClr val="FFFFFF"/>
          </a:solidFill>
          <a:ln w="8890">
            <a:solidFill>
              <a:srgbClr val="D9E2D9"/>
            </a:solidFill>
            <a:prstDash val="solid"/>
          </a:ln>
        </p:spPr>
        <p:txBody>
          <a:bodyPr/>
          <a:lstStyle/>
          <a:p>
            <a:endParaRPr/>
          </a:p>
        </p:txBody>
      </p:sp>
      <p:sp>
        <p:nvSpPr>
          <p:cNvPr id="15" name="Text 12">
            <a:extLst>
              <a:ext uri="{FF2B5EF4-FFF2-40B4-BE49-F238E27FC236}">
                <a16:creationId xmlns:a16="http://schemas.microsoft.com/office/drawing/2014/main" id="{3B3D1D36-BE27-4301-90EE-F06382198BE3}"/>
              </a:ext>
            </a:extLst>
          </p:cNvPr>
          <p:cNvSpPr>
            <a:spLocks noGrp="1"/>
          </p:cNvSpPr>
          <p:nvPr/>
        </p:nvSpPr>
        <p:spPr>
          <a:xfrm>
            <a:off x="4901184" y="1956816"/>
            <a:ext cx="1143000" cy="758952"/>
          </a:xfrm>
          <a:prstGeom prst="rect">
            <a:avLst/>
          </a:prstGeom>
          <a:noFill/>
        </p:spPr>
        <p:txBody>
          <a:bodyPr wrap="square" lIns="0" tIns="0" rIns="0" bIns="0" anchor="ctr">
            <a:normAutofit/>
          </a:bodyPr>
          <a:lstStyle/>
          <a:p>
            <a:pPr marL="0" indent="0">
              <a:buNone/>
            </a:pPr>
            <a:r>
              <a:rPr sz="4200" b="1">
                <a:solidFill>
                  <a:srgbClr val="2D7040"/>
                </a:solidFill>
                <a:latin typeface="Aptos"/>
                <a:ea typeface="Aptos"/>
                <a:cs typeface="Aptos"/>
              </a:rPr>
              <a:t>23</a:t>
            </a:r>
            <a:endParaRPr sz="4200"/>
          </a:p>
        </p:txBody>
      </p:sp>
      <p:sp>
        <p:nvSpPr>
          <p:cNvPr id="16" name="Text 13">
            <a:extLst>
              <a:ext uri="{FF2B5EF4-FFF2-40B4-BE49-F238E27FC236}">
                <a16:creationId xmlns:a16="http://schemas.microsoft.com/office/drawing/2014/main" id="{F494A242-BB55-459E-8D9D-885E08DCCB14}"/>
              </a:ext>
            </a:extLst>
          </p:cNvPr>
          <p:cNvSpPr>
            <a:spLocks noGrp="1"/>
          </p:cNvSpPr>
          <p:nvPr/>
        </p:nvSpPr>
        <p:spPr>
          <a:xfrm>
            <a:off x="4910328" y="2743200"/>
            <a:ext cx="3017520" cy="356616"/>
          </a:xfrm>
          <a:prstGeom prst="rect">
            <a:avLst/>
          </a:prstGeom>
          <a:noFill/>
        </p:spPr>
        <p:txBody>
          <a:bodyPr wrap="square" lIns="0" tIns="0" rIns="0" bIns="0" anchor="t">
            <a:noAutofit/>
          </a:bodyPr>
          <a:lstStyle>
            <a:defPPr algn="l">
              <a:defRPr sz="1700" b="1">
                <a:solidFill>
                  <a:srgbClr val="193F2A"/>
                </a:solidFill>
                <a:latin typeface="Aptos"/>
                <a:ea typeface="Aptos"/>
                <a:cs typeface="Aptos"/>
              </a:defRPr>
            </a:defPPr>
          </a:lstStyle>
          <a:p>
            <a:pPr marL="0" indent="0" algn="l">
              <a:buNone/>
              <a:defRPr sz="1700" b="1">
                <a:solidFill>
                  <a:srgbClr val="193F2A"/>
                </a:solidFill>
                <a:latin typeface="Aptos"/>
                <a:ea typeface="Aptos"/>
                <a:cs typeface="Aptos"/>
              </a:defRPr>
            </a:pPr>
            <a:r>
              <a:rPr sz="1700" b="1">
                <a:solidFill>
                  <a:srgbClr val="193F2A"/>
                </a:solidFill>
                <a:latin typeface="Aptos"/>
                <a:ea typeface="Aptos"/>
                <a:cs typeface="Aptos"/>
              </a:rPr>
              <a:t>Backend tests</a:t>
            </a:r>
            <a:endParaRPr sz="1700"/>
          </a:p>
        </p:txBody>
      </p:sp>
      <p:pic>
        <p:nvPicPr>
          <p:cNvPr id="17" name="Image 1">
            <a:extLst>
              <a:ext uri="{FF2B5EF4-FFF2-40B4-BE49-F238E27FC236}">
                <a16:creationId xmlns:a16="http://schemas.microsoft.com/office/drawing/2014/main" id="{A558BE15-9DE5-4F92-8263-4F9D22DB75FE}"/>
              </a:ext>
            </a:extLst>
          </p:cNvPr>
          <p:cNvPicPr>
            <a:picLocks noChangeAspect="1"/>
          </p:cNvPicPr>
          <p:nvPr/>
        </p:nvPicPr>
        <p:blipFill>
          <a:blip r:embed="rId4"/>
          <a:stretch>
            <a:fillRect/>
          </a:stretch>
        </p:blipFill>
        <p:spPr>
          <a:xfrm>
            <a:off x="4873752" y="3392859"/>
            <a:ext cx="3118104" cy="2193689"/>
          </a:xfrm>
          <a:prstGeom prst="rect">
            <a:avLst/>
          </a:prstGeom>
        </p:spPr>
      </p:pic>
      <p:sp>
        <p:nvSpPr>
          <p:cNvPr id="18" name="Shape 14">
            <a:extLst>
              <a:ext uri="{FF2B5EF4-FFF2-40B4-BE49-F238E27FC236}">
                <a16:creationId xmlns:a16="http://schemas.microsoft.com/office/drawing/2014/main" id="{A665D85C-8FCC-4BBE-B9B0-79D3764E80CC}"/>
              </a:ext>
            </a:extLst>
          </p:cNvPr>
          <p:cNvSpPr>
            <a:spLocks noGrp="1"/>
          </p:cNvSpPr>
          <p:nvPr/>
        </p:nvSpPr>
        <p:spPr>
          <a:xfrm>
            <a:off x="8540496" y="1719072"/>
            <a:ext cx="3584448" cy="4370832"/>
          </a:xfrm>
          <a:prstGeom prst="roundRect">
            <a:avLst>
              <a:gd name="adj" fmla="val 3061"/>
            </a:avLst>
          </a:prstGeom>
          <a:solidFill>
            <a:srgbClr val="FFFFFF"/>
          </a:solidFill>
          <a:ln w="8890">
            <a:solidFill>
              <a:srgbClr val="D9E2D9"/>
            </a:solidFill>
            <a:prstDash val="solid"/>
          </a:ln>
        </p:spPr>
        <p:txBody>
          <a:bodyPr/>
          <a:lstStyle/>
          <a:p>
            <a:endParaRPr/>
          </a:p>
        </p:txBody>
      </p:sp>
      <p:sp>
        <p:nvSpPr>
          <p:cNvPr id="19" name="Text 15">
            <a:extLst>
              <a:ext uri="{FF2B5EF4-FFF2-40B4-BE49-F238E27FC236}">
                <a16:creationId xmlns:a16="http://schemas.microsoft.com/office/drawing/2014/main" id="{5811E4E1-6967-4B00-847E-643E1A88A68B}"/>
              </a:ext>
            </a:extLst>
          </p:cNvPr>
          <p:cNvSpPr>
            <a:spLocks noGrp="1"/>
          </p:cNvSpPr>
          <p:nvPr/>
        </p:nvSpPr>
        <p:spPr>
          <a:xfrm>
            <a:off x="8796528" y="1956816"/>
            <a:ext cx="1143000" cy="758952"/>
          </a:xfrm>
          <a:prstGeom prst="rect">
            <a:avLst/>
          </a:prstGeom>
          <a:noFill/>
        </p:spPr>
        <p:txBody>
          <a:bodyPr wrap="square" lIns="0" tIns="0" rIns="0" bIns="0" anchor="ctr">
            <a:normAutofit/>
          </a:bodyPr>
          <a:lstStyle/>
          <a:p>
            <a:pPr marL="0" indent="0">
              <a:buNone/>
            </a:pPr>
            <a:r>
              <a:rPr sz="4200" b="1">
                <a:solidFill>
                  <a:srgbClr val="2D7040"/>
                </a:solidFill>
                <a:latin typeface="Aptos"/>
                <a:ea typeface="Aptos"/>
                <a:cs typeface="Aptos"/>
              </a:rPr>
              <a:t>13</a:t>
            </a:r>
            <a:endParaRPr sz="4200"/>
          </a:p>
        </p:txBody>
      </p:sp>
      <p:sp>
        <p:nvSpPr>
          <p:cNvPr id="20" name="Text 16">
            <a:extLst>
              <a:ext uri="{FF2B5EF4-FFF2-40B4-BE49-F238E27FC236}">
                <a16:creationId xmlns:a16="http://schemas.microsoft.com/office/drawing/2014/main" id="{DC862327-FE21-423A-984A-AA55AF4A1B74}"/>
              </a:ext>
            </a:extLst>
          </p:cNvPr>
          <p:cNvSpPr>
            <a:spLocks noGrp="1"/>
          </p:cNvSpPr>
          <p:nvPr/>
        </p:nvSpPr>
        <p:spPr>
          <a:xfrm>
            <a:off x="8805672" y="2743200"/>
            <a:ext cx="3017520" cy="356616"/>
          </a:xfrm>
          <a:prstGeom prst="rect">
            <a:avLst/>
          </a:prstGeom>
          <a:noFill/>
        </p:spPr>
        <p:txBody>
          <a:bodyPr wrap="square" lIns="0" tIns="0" rIns="0" bIns="0" anchor="ctr">
            <a:normAutofit/>
          </a:bodyPr>
          <a:lstStyle/>
          <a:p>
            <a:pPr marL="0" indent="0">
              <a:buNone/>
            </a:pPr>
            <a:r>
              <a:rPr sz="1700" b="1">
                <a:solidFill>
                  <a:srgbClr val="193F2A"/>
                </a:solidFill>
                <a:latin typeface="Aptos"/>
                <a:ea typeface="Aptos"/>
                <a:cs typeface="Aptos"/>
              </a:rPr>
              <a:t>API test entries</a:t>
            </a:r>
            <a:endParaRPr sz="1700"/>
          </a:p>
        </p:txBody>
      </p:sp>
      <p:pic>
        <p:nvPicPr>
          <p:cNvPr id="21" name="Image 2">
            <a:extLst>
              <a:ext uri="{FF2B5EF4-FFF2-40B4-BE49-F238E27FC236}">
                <a16:creationId xmlns:a16="http://schemas.microsoft.com/office/drawing/2014/main" id="{F06938CD-E483-4244-97DB-8436C09ABFCC}"/>
              </a:ext>
            </a:extLst>
          </p:cNvPr>
          <p:cNvPicPr>
            <a:picLocks noChangeAspect="1"/>
          </p:cNvPicPr>
          <p:nvPr/>
        </p:nvPicPr>
        <p:blipFill>
          <a:blip r:embed="rId5"/>
          <a:stretch>
            <a:fillRect/>
          </a:stretch>
        </p:blipFill>
        <p:spPr>
          <a:xfrm>
            <a:off x="8769096" y="3734769"/>
            <a:ext cx="3118104" cy="1509871"/>
          </a:xfrm>
          <a:prstGeom prst="rect">
            <a:avLst/>
          </a:prstGeom>
        </p:spPr>
      </p:pic>
      <p:sp>
        <p:nvSpPr>
          <p:cNvPr id="22" name="Text 17">
            <a:extLst>
              <a:ext uri="{FF2B5EF4-FFF2-40B4-BE49-F238E27FC236}">
                <a16:creationId xmlns:a16="http://schemas.microsoft.com/office/drawing/2014/main" id="{5A1CB57B-7A3C-4002-9D12-A202EE7D62CE}"/>
              </a:ext>
            </a:extLst>
          </p:cNvPr>
          <p:cNvSpPr>
            <a:spLocks noGrp="1"/>
          </p:cNvSpPr>
          <p:nvPr/>
        </p:nvSpPr>
        <p:spPr>
          <a:xfrm>
            <a:off x="813816" y="6135624"/>
            <a:ext cx="10561320" cy="228600"/>
          </a:xfrm>
          <a:prstGeom prst="rect">
            <a:avLst/>
          </a:prstGeom>
          <a:noFill/>
        </p:spPr>
        <p:txBody>
          <a:bodyPr wrap="square" lIns="0" tIns="0" rIns="0" bIns="0" anchor="t">
            <a:noAutofit/>
          </a:bodyPr>
          <a:lstStyle>
            <a:defPPr algn="l">
              <a:defRPr sz="1200" b="0">
                <a:solidFill>
                  <a:srgbClr val="62736A"/>
                </a:solidFill>
                <a:latin typeface="Aptos"/>
                <a:ea typeface="Aptos"/>
                <a:cs typeface="Aptos"/>
              </a:defRPr>
            </a:defPPr>
          </a:lstStyle>
          <a:p>
            <a:pPr marL="0" indent="0" algn="l">
              <a:buNone/>
              <a:defRPr sz="1200" b="0">
                <a:solidFill>
                  <a:srgbClr val="62736A"/>
                </a:solidFill>
                <a:latin typeface="Aptos"/>
                <a:ea typeface="Aptos"/>
                <a:cs typeface="Aptos"/>
              </a:defRPr>
            </a:pPr>
            <a:r>
              <a:rPr sz="1200" b="0">
                <a:solidFill>
                  <a:srgbClr val="62736A"/>
                </a:solidFill>
                <a:latin typeface="Aptos"/>
                <a:ea typeface="Aptos"/>
                <a:cs typeface="Aptos"/>
              </a:rPr>
              <a:t>Node.js built-in test runner (node:test), assertions and fetch.</a:t>
            </a:r>
            <a:endParaRPr sz="1200"/>
          </a:p>
        </p:txBody>
      </p:sp>
      <p:sp>
        <p:nvSpPr>
          <p:cNvPr id="23" name="section-label">
            <a:extLst>
              <a:ext uri="{FF2B5EF4-FFF2-40B4-BE49-F238E27FC236}">
                <a16:creationId xmlns:a16="http://schemas.microsoft.com/office/drawing/2014/main" id="{C20EC3AB-029F-4D68-AC0F-D78AAA0122EC}"/>
              </a:ext>
            </a:extLst>
          </p:cNvPr>
          <p:cNvSpPr>
            <a:spLocks noGrp="1"/>
          </p:cNvSpPr>
          <p:nvPr/>
        </p:nvSpPr>
        <p:spPr>
          <a:xfrm>
            <a:off x="658368" y="342900"/>
            <a:ext cx="8382000" cy="228600"/>
          </a:xfrm>
          <a:prstGeom prst="rect">
            <a:avLst/>
          </a:prstGeom>
          <a:noFill/>
          <a:ln w="0">
            <a:noFill/>
          </a:ln>
        </p:spPr>
        <p:txBody>
          <a:bodyPr wrap="square" lIns="0" tIns="0" rIns="0" bIns="0" anchor="t">
            <a:noAutofit/>
          </a:bodyPr>
          <a:lstStyle>
            <a:defPPr algn="l">
              <a:defRPr sz="1100" b="1">
                <a:solidFill>
                  <a:srgbClr val="2D7040"/>
                </a:solidFill>
                <a:latin typeface="Aptos"/>
                <a:ea typeface="Aptos"/>
                <a:cs typeface="Aptos"/>
              </a:defRPr>
            </a:defPPr>
          </a:lstStyle>
          <a:p>
            <a:pPr algn="l">
              <a:defRPr sz="1100" b="1">
                <a:solidFill>
                  <a:srgbClr val="2D7040"/>
                </a:solidFill>
                <a:latin typeface="Aptos"/>
                <a:ea typeface="Aptos"/>
                <a:cs typeface="Aptos"/>
              </a:defRPr>
            </a:pPr>
            <a:r>
              <a:rPr sz="1100" b="1" dirty="0">
                <a:solidFill>
                  <a:srgbClr val="2D7040"/>
                </a:solidFill>
                <a:latin typeface="Aptos"/>
                <a:ea typeface="Aptos"/>
                <a:cs typeface="Aptos"/>
              </a:rPr>
              <a:t>02 / DESIGN - </a:t>
            </a:r>
            <a:r>
              <a:rPr lang="en-AU" sz="1100" b="1" dirty="0">
                <a:solidFill>
                  <a:srgbClr val="2D7040"/>
                </a:solidFill>
                <a:latin typeface="Aptos"/>
                <a:ea typeface="Aptos"/>
                <a:cs typeface="Aptos"/>
              </a:rPr>
              <a:t>Testing</a:t>
            </a:r>
            <a:endParaRPr sz="1100" b="1" dirty="0">
              <a:solidFill>
                <a:srgbClr val="2D7040"/>
              </a:solidFill>
              <a:latin typeface="Aptos"/>
              <a:ea typeface="Aptos"/>
              <a:cs typeface="Aptos"/>
            </a:endParaRPr>
          </a:p>
        </p:txBody>
      </p:sp>
    </p:spTree>
    <p:extLst>
      <p:ext uri="{BB962C8B-B14F-4D97-AF65-F5344CB8AC3E}">
        <p14:creationId xmlns:p14="http://schemas.microsoft.com/office/powerpoint/2010/main" val="2088014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8F4"/>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65A4397-CD34-4D97-AD2F-62C9A9DAEF8F}"/>
              </a:ext>
            </a:extLst>
          </p:cNvPr>
          <p:cNvSpPr>
            <a:spLocks noGrp="1"/>
          </p:cNvSpPr>
          <p:nvPr/>
        </p:nvSpPr>
        <p:spPr>
          <a:xfrm>
            <a:off x="0" y="0"/>
            <a:ext cx="105156" cy="6858000"/>
          </a:xfrm>
          <a:prstGeom prst="rect">
            <a:avLst/>
          </a:prstGeom>
          <a:solidFill>
            <a:srgbClr val="2D7040"/>
          </a:solidFill>
          <a:ln w="12700">
            <a:solidFill>
              <a:srgbClr val="2D7040">
                <a:alpha val="0"/>
              </a:srgbClr>
            </a:solidFill>
            <a:prstDash val="solid"/>
          </a:ln>
        </p:spPr>
        <p:txBody>
          <a:bodyPr/>
          <a:lstStyle/>
          <a:p>
            <a:endParaRPr/>
          </a:p>
        </p:txBody>
      </p:sp>
      <p:sp>
        <p:nvSpPr>
          <p:cNvPr id="4" name="Text 2">
            <a:extLst>
              <a:ext uri="{FF2B5EF4-FFF2-40B4-BE49-F238E27FC236}">
                <a16:creationId xmlns:a16="http://schemas.microsoft.com/office/drawing/2014/main" id="{373D6976-2C50-4FED-8D10-D1CEE0EA1A3C}"/>
              </a:ext>
            </a:extLst>
          </p:cNvPr>
          <p:cNvSpPr>
            <a:spLocks noGrp="1"/>
          </p:cNvSpPr>
          <p:nvPr/>
        </p:nvSpPr>
        <p:spPr>
          <a:xfrm>
            <a:off x="658368" y="758952"/>
            <a:ext cx="10698480" cy="502920"/>
          </a:xfrm>
          <a:prstGeom prst="rect">
            <a:avLst/>
          </a:prstGeom>
          <a:noFill/>
        </p:spPr>
        <p:txBody>
          <a:bodyPr wrap="square" lIns="0" tIns="0" rIns="0" bIns="0" anchor="ctr">
            <a:normAutofit/>
          </a:bodyPr>
          <a:lstStyle/>
          <a:p>
            <a:pPr marL="0" indent="0">
              <a:buNone/>
            </a:pPr>
            <a:r>
              <a:rPr lang="en-AU" sz="3000" b="1" dirty="0">
                <a:solidFill>
                  <a:srgbClr val="193F2A"/>
                </a:solidFill>
                <a:latin typeface="Aptos"/>
                <a:ea typeface="Aptos"/>
                <a:cs typeface="Aptos"/>
              </a:rPr>
              <a:t>C</a:t>
            </a:r>
            <a:r>
              <a:rPr sz="3000" b="1" dirty="0">
                <a:solidFill>
                  <a:srgbClr val="193F2A"/>
                </a:solidFill>
                <a:latin typeface="Aptos"/>
                <a:ea typeface="Aptos"/>
                <a:cs typeface="Aptos"/>
              </a:rPr>
              <a:t>alculations</a:t>
            </a:r>
            <a:endParaRPr sz="3000" dirty="0"/>
          </a:p>
        </p:txBody>
      </p:sp>
      <p:sp>
        <p:nvSpPr>
          <p:cNvPr id="5" name="Text 3">
            <a:extLst>
              <a:ext uri="{FF2B5EF4-FFF2-40B4-BE49-F238E27FC236}">
                <a16:creationId xmlns:a16="http://schemas.microsoft.com/office/drawing/2014/main" id="{099B63B9-CD27-41CE-8A0A-749554CE4EEA}"/>
              </a:ext>
            </a:extLst>
          </p:cNvPr>
          <p:cNvSpPr>
            <a:spLocks noGrp="1"/>
          </p:cNvSpPr>
          <p:nvPr/>
        </p:nvSpPr>
        <p:spPr>
          <a:xfrm>
            <a:off x="676656" y="1298448"/>
            <a:ext cx="10424160" cy="292608"/>
          </a:xfrm>
          <a:prstGeom prst="rect">
            <a:avLst/>
          </a:prstGeom>
          <a:noFill/>
        </p:spPr>
        <p:txBody>
          <a:bodyPr wrap="square" lIns="0" tIns="0" rIns="0" bIns="0" anchor="ctr">
            <a:normAutofit/>
          </a:bodyPr>
          <a:lstStyle/>
          <a:p>
            <a:pPr marL="0" indent="0">
              <a:buNone/>
            </a:pPr>
            <a:r>
              <a:rPr sz="1400">
                <a:solidFill>
                  <a:srgbClr val="62736A"/>
                </a:solidFill>
                <a:latin typeface="Aptos"/>
                <a:ea typeface="Aptos"/>
                <a:cs typeface="Aptos"/>
              </a:rPr>
              <a:t>Herds, paddocks and crops connect to the feed balance</a:t>
            </a:r>
            <a:endParaRPr sz="1400"/>
          </a:p>
        </p:txBody>
      </p:sp>
      <p:sp>
        <p:nvSpPr>
          <p:cNvPr id="6" name="Text 4">
            <a:extLst>
              <a:ext uri="{FF2B5EF4-FFF2-40B4-BE49-F238E27FC236}">
                <a16:creationId xmlns:a16="http://schemas.microsoft.com/office/drawing/2014/main" id="{C8767EDA-9BD7-45B3-BDD3-0C201F67E285}"/>
              </a:ext>
            </a:extLst>
          </p:cNvPr>
          <p:cNvSpPr>
            <a:spLocks noGrp="1"/>
          </p:cNvSpPr>
          <p:nvPr/>
        </p:nvSpPr>
        <p:spPr>
          <a:xfrm>
            <a:off x="10561320" y="338328"/>
            <a:ext cx="1005840" cy="274320"/>
          </a:xfrm>
          <a:prstGeom prst="rect">
            <a:avLst/>
          </a:prstGeom>
          <a:noFill/>
        </p:spPr>
        <p:txBody>
          <a:bodyPr wrap="square" lIns="0" tIns="0" rIns="0" bIns="0" anchor="ctr">
            <a:normAutofit/>
          </a:bodyPr>
          <a:lstStyle/>
          <a:p>
            <a:pPr marL="0" indent="0" algn="r">
              <a:buNone/>
            </a:pPr>
            <a:r>
              <a:rPr sz="1400" b="1" dirty="0">
                <a:solidFill>
                  <a:srgbClr val="193F2A"/>
                </a:solidFill>
                <a:latin typeface="Aptos"/>
                <a:ea typeface="Aptos"/>
                <a:cs typeface="Aptos"/>
              </a:rPr>
              <a:t>FeedBoard</a:t>
            </a:r>
            <a:endParaRPr sz="1400" dirty="0"/>
          </a:p>
        </p:txBody>
      </p:sp>
      <p:sp>
        <p:nvSpPr>
          <p:cNvPr id="7" name="Shape 5">
            <a:extLst>
              <a:ext uri="{FF2B5EF4-FFF2-40B4-BE49-F238E27FC236}">
                <a16:creationId xmlns:a16="http://schemas.microsoft.com/office/drawing/2014/main" id="{98D77BFE-86F9-4E77-877E-AA576A9ACA21}"/>
              </a:ext>
            </a:extLst>
          </p:cNvPr>
          <p:cNvSpPr>
            <a:spLocks noGrp="1"/>
          </p:cNvSpPr>
          <p:nvPr/>
        </p:nvSpPr>
        <p:spPr>
          <a:xfrm>
            <a:off x="658368" y="6492240"/>
            <a:ext cx="10844784" cy="0"/>
          </a:xfrm>
          <a:prstGeom prst="line">
            <a:avLst/>
          </a:prstGeom>
          <a:noFill/>
          <a:ln w="11430">
            <a:solidFill>
              <a:srgbClr val="D9E2D9"/>
            </a:solidFill>
            <a:prstDash val="solid"/>
          </a:ln>
        </p:spPr>
        <p:txBody>
          <a:bodyPr/>
          <a:lstStyle/>
          <a:p>
            <a:endParaRPr/>
          </a:p>
        </p:txBody>
      </p:sp>
      <p:sp>
        <p:nvSpPr>
          <p:cNvPr id="8" name="Text 6">
            <a:extLst>
              <a:ext uri="{FF2B5EF4-FFF2-40B4-BE49-F238E27FC236}">
                <a16:creationId xmlns:a16="http://schemas.microsoft.com/office/drawing/2014/main" id="{18CFF9E7-41F3-4619-8AF2-8E313CBBAC1A}"/>
              </a:ext>
            </a:extLst>
          </p:cNvPr>
          <p:cNvSpPr>
            <a:spLocks noGrp="1"/>
          </p:cNvSpPr>
          <p:nvPr/>
        </p:nvSpPr>
        <p:spPr>
          <a:xfrm>
            <a:off x="667512" y="6556248"/>
            <a:ext cx="4114800" cy="155448"/>
          </a:xfrm>
          <a:prstGeom prst="rect">
            <a:avLst/>
          </a:prstGeom>
          <a:noFill/>
        </p:spPr>
        <p:txBody>
          <a:bodyPr wrap="square" lIns="0" tIns="0" rIns="0" bIns="0" anchor="ctr">
            <a:normAutofit/>
          </a:bodyPr>
          <a:lstStyle/>
          <a:p>
            <a:pPr marL="0" indent="0">
              <a:buNone/>
            </a:pPr>
            <a:r>
              <a:rPr sz="900" b="1" spc="60">
                <a:solidFill>
                  <a:srgbClr val="62736A"/>
                </a:solidFill>
                <a:latin typeface="Aptos"/>
                <a:ea typeface="Aptos"/>
                <a:cs typeface="Aptos"/>
              </a:rPr>
              <a:t>GRAZING + FEED PLANNING</a:t>
            </a:r>
            <a:endParaRPr sz="900"/>
          </a:p>
        </p:txBody>
      </p:sp>
      <p:sp>
        <p:nvSpPr>
          <p:cNvPr id="9" name="Text 7">
            <a:extLst>
              <a:ext uri="{FF2B5EF4-FFF2-40B4-BE49-F238E27FC236}">
                <a16:creationId xmlns:a16="http://schemas.microsoft.com/office/drawing/2014/main" id="{25538607-B8FA-4A45-BF7C-7BD105E1AC45}"/>
              </a:ext>
            </a:extLst>
          </p:cNvPr>
          <p:cNvSpPr>
            <a:spLocks noGrp="1"/>
          </p:cNvSpPr>
          <p:nvPr/>
        </p:nvSpPr>
        <p:spPr>
          <a:xfrm>
            <a:off x="10789920" y="6528816"/>
            <a:ext cx="676656" cy="201168"/>
          </a:xfrm>
          <a:prstGeom prst="rect">
            <a:avLst/>
          </a:prstGeom>
          <a:noFill/>
        </p:spPr>
        <p:txBody>
          <a:bodyPr wrap="square" lIns="0" tIns="0" rIns="0" bIns="0" anchor="ctr">
            <a:normAutofit/>
          </a:bodyPr>
          <a:lstStyle/>
          <a:p>
            <a:pPr marL="0" indent="0" algn="r">
              <a:buNone/>
            </a:pPr>
            <a:endParaRPr sz="1000"/>
          </a:p>
        </p:txBody>
      </p:sp>
      <p:sp>
        <p:nvSpPr>
          <p:cNvPr id="10" name="Shape 8">
            <a:extLst>
              <a:ext uri="{FF2B5EF4-FFF2-40B4-BE49-F238E27FC236}">
                <a16:creationId xmlns:a16="http://schemas.microsoft.com/office/drawing/2014/main" id="{A9B9D618-6BEF-41EF-9E27-F57259A68BB1}"/>
              </a:ext>
            </a:extLst>
          </p:cNvPr>
          <p:cNvSpPr>
            <a:spLocks noGrp="1"/>
          </p:cNvSpPr>
          <p:nvPr/>
        </p:nvSpPr>
        <p:spPr>
          <a:xfrm>
            <a:off x="704088" y="1691640"/>
            <a:ext cx="5660136" cy="4361688"/>
          </a:xfrm>
          <a:prstGeom prst="roundRect">
            <a:avLst>
              <a:gd name="adj" fmla="val 2516"/>
            </a:avLst>
          </a:prstGeom>
          <a:solidFill>
            <a:srgbClr val="FFFFFF"/>
          </a:solidFill>
          <a:ln w="8890">
            <a:solidFill>
              <a:srgbClr val="D9E2D9"/>
            </a:solidFill>
            <a:prstDash val="solid"/>
          </a:ln>
        </p:spPr>
        <p:txBody>
          <a:bodyPr/>
          <a:lstStyle/>
          <a:p>
            <a:endParaRPr/>
          </a:p>
        </p:txBody>
      </p:sp>
      <p:pic>
        <p:nvPicPr>
          <p:cNvPr id="11" name="Image 0">
            <a:extLst>
              <a:ext uri="{FF2B5EF4-FFF2-40B4-BE49-F238E27FC236}">
                <a16:creationId xmlns:a16="http://schemas.microsoft.com/office/drawing/2014/main" id="{D202A1B3-6951-43A8-9039-B896AB948559}"/>
              </a:ext>
            </a:extLst>
          </p:cNvPr>
          <p:cNvPicPr>
            <a:picLocks noChangeAspect="1"/>
          </p:cNvPicPr>
          <p:nvPr/>
        </p:nvPicPr>
        <p:blipFill>
          <a:blip r:embed="rId3"/>
          <a:stretch>
            <a:fillRect/>
          </a:stretch>
        </p:blipFill>
        <p:spPr>
          <a:xfrm>
            <a:off x="768096" y="1911288"/>
            <a:ext cx="5532120" cy="3922393"/>
          </a:xfrm>
          <a:prstGeom prst="rect">
            <a:avLst/>
          </a:prstGeom>
        </p:spPr>
      </p:pic>
      <p:sp>
        <p:nvSpPr>
          <p:cNvPr id="12" name="Shape 9">
            <a:extLst>
              <a:ext uri="{FF2B5EF4-FFF2-40B4-BE49-F238E27FC236}">
                <a16:creationId xmlns:a16="http://schemas.microsoft.com/office/drawing/2014/main" id="{AAD51D59-6A4E-4071-BC0F-A3D734A283AB}"/>
              </a:ext>
            </a:extLst>
          </p:cNvPr>
          <p:cNvSpPr>
            <a:spLocks noGrp="1"/>
          </p:cNvSpPr>
          <p:nvPr/>
        </p:nvSpPr>
        <p:spPr>
          <a:xfrm>
            <a:off x="6601968" y="1691640"/>
            <a:ext cx="4855464" cy="2432304"/>
          </a:xfrm>
          <a:prstGeom prst="roundRect">
            <a:avLst>
              <a:gd name="adj" fmla="val 4511"/>
            </a:avLst>
          </a:prstGeom>
          <a:solidFill>
            <a:srgbClr val="FFFFFF"/>
          </a:solidFill>
          <a:ln w="8890">
            <a:solidFill>
              <a:srgbClr val="D9E2D9"/>
            </a:solidFill>
            <a:prstDash val="solid"/>
          </a:ln>
        </p:spPr>
        <p:txBody>
          <a:bodyPr/>
          <a:lstStyle/>
          <a:p>
            <a:endParaRPr/>
          </a:p>
        </p:txBody>
      </p:sp>
      <p:pic>
        <p:nvPicPr>
          <p:cNvPr id="13" name="Image 1">
            <a:extLst>
              <a:ext uri="{FF2B5EF4-FFF2-40B4-BE49-F238E27FC236}">
                <a16:creationId xmlns:a16="http://schemas.microsoft.com/office/drawing/2014/main" id="{875368A7-F793-4E9C-BB03-4BA45206854A}"/>
              </a:ext>
            </a:extLst>
          </p:cNvPr>
          <p:cNvPicPr>
            <a:picLocks noChangeAspect="1"/>
          </p:cNvPicPr>
          <p:nvPr/>
        </p:nvPicPr>
        <p:blipFill>
          <a:blip r:embed="rId4"/>
          <a:stretch>
            <a:fillRect/>
          </a:stretch>
        </p:blipFill>
        <p:spPr>
          <a:xfrm>
            <a:off x="6665976" y="1770194"/>
            <a:ext cx="4727448" cy="2275195"/>
          </a:xfrm>
          <a:prstGeom prst="rect">
            <a:avLst/>
          </a:prstGeom>
        </p:spPr>
      </p:pic>
      <p:sp>
        <p:nvSpPr>
          <p:cNvPr id="14" name="Shape 10">
            <a:extLst>
              <a:ext uri="{FF2B5EF4-FFF2-40B4-BE49-F238E27FC236}">
                <a16:creationId xmlns:a16="http://schemas.microsoft.com/office/drawing/2014/main" id="{4143101A-7352-47C0-B8CE-508D12697749}"/>
              </a:ext>
            </a:extLst>
          </p:cNvPr>
          <p:cNvSpPr>
            <a:spLocks noGrp="1"/>
          </p:cNvSpPr>
          <p:nvPr/>
        </p:nvSpPr>
        <p:spPr>
          <a:xfrm>
            <a:off x="6611112" y="4315968"/>
            <a:ext cx="4828032" cy="1728216"/>
          </a:xfrm>
          <a:prstGeom prst="roundRect">
            <a:avLst>
              <a:gd name="adj" fmla="val 6349"/>
            </a:avLst>
          </a:prstGeom>
          <a:solidFill>
            <a:srgbClr val="EDF3E9"/>
          </a:solidFill>
          <a:ln w="8890">
            <a:solidFill>
              <a:srgbClr val="EDF3E9"/>
            </a:solidFill>
            <a:prstDash val="solid"/>
          </a:ln>
        </p:spPr>
        <p:txBody>
          <a:bodyPr/>
          <a:lstStyle/>
          <a:p>
            <a:endParaRPr/>
          </a:p>
        </p:txBody>
      </p:sp>
      <p:sp>
        <p:nvSpPr>
          <p:cNvPr id="15" name="Text 11">
            <a:extLst>
              <a:ext uri="{FF2B5EF4-FFF2-40B4-BE49-F238E27FC236}">
                <a16:creationId xmlns:a16="http://schemas.microsoft.com/office/drawing/2014/main" id="{ED8156A5-6918-4C14-8FE9-86D5246EFABE}"/>
              </a:ext>
            </a:extLst>
          </p:cNvPr>
          <p:cNvSpPr>
            <a:spLocks noGrp="1"/>
          </p:cNvSpPr>
          <p:nvPr/>
        </p:nvSpPr>
        <p:spPr>
          <a:xfrm>
            <a:off x="6876288" y="4572000"/>
            <a:ext cx="4114800" cy="356616"/>
          </a:xfrm>
          <a:prstGeom prst="rect">
            <a:avLst/>
          </a:prstGeom>
          <a:noFill/>
        </p:spPr>
        <p:txBody>
          <a:bodyPr wrap="square" lIns="0" tIns="0" rIns="0" bIns="0" anchor="ctr">
            <a:normAutofit/>
          </a:bodyPr>
          <a:lstStyle/>
          <a:p>
            <a:pPr marL="0" indent="0">
              <a:buNone/>
            </a:pPr>
            <a:endParaRPr sz="1800" dirty="0"/>
          </a:p>
        </p:txBody>
      </p:sp>
      <p:sp>
        <p:nvSpPr>
          <p:cNvPr id="16" name="Text 12">
            <a:extLst>
              <a:ext uri="{FF2B5EF4-FFF2-40B4-BE49-F238E27FC236}">
                <a16:creationId xmlns:a16="http://schemas.microsoft.com/office/drawing/2014/main" id="{CD54B3A5-3693-4EB7-896C-DD9F90AFFBB3}"/>
              </a:ext>
            </a:extLst>
          </p:cNvPr>
          <p:cNvSpPr>
            <a:spLocks noGrp="1"/>
          </p:cNvSpPr>
          <p:nvPr/>
        </p:nvSpPr>
        <p:spPr>
          <a:xfrm>
            <a:off x="6876288" y="4983480"/>
            <a:ext cx="4114800" cy="850392"/>
          </a:xfrm>
          <a:prstGeom prst="rect">
            <a:avLst/>
          </a:prstGeom>
          <a:noFill/>
        </p:spPr>
        <p:txBody>
          <a:bodyPr wrap="square" lIns="0" tIns="0" rIns="0" bIns="0" anchor="t">
            <a:normAutofit/>
          </a:bodyPr>
          <a:lstStyle/>
          <a:p>
            <a:pPr marL="0" indent="0">
              <a:buNone/>
            </a:pPr>
            <a:endParaRPr sz="1600" dirty="0"/>
          </a:p>
        </p:txBody>
      </p:sp>
      <p:sp>
        <p:nvSpPr>
          <p:cNvPr id="17" name="section-label">
            <a:extLst>
              <a:ext uri="{FF2B5EF4-FFF2-40B4-BE49-F238E27FC236}">
                <a16:creationId xmlns:a16="http://schemas.microsoft.com/office/drawing/2014/main" id="{C8A3C948-793A-41FE-9DD2-A28FB2FA456E}"/>
              </a:ext>
            </a:extLst>
          </p:cNvPr>
          <p:cNvSpPr>
            <a:spLocks noGrp="1"/>
          </p:cNvSpPr>
          <p:nvPr/>
        </p:nvSpPr>
        <p:spPr>
          <a:xfrm>
            <a:off x="658368" y="342900"/>
            <a:ext cx="8382000" cy="228600"/>
          </a:xfrm>
          <a:prstGeom prst="rect">
            <a:avLst/>
          </a:prstGeom>
          <a:noFill/>
          <a:ln w="0">
            <a:noFill/>
          </a:ln>
        </p:spPr>
        <p:txBody>
          <a:bodyPr wrap="square" lIns="0" tIns="0" rIns="0" bIns="0" anchor="t">
            <a:noAutofit/>
          </a:bodyPr>
          <a:lstStyle>
            <a:defPPr algn="l">
              <a:defRPr sz="1100" b="1">
                <a:solidFill>
                  <a:srgbClr val="2D7040"/>
                </a:solidFill>
                <a:latin typeface="Aptos"/>
                <a:ea typeface="Aptos"/>
                <a:cs typeface="Aptos"/>
              </a:defRPr>
            </a:defPPr>
          </a:lstStyle>
          <a:p>
            <a:pPr algn="l">
              <a:defRPr sz="1100" b="1">
                <a:solidFill>
                  <a:srgbClr val="2D7040"/>
                </a:solidFill>
                <a:latin typeface="Aptos"/>
                <a:ea typeface="Aptos"/>
                <a:cs typeface="Aptos"/>
              </a:defRPr>
            </a:pPr>
            <a:r>
              <a:rPr sz="1100" b="1" dirty="0">
                <a:solidFill>
                  <a:srgbClr val="2D7040"/>
                </a:solidFill>
                <a:latin typeface="Aptos"/>
                <a:ea typeface="Aptos"/>
                <a:cs typeface="Aptos"/>
              </a:rPr>
              <a:t>03 / DELIVERY </a:t>
            </a:r>
            <a:r>
              <a:rPr lang="en-NZ" sz="1100" b="1" dirty="0">
                <a:solidFill>
                  <a:srgbClr val="2D7040"/>
                </a:solidFill>
                <a:latin typeface="Aptos"/>
                <a:ea typeface="Aptos"/>
                <a:cs typeface="Aptos"/>
              </a:rPr>
              <a:t>–</a:t>
            </a:r>
            <a:r>
              <a:rPr lang="en-AU" sz="1100" b="1" dirty="0">
                <a:solidFill>
                  <a:srgbClr val="2D7040"/>
                </a:solidFill>
                <a:latin typeface="Aptos"/>
                <a:ea typeface="Aptos"/>
                <a:cs typeface="Aptos"/>
              </a:rPr>
              <a:t> Backend</a:t>
            </a:r>
            <a:endParaRPr sz="1100" b="1" dirty="0">
              <a:solidFill>
                <a:srgbClr val="2D7040"/>
              </a:solidFill>
              <a:latin typeface="Aptos"/>
              <a:ea typeface="Aptos"/>
              <a:cs typeface="Aptos"/>
            </a:endParaRPr>
          </a:p>
        </p:txBody>
      </p:sp>
      <p:sp>
        <p:nvSpPr>
          <p:cNvPr id="3" name="Shape 8">
            <a:extLst>
              <a:ext uri="{FF2B5EF4-FFF2-40B4-BE49-F238E27FC236}">
                <a16:creationId xmlns:a16="http://schemas.microsoft.com/office/drawing/2014/main" id="{4B39D786-0878-3DAD-CEE8-310EBB974192}"/>
              </a:ext>
            </a:extLst>
          </p:cNvPr>
          <p:cNvSpPr/>
          <p:nvPr/>
        </p:nvSpPr>
        <p:spPr>
          <a:xfrm>
            <a:off x="704088" y="1691640"/>
            <a:ext cx="5660136" cy="4361688"/>
          </a:xfrm>
          <a:prstGeom prst="roundRect">
            <a:avLst>
              <a:gd name="adj" fmla="val 2516"/>
            </a:avLst>
          </a:prstGeom>
          <a:solidFill>
            <a:srgbClr val="FFFFFF"/>
          </a:solidFill>
          <a:ln w="8890">
            <a:solidFill>
              <a:srgbClr val="D9E2D9"/>
            </a:solidFill>
            <a:prstDash val="solid"/>
          </a:ln>
        </p:spPr>
        <p:txBody>
          <a:bodyPr/>
          <a:lstStyle/>
          <a:p>
            <a:endParaRPr lang="en-US" dirty="0"/>
          </a:p>
        </p:txBody>
      </p:sp>
      <p:sp>
        <p:nvSpPr>
          <p:cNvPr id="18" name="Text 11">
            <a:extLst>
              <a:ext uri="{FF2B5EF4-FFF2-40B4-BE49-F238E27FC236}">
                <a16:creationId xmlns:a16="http://schemas.microsoft.com/office/drawing/2014/main" id="{4D64CC35-17BC-8763-E1F3-F56CF0095533}"/>
              </a:ext>
            </a:extLst>
          </p:cNvPr>
          <p:cNvSpPr/>
          <p:nvPr/>
        </p:nvSpPr>
        <p:spPr>
          <a:xfrm>
            <a:off x="6876288" y="4572000"/>
            <a:ext cx="4114800" cy="356616"/>
          </a:xfrm>
          <a:prstGeom prst="rect">
            <a:avLst/>
          </a:prstGeom>
          <a:noFill/>
          <a:ln/>
        </p:spPr>
        <p:txBody>
          <a:bodyPr wrap="square" lIns="0" tIns="0" rIns="0" bIns="0" rtlCol="0" anchor="ctr">
            <a:normAutofit/>
          </a:bodyPr>
          <a:lstStyle/>
          <a:p>
            <a:pPr marL="0" indent="0">
              <a:buNone/>
            </a:pPr>
            <a:endParaRPr lang="en-US" sz="1800" dirty="0"/>
          </a:p>
        </p:txBody>
      </p:sp>
      <p:sp>
        <p:nvSpPr>
          <p:cNvPr id="19" name="Text 12">
            <a:extLst>
              <a:ext uri="{FF2B5EF4-FFF2-40B4-BE49-F238E27FC236}">
                <a16:creationId xmlns:a16="http://schemas.microsoft.com/office/drawing/2014/main" id="{E965334C-06FB-1ACA-8D1D-56EC7F3C2A48}"/>
              </a:ext>
            </a:extLst>
          </p:cNvPr>
          <p:cNvSpPr/>
          <p:nvPr/>
        </p:nvSpPr>
        <p:spPr>
          <a:xfrm>
            <a:off x="6876288" y="4983480"/>
            <a:ext cx="4114800" cy="850392"/>
          </a:xfrm>
          <a:prstGeom prst="rect">
            <a:avLst/>
          </a:prstGeom>
          <a:noFill/>
          <a:ln/>
        </p:spPr>
        <p:txBody>
          <a:bodyPr wrap="square" lIns="0" tIns="0" rIns="0" bIns="0" rtlCol="0" anchor="t">
            <a:normAutofit/>
          </a:bodyPr>
          <a:lstStyle/>
          <a:p>
            <a:pPr marL="0" indent="0">
              <a:buNone/>
            </a:pPr>
            <a:endParaRPr lang="en-US" sz="1600" dirty="0"/>
          </a:p>
        </p:txBody>
      </p:sp>
      <p:graphicFrame>
        <p:nvGraphicFramePr>
          <p:cNvPr id="20" name="Table 19">
            <a:extLst>
              <a:ext uri="{FF2B5EF4-FFF2-40B4-BE49-F238E27FC236}">
                <a16:creationId xmlns:a16="http://schemas.microsoft.com/office/drawing/2014/main" id="{A9D266D2-4344-BD68-D59E-E4140C13554C}"/>
              </a:ext>
            </a:extLst>
          </p:cNvPr>
          <p:cNvGraphicFramePr>
            <a:graphicFrameLocks noGrp="1"/>
          </p:cNvGraphicFramePr>
          <p:nvPr>
            <p:extLst>
              <p:ext uri="{D42A27DB-BD31-4B8C-83A1-F6EECF244321}">
                <p14:modId xmlns:p14="http://schemas.microsoft.com/office/powerpoint/2010/main" val="1666834164"/>
              </p:ext>
            </p:extLst>
          </p:nvPr>
        </p:nvGraphicFramePr>
        <p:xfrm>
          <a:off x="864524" y="1743761"/>
          <a:ext cx="5024212" cy="4241404"/>
        </p:xfrm>
        <a:graphic>
          <a:graphicData uri="http://schemas.openxmlformats.org/drawingml/2006/table">
            <a:tbl>
              <a:tblPr>
                <a:tableStyleId>{5C22544A-7EE6-4342-B048-85BDC9FD1C3A}</a:tableStyleId>
              </a:tblPr>
              <a:tblGrid>
                <a:gridCol w="1829455">
                  <a:extLst>
                    <a:ext uri="{9D8B030D-6E8A-4147-A177-3AD203B41FA5}">
                      <a16:colId xmlns:a16="http://schemas.microsoft.com/office/drawing/2014/main" val="1246529239"/>
                    </a:ext>
                  </a:extLst>
                </a:gridCol>
                <a:gridCol w="3194757">
                  <a:extLst>
                    <a:ext uri="{9D8B030D-6E8A-4147-A177-3AD203B41FA5}">
                      <a16:colId xmlns:a16="http://schemas.microsoft.com/office/drawing/2014/main" val="2401742179"/>
                    </a:ext>
                  </a:extLst>
                </a:gridCol>
              </a:tblGrid>
              <a:tr h="706901">
                <a:tc>
                  <a:txBody>
                    <a:bodyPr/>
                    <a:lstStyle/>
                    <a:p>
                      <a:pPr>
                        <a:buNone/>
                      </a:pPr>
                      <a:r>
                        <a:rPr lang="en-NZ" sz="1200" dirty="0"/>
                        <a:t>Daily grazing area</a:t>
                      </a:r>
                    </a:p>
                  </a:txBody>
                  <a:tcPr anchor="ctr">
                    <a:noFill/>
                  </a:tcPr>
                </a:tc>
                <a:tc>
                  <a:txBody>
                    <a:bodyPr/>
                    <a:lstStyle/>
                    <a:p>
                      <a:pPr>
                        <a:buNone/>
                      </a:pPr>
                      <a:r>
                        <a:rPr lang="en-NZ" sz="1200" dirty="0"/>
                        <a:t>Hectares needed each day, based on grazing area and round length</a:t>
                      </a:r>
                    </a:p>
                  </a:txBody>
                  <a:tcPr anchor="ctr">
                    <a:noFill/>
                  </a:tcPr>
                </a:tc>
                <a:extLst>
                  <a:ext uri="{0D108BD9-81ED-4DB2-BD59-A6C34878D82A}">
                    <a16:rowId xmlns:a16="http://schemas.microsoft.com/office/drawing/2014/main" val="1336398641"/>
                  </a:ext>
                </a:extLst>
              </a:tr>
              <a:tr h="494830">
                <a:tc>
                  <a:txBody>
                    <a:bodyPr/>
                    <a:lstStyle/>
                    <a:p>
                      <a:pPr>
                        <a:buNone/>
                      </a:pPr>
                      <a:r>
                        <a:rPr lang="en-NZ" sz="1200"/>
                        <a:t>Pasture intake</a:t>
                      </a:r>
                    </a:p>
                  </a:txBody>
                  <a:tcPr anchor="ctr">
                    <a:noFill/>
                  </a:tcPr>
                </a:tc>
                <a:tc>
                  <a:txBody>
                    <a:bodyPr/>
                    <a:lstStyle/>
                    <a:p>
                      <a:pPr>
                        <a:buNone/>
                      </a:pPr>
                      <a:r>
                        <a:rPr lang="en-NZ" sz="1200" dirty="0"/>
                        <a:t>Pasture available per animal per day in kgDM</a:t>
                      </a:r>
                    </a:p>
                  </a:txBody>
                  <a:tcPr anchor="ctr">
                    <a:noFill/>
                  </a:tcPr>
                </a:tc>
                <a:extLst>
                  <a:ext uri="{0D108BD9-81ED-4DB2-BD59-A6C34878D82A}">
                    <a16:rowId xmlns:a16="http://schemas.microsoft.com/office/drawing/2014/main" val="252303976"/>
                  </a:ext>
                </a:extLst>
              </a:tr>
              <a:tr h="706901">
                <a:tc>
                  <a:txBody>
                    <a:bodyPr/>
                    <a:lstStyle/>
                    <a:p>
                      <a:pPr>
                        <a:buNone/>
                      </a:pPr>
                      <a:r>
                        <a:rPr lang="en-NZ" sz="1200" dirty="0"/>
                        <a:t>Feed surplus or shortfall</a:t>
                      </a:r>
                    </a:p>
                  </a:txBody>
                  <a:tcPr anchor="ctr">
                    <a:noFill/>
                  </a:tcPr>
                </a:tc>
                <a:tc>
                  <a:txBody>
                    <a:bodyPr/>
                    <a:lstStyle/>
                    <a:p>
                      <a:pPr>
                        <a:buNone/>
                      </a:pPr>
                      <a:r>
                        <a:rPr lang="en-NZ" sz="1200" dirty="0"/>
                        <a:t>Feed offered compared with the herd’s target intake</a:t>
                      </a:r>
                    </a:p>
                  </a:txBody>
                  <a:tcPr anchor="ctr">
                    <a:noFill/>
                  </a:tcPr>
                </a:tc>
                <a:extLst>
                  <a:ext uri="{0D108BD9-81ED-4DB2-BD59-A6C34878D82A}">
                    <a16:rowId xmlns:a16="http://schemas.microsoft.com/office/drawing/2014/main" val="4258527947"/>
                  </a:ext>
                </a:extLst>
              </a:tr>
              <a:tr h="706901">
                <a:tc>
                  <a:txBody>
                    <a:bodyPr/>
                    <a:lstStyle/>
                    <a:p>
                      <a:pPr>
                        <a:buNone/>
                      </a:pPr>
                      <a:r>
                        <a:rPr lang="en-NZ" sz="1200"/>
                        <a:t>Crop availability</a:t>
                      </a:r>
                    </a:p>
                  </a:txBody>
                  <a:tcPr anchor="ctr">
                    <a:noFill/>
                  </a:tcPr>
                </a:tc>
                <a:tc>
                  <a:txBody>
                    <a:bodyPr/>
                    <a:lstStyle/>
                    <a:p>
                      <a:pPr>
                        <a:buNone/>
                      </a:pPr>
                      <a:r>
                        <a:rPr lang="en-NZ" sz="1200" dirty="0"/>
                        <a:t>Days remaining, finish date and today’s available crop feed</a:t>
                      </a:r>
                    </a:p>
                  </a:txBody>
                  <a:tcPr anchor="ctr">
                    <a:noFill/>
                  </a:tcPr>
                </a:tc>
                <a:extLst>
                  <a:ext uri="{0D108BD9-81ED-4DB2-BD59-A6C34878D82A}">
                    <a16:rowId xmlns:a16="http://schemas.microsoft.com/office/drawing/2014/main" val="834596988"/>
                  </a:ext>
                </a:extLst>
              </a:tr>
              <a:tr h="706901">
                <a:tc>
                  <a:txBody>
                    <a:bodyPr/>
                    <a:lstStyle/>
                    <a:p>
                      <a:pPr>
                        <a:buNone/>
                      </a:pPr>
                      <a:r>
                        <a:rPr lang="en-NZ" sz="1200"/>
                        <a:t>Crop intake per herd</a:t>
                      </a:r>
                    </a:p>
                  </a:txBody>
                  <a:tcPr anchor="ctr">
                    <a:noFill/>
                  </a:tcPr>
                </a:tc>
                <a:tc>
                  <a:txBody>
                    <a:bodyPr/>
                    <a:lstStyle/>
                    <a:p>
                      <a:pPr>
                        <a:buNone/>
                      </a:pPr>
                      <a:r>
                        <a:rPr lang="en-NZ" sz="1200" dirty="0"/>
                        <a:t>Total crop kgDM per animal from the herd’s active crops</a:t>
                      </a:r>
                    </a:p>
                  </a:txBody>
                  <a:tcPr anchor="ctr">
                    <a:noFill/>
                  </a:tcPr>
                </a:tc>
                <a:extLst>
                  <a:ext uri="{0D108BD9-81ED-4DB2-BD59-A6C34878D82A}">
                    <a16:rowId xmlns:a16="http://schemas.microsoft.com/office/drawing/2014/main" val="2822128131"/>
                  </a:ext>
                </a:extLst>
              </a:tr>
              <a:tr h="918970">
                <a:tc>
                  <a:txBody>
                    <a:bodyPr/>
                    <a:lstStyle/>
                    <a:p>
                      <a:pPr>
                        <a:buNone/>
                      </a:pPr>
                      <a:r>
                        <a:rPr lang="en-NZ" sz="1200"/>
                        <a:t>AM/PM paddock plan</a:t>
                      </a:r>
                    </a:p>
                  </a:txBody>
                  <a:tcPr anchor="ctr">
                    <a:noFill/>
                  </a:tcPr>
                </a:tc>
                <a:tc>
                  <a:txBody>
                    <a:bodyPr/>
                    <a:lstStyle/>
                    <a:p>
                      <a:pPr>
                        <a:buNone/>
                      </a:pPr>
                      <a:r>
                        <a:rPr lang="en-NZ" sz="1200" dirty="0"/>
                        <a:t>Break sizes, paddock allocation and progression through the grazing queue</a:t>
                      </a:r>
                    </a:p>
                  </a:txBody>
                  <a:tcPr anchor="ctr">
                    <a:noFill/>
                  </a:tcPr>
                </a:tc>
                <a:extLst>
                  <a:ext uri="{0D108BD9-81ED-4DB2-BD59-A6C34878D82A}">
                    <a16:rowId xmlns:a16="http://schemas.microsoft.com/office/drawing/2014/main" val="849026952"/>
                  </a:ext>
                </a:extLst>
              </a:tr>
            </a:tbl>
          </a:graphicData>
        </a:graphic>
      </p:graphicFrame>
      <p:pic>
        <p:nvPicPr>
          <p:cNvPr id="21" name="Picture 20">
            <a:extLst>
              <a:ext uri="{FF2B5EF4-FFF2-40B4-BE49-F238E27FC236}">
                <a16:creationId xmlns:a16="http://schemas.microsoft.com/office/drawing/2014/main" id="{B29F533C-BA89-42D1-5825-764519F5E35F}"/>
              </a:ext>
            </a:extLst>
          </p:cNvPr>
          <p:cNvPicPr>
            <a:picLocks noChangeAspect="1"/>
          </p:cNvPicPr>
          <p:nvPr/>
        </p:nvPicPr>
        <p:blipFill>
          <a:blip r:embed="rId5"/>
          <a:stretch>
            <a:fillRect/>
          </a:stretch>
        </p:blipFill>
        <p:spPr>
          <a:xfrm>
            <a:off x="7929501" y="4275237"/>
            <a:ext cx="2008374" cy="1728216"/>
          </a:xfrm>
          <a:prstGeom prst="rect">
            <a:avLst/>
          </a:prstGeom>
        </p:spPr>
      </p:pic>
    </p:spTree>
    <p:extLst>
      <p:ext uri="{BB962C8B-B14F-4D97-AF65-F5344CB8AC3E}">
        <p14:creationId xmlns:p14="http://schemas.microsoft.com/office/powerpoint/2010/main" val="508237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8F4"/>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A7A1E88-A525-432F-8DD2-320E2083841A}"/>
              </a:ext>
            </a:extLst>
          </p:cNvPr>
          <p:cNvSpPr>
            <a:spLocks noGrp="1"/>
          </p:cNvSpPr>
          <p:nvPr/>
        </p:nvSpPr>
        <p:spPr>
          <a:xfrm>
            <a:off x="0" y="0"/>
            <a:ext cx="105156" cy="6858000"/>
          </a:xfrm>
          <a:prstGeom prst="rect">
            <a:avLst/>
          </a:prstGeom>
          <a:solidFill>
            <a:srgbClr val="2D7040"/>
          </a:solidFill>
          <a:ln w="12700">
            <a:solidFill>
              <a:srgbClr val="2D7040">
                <a:alpha val="0"/>
              </a:srgbClr>
            </a:solidFill>
            <a:prstDash val="solid"/>
          </a:ln>
        </p:spPr>
        <p:txBody>
          <a:bodyPr/>
          <a:lstStyle/>
          <a:p>
            <a:endParaRPr/>
          </a:p>
        </p:txBody>
      </p:sp>
      <p:sp>
        <p:nvSpPr>
          <p:cNvPr id="4" name="Text 2">
            <a:extLst>
              <a:ext uri="{FF2B5EF4-FFF2-40B4-BE49-F238E27FC236}">
                <a16:creationId xmlns:a16="http://schemas.microsoft.com/office/drawing/2014/main" id="{41011881-008C-4A4C-98F2-5FECF8134F4B}"/>
              </a:ext>
            </a:extLst>
          </p:cNvPr>
          <p:cNvSpPr>
            <a:spLocks noGrp="1"/>
          </p:cNvSpPr>
          <p:nvPr/>
        </p:nvSpPr>
        <p:spPr>
          <a:xfrm>
            <a:off x="658368" y="758952"/>
            <a:ext cx="10698480" cy="502920"/>
          </a:xfrm>
          <a:prstGeom prst="rect">
            <a:avLst/>
          </a:prstGeom>
          <a:noFill/>
        </p:spPr>
        <p:txBody>
          <a:bodyPr wrap="square" lIns="0" tIns="0" rIns="0" bIns="0" anchor="ctr">
            <a:normAutofit/>
          </a:bodyPr>
          <a:lstStyle/>
          <a:p>
            <a:pPr marL="0" indent="0">
              <a:buNone/>
            </a:pPr>
            <a:r>
              <a:rPr sz="3000" b="1" dirty="0">
                <a:solidFill>
                  <a:srgbClr val="193F2A"/>
                </a:solidFill>
                <a:latin typeface="Aptos"/>
                <a:ea typeface="Aptos"/>
                <a:cs typeface="Aptos"/>
              </a:rPr>
              <a:t>MySQL and CRUD</a:t>
            </a:r>
            <a:endParaRPr sz="3000" dirty="0"/>
          </a:p>
        </p:txBody>
      </p:sp>
      <p:sp>
        <p:nvSpPr>
          <p:cNvPr id="5" name="Text 3">
            <a:extLst>
              <a:ext uri="{FF2B5EF4-FFF2-40B4-BE49-F238E27FC236}">
                <a16:creationId xmlns:a16="http://schemas.microsoft.com/office/drawing/2014/main" id="{CC67B80A-081B-4274-ACF4-B938572B7BD2}"/>
              </a:ext>
            </a:extLst>
          </p:cNvPr>
          <p:cNvSpPr>
            <a:spLocks noGrp="1"/>
          </p:cNvSpPr>
          <p:nvPr/>
        </p:nvSpPr>
        <p:spPr>
          <a:xfrm>
            <a:off x="676656" y="1298448"/>
            <a:ext cx="10424160" cy="292608"/>
          </a:xfrm>
          <a:prstGeom prst="rect">
            <a:avLst/>
          </a:prstGeom>
          <a:noFill/>
        </p:spPr>
        <p:txBody>
          <a:bodyPr wrap="square" lIns="0" tIns="0" rIns="0" bIns="0" anchor="ctr">
            <a:normAutofit/>
          </a:bodyPr>
          <a:lstStyle/>
          <a:p>
            <a:pPr marL="0" indent="0">
              <a:buNone/>
            </a:pPr>
            <a:r>
              <a:rPr sz="1400">
                <a:solidFill>
                  <a:srgbClr val="62736A"/>
                </a:solidFill>
                <a:latin typeface="Aptos"/>
                <a:ea typeface="Aptos"/>
                <a:cs typeface="Aptos"/>
              </a:rPr>
              <a:t>Farm records are stored in linked tables</a:t>
            </a:r>
            <a:endParaRPr sz="1400"/>
          </a:p>
        </p:txBody>
      </p:sp>
      <p:sp>
        <p:nvSpPr>
          <p:cNvPr id="6" name="Text 4">
            <a:extLst>
              <a:ext uri="{FF2B5EF4-FFF2-40B4-BE49-F238E27FC236}">
                <a16:creationId xmlns:a16="http://schemas.microsoft.com/office/drawing/2014/main" id="{67A7B221-6843-4FE5-BB98-1D38DCE96B78}"/>
              </a:ext>
            </a:extLst>
          </p:cNvPr>
          <p:cNvSpPr>
            <a:spLocks noGrp="1"/>
          </p:cNvSpPr>
          <p:nvPr/>
        </p:nvSpPr>
        <p:spPr>
          <a:xfrm>
            <a:off x="10561320" y="338328"/>
            <a:ext cx="1005840" cy="274320"/>
          </a:xfrm>
          <a:prstGeom prst="rect">
            <a:avLst/>
          </a:prstGeom>
          <a:noFill/>
        </p:spPr>
        <p:txBody>
          <a:bodyPr wrap="square" lIns="0" tIns="0" rIns="0" bIns="0" anchor="ctr">
            <a:normAutofit/>
          </a:bodyPr>
          <a:lstStyle/>
          <a:p>
            <a:pPr marL="0" indent="0" algn="r">
              <a:buNone/>
            </a:pPr>
            <a:r>
              <a:rPr sz="1400" b="1" dirty="0">
                <a:solidFill>
                  <a:srgbClr val="193F2A"/>
                </a:solidFill>
                <a:latin typeface="Aptos"/>
                <a:ea typeface="Aptos"/>
                <a:cs typeface="Aptos"/>
              </a:rPr>
              <a:t>FeedBoard</a:t>
            </a:r>
            <a:endParaRPr sz="1400" dirty="0"/>
          </a:p>
        </p:txBody>
      </p:sp>
      <p:sp>
        <p:nvSpPr>
          <p:cNvPr id="7" name="Shape 5">
            <a:extLst>
              <a:ext uri="{FF2B5EF4-FFF2-40B4-BE49-F238E27FC236}">
                <a16:creationId xmlns:a16="http://schemas.microsoft.com/office/drawing/2014/main" id="{2369FB3A-8872-4F16-A8F6-4A64C25C881E}"/>
              </a:ext>
            </a:extLst>
          </p:cNvPr>
          <p:cNvSpPr>
            <a:spLocks noGrp="1"/>
          </p:cNvSpPr>
          <p:nvPr/>
        </p:nvSpPr>
        <p:spPr>
          <a:xfrm>
            <a:off x="658368" y="6492240"/>
            <a:ext cx="10844784" cy="0"/>
          </a:xfrm>
          <a:prstGeom prst="line">
            <a:avLst/>
          </a:prstGeom>
          <a:noFill/>
          <a:ln w="11430">
            <a:solidFill>
              <a:srgbClr val="D9E2D9"/>
            </a:solidFill>
            <a:prstDash val="solid"/>
          </a:ln>
        </p:spPr>
        <p:txBody>
          <a:bodyPr/>
          <a:lstStyle/>
          <a:p>
            <a:endParaRPr/>
          </a:p>
        </p:txBody>
      </p:sp>
      <p:sp>
        <p:nvSpPr>
          <p:cNvPr id="8" name="Text 6">
            <a:extLst>
              <a:ext uri="{FF2B5EF4-FFF2-40B4-BE49-F238E27FC236}">
                <a16:creationId xmlns:a16="http://schemas.microsoft.com/office/drawing/2014/main" id="{1F143619-A97A-4721-8A7A-1A855684FFEE}"/>
              </a:ext>
            </a:extLst>
          </p:cNvPr>
          <p:cNvSpPr>
            <a:spLocks noGrp="1"/>
          </p:cNvSpPr>
          <p:nvPr/>
        </p:nvSpPr>
        <p:spPr>
          <a:xfrm>
            <a:off x="667512" y="6556248"/>
            <a:ext cx="4114800" cy="155448"/>
          </a:xfrm>
          <a:prstGeom prst="rect">
            <a:avLst/>
          </a:prstGeom>
          <a:noFill/>
        </p:spPr>
        <p:txBody>
          <a:bodyPr wrap="square" lIns="0" tIns="0" rIns="0" bIns="0" anchor="ctr">
            <a:normAutofit/>
          </a:bodyPr>
          <a:lstStyle/>
          <a:p>
            <a:pPr marL="0" indent="0">
              <a:buNone/>
            </a:pPr>
            <a:r>
              <a:rPr sz="900" b="1" spc="60">
                <a:solidFill>
                  <a:srgbClr val="62736A"/>
                </a:solidFill>
                <a:latin typeface="Aptos"/>
                <a:ea typeface="Aptos"/>
                <a:cs typeface="Aptos"/>
              </a:rPr>
              <a:t>GRAZING + FEED PLANNING</a:t>
            </a:r>
            <a:endParaRPr sz="900"/>
          </a:p>
        </p:txBody>
      </p:sp>
      <p:sp>
        <p:nvSpPr>
          <p:cNvPr id="10" name="Shape 8">
            <a:extLst>
              <a:ext uri="{FF2B5EF4-FFF2-40B4-BE49-F238E27FC236}">
                <a16:creationId xmlns:a16="http://schemas.microsoft.com/office/drawing/2014/main" id="{79D865D1-C611-446C-882E-272D2361A14C}"/>
              </a:ext>
            </a:extLst>
          </p:cNvPr>
          <p:cNvSpPr>
            <a:spLocks noGrp="1"/>
          </p:cNvSpPr>
          <p:nvPr/>
        </p:nvSpPr>
        <p:spPr>
          <a:xfrm>
            <a:off x="749808" y="1618488"/>
            <a:ext cx="3895344" cy="4544568"/>
          </a:xfrm>
          <a:prstGeom prst="roundRect">
            <a:avLst>
              <a:gd name="adj" fmla="val 2817"/>
            </a:avLst>
          </a:prstGeom>
          <a:solidFill>
            <a:srgbClr val="FFFFFF"/>
          </a:solidFill>
          <a:ln w="8890">
            <a:solidFill>
              <a:srgbClr val="D9E2D9"/>
            </a:solidFill>
            <a:prstDash val="solid"/>
          </a:ln>
        </p:spPr>
        <p:txBody>
          <a:bodyPr/>
          <a:lstStyle/>
          <a:p>
            <a:endParaRPr/>
          </a:p>
        </p:txBody>
      </p:sp>
      <p:pic>
        <p:nvPicPr>
          <p:cNvPr id="11" name="Image 0">
            <a:extLst>
              <a:ext uri="{FF2B5EF4-FFF2-40B4-BE49-F238E27FC236}">
                <a16:creationId xmlns:a16="http://schemas.microsoft.com/office/drawing/2014/main" id="{90A97829-E9B5-478A-B09D-B2A7B3C02EA5}"/>
              </a:ext>
            </a:extLst>
          </p:cNvPr>
          <p:cNvPicPr>
            <a:picLocks noChangeAspect="1"/>
          </p:cNvPicPr>
          <p:nvPr/>
        </p:nvPicPr>
        <p:blipFill>
          <a:blip r:embed="rId3"/>
          <a:stretch>
            <a:fillRect/>
          </a:stretch>
        </p:blipFill>
        <p:spPr>
          <a:xfrm>
            <a:off x="1137575" y="1682496"/>
            <a:ext cx="3119810" cy="4416552"/>
          </a:xfrm>
          <a:prstGeom prst="rect">
            <a:avLst/>
          </a:prstGeom>
        </p:spPr>
      </p:pic>
      <p:sp>
        <p:nvSpPr>
          <p:cNvPr id="12" name="Shape 9">
            <a:extLst>
              <a:ext uri="{FF2B5EF4-FFF2-40B4-BE49-F238E27FC236}">
                <a16:creationId xmlns:a16="http://schemas.microsoft.com/office/drawing/2014/main" id="{75ED3D93-0122-4200-A39E-32D97B071339}"/>
              </a:ext>
            </a:extLst>
          </p:cNvPr>
          <p:cNvSpPr>
            <a:spLocks noGrp="1"/>
          </p:cNvSpPr>
          <p:nvPr/>
        </p:nvSpPr>
        <p:spPr>
          <a:xfrm>
            <a:off x="4910328" y="1719072"/>
            <a:ext cx="6492240" cy="859536"/>
          </a:xfrm>
          <a:prstGeom prst="roundRect">
            <a:avLst>
              <a:gd name="adj" fmla="val 12766"/>
            </a:avLst>
          </a:prstGeom>
          <a:solidFill>
            <a:srgbClr val="EDF3E9"/>
          </a:solidFill>
          <a:ln w="8890">
            <a:solidFill>
              <a:srgbClr val="D9E2D9"/>
            </a:solidFill>
            <a:prstDash val="solid"/>
          </a:ln>
        </p:spPr>
        <p:txBody>
          <a:bodyPr/>
          <a:lstStyle/>
          <a:p>
            <a:endParaRPr/>
          </a:p>
        </p:txBody>
      </p:sp>
      <p:sp>
        <p:nvSpPr>
          <p:cNvPr id="13" name="Text 10">
            <a:extLst>
              <a:ext uri="{FF2B5EF4-FFF2-40B4-BE49-F238E27FC236}">
                <a16:creationId xmlns:a16="http://schemas.microsoft.com/office/drawing/2014/main" id="{EF048E19-4793-473C-BFA5-0F880A24A499}"/>
              </a:ext>
            </a:extLst>
          </p:cNvPr>
          <p:cNvSpPr>
            <a:spLocks noGrp="1"/>
          </p:cNvSpPr>
          <p:nvPr/>
        </p:nvSpPr>
        <p:spPr>
          <a:xfrm>
            <a:off x="5166360" y="1892808"/>
            <a:ext cx="3008376" cy="292608"/>
          </a:xfrm>
          <a:prstGeom prst="rect">
            <a:avLst/>
          </a:prstGeom>
          <a:noFill/>
        </p:spPr>
        <p:txBody>
          <a:bodyPr wrap="square" lIns="0" tIns="0" rIns="0" bIns="0" anchor="ctr">
            <a:normAutofit/>
          </a:bodyPr>
          <a:lstStyle/>
          <a:p>
            <a:pPr marL="0" indent="0">
              <a:buNone/>
            </a:pPr>
            <a:r>
              <a:rPr sz="1700" b="1">
                <a:solidFill>
                  <a:srgbClr val="193F2A"/>
                </a:solidFill>
                <a:latin typeface="Aptos"/>
                <a:ea typeface="Aptos"/>
                <a:cs typeface="Aptos"/>
              </a:rPr>
              <a:t>users + farms</a:t>
            </a:r>
            <a:endParaRPr sz="1700"/>
          </a:p>
        </p:txBody>
      </p:sp>
      <p:sp>
        <p:nvSpPr>
          <p:cNvPr id="14" name="Text 11">
            <a:extLst>
              <a:ext uri="{FF2B5EF4-FFF2-40B4-BE49-F238E27FC236}">
                <a16:creationId xmlns:a16="http://schemas.microsoft.com/office/drawing/2014/main" id="{7AF43959-464A-45B2-AC17-8A654A73439D}"/>
              </a:ext>
            </a:extLst>
          </p:cNvPr>
          <p:cNvSpPr>
            <a:spLocks noGrp="1"/>
          </p:cNvSpPr>
          <p:nvPr/>
        </p:nvSpPr>
        <p:spPr>
          <a:xfrm>
            <a:off x="8065008" y="1856232"/>
            <a:ext cx="3072384" cy="411480"/>
          </a:xfrm>
          <a:prstGeom prst="rect">
            <a:avLst/>
          </a:prstGeom>
          <a:noFill/>
        </p:spPr>
        <p:txBody>
          <a:bodyPr wrap="square" lIns="0" tIns="0" rIns="0" bIns="0" anchor="ctr">
            <a:normAutofit/>
          </a:bodyPr>
          <a:lstStyle/>
          <a:p>
            <a:pPr marL="0" indent="0">
              <a:buNone/>
            </a:pPr>
            <a:r>
              <a:rPr sz="1300">
                <a:solidFill>
                  <a:srgbClr val="62736A"/>
                </a:solidFill>
                <a:latin typeface="Aptos"/>
                <a:ea typeface="Aptos"/>
                <a:cs typeface="Aptos"/>
              </a:rPr>
              <a:t>An account owns one farm</a:t>
            </a:r>
            <a:endParaRPr sz="1300"/>
          </a:p>
        </p:txBody>
      </p:sp>
      <p:sp>
        <p:nvSpPr>
          <p:cNvPr id="15" name="Shape 12">
            <a:extLst>
              <a:ext uri="{FF2B5EF4-FFF2-40B4-BE49-F238E27FC236}">
                <a16:creationId xmlns:a16="http://schemas.microsoft.com/office/drawing/2014/main" id="{D8A01AA4-8200-49E0-AE5D-BE16DCD9E42B}"/>
              </a:ext>
            </a:extLst>
          </p:cNvPr>
          <p:cNvSpPr>
            <a:spLocks noGrp="1"/>
          </p:cNvSpPr>
          <p:nvPr/>
        </p:nvSpPr>
        <p:spPr>
          <a:xfrm>
            <a:off x="4910328" y="2752344"/>
            <a:ext cx="6492240" cy="859536"/>
          </a:xfrm>
          <a:prstGeom prst="roundRect">
            <a:avLst>
              <a:gd name="adj" fmla="val 12766"/>
            </a:avLst>
          </a:prstGeom>
          <a:solidFill>
            <a:srgbClr val="FFFFFF"/>
          </a:solidFill>
          <a:ln w="8890">
            <a:solidFill>
              <a:srgbClr val="D9E2D9"/>
            </a:solidFill>
            <a:prstDash val="solid"/>
          </a:ln>
        </p:spPr>
        <p:txBody>
          <a:bodyPr/>
          <a:lstStyle/>
          <a:p>
            <a:endParaRPr/>
          </a:p>
        </p:txBody>
      </p:sp>
      <p:sp>
        <p:nvSpPr>
          <p:cNvPr id="16" name="Text 13">
            <a:extLst>
              <a:ext uri="{FF2B5EF4-FFF2-40B4-BE49-F238E27FC236}">
                <a16:creationId xmlns:a16="http://schemas.microsoft.com/office/drawing/2014/main" id="{C0858B68-C8E5-4C84-AD2F-F074B1BA4A19}"/>
              </a:ext>
            </a:extLst>
          </p:cNvPr>
          <p:cNvSpPr>
            <a:spLocks noGrp="1"/>
          </p:cNvSpPr>
          <p:nvPr/>
        </p:nvSpPr>
        <p:spPr>
          <a:xfrm>
            <a:off x="5166360" y="2926080"/>
            <a:ext cx="3008376" cy="292608"/>
          </a:xfrm>
          <a:prstGeom prst="rect">
            <a:avLst/>
          </a:prstGeom>
          <a:noFill/>
        </p:spPr>
        <p:txBody>
          <a:bodyPr wrap="square" lIns="0" tIns="0" rIns="0" bIns="0" anchor="ctr">
            <a:normAutofit/>
          </a:bodyPr>
          <a:lstStyle/>
          <a:p>
            <a:pPr marL="0" indent="0">
              <a:buNone/>
            </a:pPr>
            <a:r>
              <a:rPr sz="1700" b="1">
                <a:solidFill>
                  <a:srgbClr val="193F2A"/>
                </a:solidFill>
                <a:latin typeface="Aptos"/>
                <a:ea typeface="Aptos"/>
                <a:cs typeface="Aptos"/>
              </a:rPr>
              <a:t>herds + paddocks</a:t>
            </a:r>
            <a:endParaRPr sz="1700"/>
          </a:p>
        </p:txBody>
      </p:sp>
      <p:sp>
        <p:nvSpPr>
          <p:cNvPr id="17" name="Text 14">
            <a:extLst>
              <a:ext uri="{FF2B5EF4-FFF2-40B4-BE49-F238E27FC236}">
                <a16:creationId xmlns:a16="http://schemas.microsoft.com/office/drawing/2014/main" id="{E46FE41E-A8A3-48E8-B878-8117230CBAA9}"/>
              </a:ext>
            </a:extLst>
          </p:cNvPr>
          <p:cNvSpPr>
            <a:spLocks noGrp="1"/>
          </p:cNvSpPr>
          <p:nvPr/>
        </p:nvSpPr>
        <p:spPr>
          <a:xfrm>
            <a:off x="8065008" y="2889504"/>
            <a:ext cx="3072384" cy="411480"/>
          </a:xfrm>
          <a:prstGeom prst="rect">
            <a:avLst/>
          </a:prstGeom>
          <a:noFill/>
        </p:spPr>
        <p:txBody>
          <a:bodyPr wrap="square" lIns="0" tIns="0" rIns="0" bIns="0" anchor="ctr">
            <a:normAutofit/>
          </a:bodyPr>
          <a:lstStyle/>
          <a:p>
            <a:pPr marL="0" indent="0">
              <a:buNone/>
            </a:pPr>
            <a:r>
              <a:rPr sz="1300">
                <a:solidFill>
                  <a:srgbClr val="62736A"/>
                </a:solidFill>
                <a:latin typeface="Aptos"/>
                <a:ea typeface="Aptos"/>
                <a:cs typeface="Aptos"/>
              </a:rPr>
              <a:t>Animal groups and land records</a:t>
            </a:r>
            <a:endParaRPr sz="1300"/>
          </a:p>
        </p:txBody>
      </p:sp>
      <p:sp>
        <p:nvSpPr>
          <p:cNvPr id="18" name="Shape 15">
            <a:extLst>
              <a:ext uri="{FF2B5EF4-FFF2-40B4-BE49-F238E27FC236}">
                <a16:creationId xmlns:a16="http://schemas.microsoft.com/office/drawing/2014/main" id="{2AA89D2E-BC83-4B2E-94BC-E42F4AAD62C5}"/>
              </a:ext>
            </a:extLst>
          </p:cNvPr>
          <p:cNvSpPr>
            <a:spLocks noGrp="1"/>
          </p:cNvSpPr>
          <p:nvPr/>
        </p:nvSpPr>
        <p:spPr>
          <a:xfrm>
            <a:off x="4910328" y="3785616"/>
            <a:ext cx="6492240" cy="859536"/>
          </a:xfrm>
          <a:prstGeom prst="roundRect">
            <a:avLst>
              <a:gd name="adj" fmla="val 12766"/>
            </a:avLst>
          </a:prstGeom>
          <a:solidFill>
            <a:srgbClr val="EDF3E9"/>
          </a:solidFill>
          <a:ln w="8890">
            <a:solidFill>
              <a:srgbClr val="D9E2D9"/>
            </a:solidFill>
            <a:prstDash val="solid"/>
          </a:ln>
        </p:spPr>
        <p:txBody>
          <a:bodyPr/>
          <a:lstStyle/>
          <a:p>
            <a:endParaRPr/>
          </a:p>
        </p:txBody>
      </p:sp>
      <p:sp>
        <p:nvSpPr>
          <p:cNvPr id="19" name="Text 16">
            <a:extLst>
              <a:ext uri="{FF2B5EF4-FFF2-40B4-BE49-F238E27FC236}">
                <a16:creationId xmlns:a16="http://schemas.microsoft.com/office/drawing/2014/main" id="{21EBE872-9609-4F20-BB55-58FFA5559062}"/>
              </a:ext>
            </a:extLst>
          </p:cNvPr>
          <p:cNvSpPr>
            <a:spLocks noGrp="1"/>
          </p:cNvSpPr>
          <p:nvPr/>
        </p:nvSpPr>
        <p:spPr>
          <a:xfrm>
            <a:off x="5166360" y="3959352"/>
            <a:ext cx="3008376" cy="292608"/>
          </a:xfrm>
          <a:prstGeom prst="rect">
            <a:avLst/>
          </a:prstGeom>
          <a:noFill/>
        </p:spPr>
        <p:txBody>
          <a:bodyPr wrap="square" lIns="0" tIns="0" rIns="0" bIns="0" anchor="ctr">
            <a:normAutofit/>
          </a:bodyPr>
          <a:lstStyle/>
          <a:p>
            <a:pPr marL="0" indent="0">
              <a:buNone/>
            </a:pPr>
            <a:r>
              <a:rPr sz="1700" b="1">
                <a:solidFill>
                  <a:srgbClr val="193F2A"/>
                </a:solidFill>
                <a:latin typeface="Aptos"/>
                <a:ea typeface="Aptos"/>
                <a:cs typeface="Aptos"/>
              </a:rPr>
              <a:t>crops</a:t>
            </a:r>
            <a:endParaRPr sz="1700"/>
          </a:p>
        </p:txBody>
      </p:sp>
      <p:sp>
        <p:nvSpPr>
          <p:cNvPr id="20" name="Text 17">
            <a:extLst>
              <a:ext uri="{FF2B5EF4-FFF2-40B4-BE49-F238E27FC236}">
                <a16:creationId xmlns:a16="http://schemas.microsoft.com/office/drawing/2014/main" id="{DB75E372-0D44-4BA1-A7DD-6EF5A7F609B9}"/>
              </a:ext>
            </a:extLst>
          </p:cNvPr>
          <p:cNvSpPr>
            <a:spLocks noGrp="1"/>
          </p:cNvSpPr>
          <p:nvPr/>
        </p:nvSpPr>
        <p:spPr>
          <a:xfrm>
            <a:off x="8065008" y="3922776"/>
            <a:ext cx="3072384" cy="411480"/>
          </a:xfrm>
          <a:prstGeom prst="rect">
            <a:avLst/>
          </a:prstGeom>
          <a:noFill/>
        </p:spPr>
        <p:txBody>
          <a:bodyPr wrap="square" lIns="0" tIns="0" rIns="0" bIns="0" anchor="ctr">
            <a:normAutofit/>
          </a:bodyPr>
          <a:lstStyle/>
          <a:p>
            <a:pPr marL="0" indent="0">
              <a:buNone/>
            </a:pPr>
            <a:r>
              <a:rPr sz="1300">
                <a:solidFill>
                  <a:srgbClr val="62736A"/>
                </a:solidFill>
                <a:latin typeface="Aptos"/>
                <a:ea typeface="Aptos"/>
                <a:cs typeface="Aptos"/>
              </a:rPr>
              <a:t>Feed details linked to paddocks and herds</a:t>
            </a:r>
            <a:endParaRPr sz="1300"/>
          </a:p>
        </p:txBody>
      </p:sp>
      <p:sp>
        <p:nvSpPr>
          <p:cNvPr id="21" name="Shape 18">
            <a:extLst>
              <a:ext uri="{FF2B5EF4-FFF2-40B4-BE49-F238E27FC236}">
                <a16:creationId xmlns:a16="http://schemas.microsoft.com/office/drawing/2014/main" id="{42A73C1F-7875-483B-BF0B-D808A704C001}"/>
              </a:ext>
            </a:extLst>
          </p:cNvPr>
          <p:cNvSpPr>
            <a:spLocks noGrp="1"/>
          </p:cNvSpPr>
          <p:nvPr/>
        </p:nvSpPr>
        <p:spPr>
          <a:xfrm>
            <a:off x="4910328" y="4818888"/>
            <a:ext cx="6492240" cy="859536"/>
          </a:xfrm>
          <a:prstGeom prst="roundRect">
            <a:avLst>
              <a:gd name="adj" fmla="val 12766"/>
            </a:avLst>
          </a:prstGeom>
          <a:solidFill>
            <a:srgbClr val="FFFFFF"/>
          </a:solidFill>
          <a:ln w="8890">
            <a:solidFill>
              <a:srgbClr val="D9E2D9"/>
            </a:solidFill>
            <a:prstDash val="solid"/>
          </a:ln>
        </p:spPr>
        <p:txBody>
          <a:bodyPr/>
          <a:lstStyle/>
          <a:p>
            <a:endParaRPr/>
          </a:p>
        </p:txBody>
      </p:sp>
      <p:sp>
        <p:nvSpPr>
          <p:cNvPr id="22" name="Text 19">
            <a:extLst>
              <a:ext uri="{FF2B5EF4-FFF2-40B4-BE49-F238E27FC236}">
                <a16:creationId xmlns:a16="http://schemas.microsoft.com/office/drawing/2014/main" id="{7C2DADA0-6375-4ABD-871A-AF2D9FC65B61}"/>
              </a:ext>
            </a:extLst>
          </p:cNvPr>
          <p:cNvSpPr>
            <a:spLocks noGrp="1"/>
          </p:cNvSpPr>
          <p:nvPr/>
        </p:nvSpPr>
        <p:spPr>
          <a:xfrm>
            <a:off x="5166360" y="4992624"/>
            <a:ext cx="3008376" cy="292608"/>
          </a:xfrm>
          <a:prstGeom prst="rect">
            <a:avLst/>
          </a:prstGeom>
          <a:noFill/>
        </p:spPr>
        <p:txBody>
          <a:bodyPr wrap="square" lIns="0" tIns="0" rIns="0" bIns="0" anchor="ctr">
            <a:normAutofit/>
          </a:bodyPr>
          <a:lstStyle/>
          <a:p>
            <a:pPr marL="0" indent="0">
              <a:buNone/>
            </a:pPr>
            <a:r>
              <a:rPr sz="1700" b="1">
                <a:solidFill>
                  <a:srgbClr val="193F2A"/>
                </a:solidFill>
                <a:latin typeface="Aptos"/>
                <a:ea typeface="Aptos"/>
                <a:cs typeface="Aptos"/>
              </a:rPr>
              <a:t>queues + queue_items</a:t>
            </a:r>
            <a:endParaRPr sz="1700"/>
          </a:p>
        </p:txBody>
      </p:sp>
      <p:sp>
        <p:nvSpPr>
          <p:cNvPr id="23" name="Text 20">
            <a:extLst>
              <a:ext uri="{FF2B5EF4-FFF2-40B4-BE49-F238E27FC236}">
                <a16:creationId xmlns:a16="http://schemas.microsoft.com/office/drawing/2014/main" id="{A7452B2B-F179-44C7-A13C-0517AB45AE1A}"/>
              </a:ext>
            </a:extLst>
          </p:cNvPr>
          <p:cNvSpPr>
            <a:spLocks noGrp="1"/>
          </p:cNvSpPr>
          <p:nvPr/>
        </p:nvSpPr>
        <p:spPr>
          <a:xfrm>
            <a:off x="8065008" y="4956048"/>
            <a:ext cx="3072384" cy="411480"/>
          </a:xfrm>
          <a:prstGeom prst="rect">
            <a:avLst/>
          </a:prstGeom>
          <a:noFill/>
        </p:spPr>
        <p:txBody>
          <a:bodyPr wrap="square" lIns="0" tIns="0" rIns="0" bIns="0" anchor="ctr">
            <a:normAutofit/>
          </a:bodyPr>
          <a:lstStyle/>
          <a:p>
            <a:pPr marL="0" indent="0">
              <a:buNone/>
            </a:pPr>
            <a:r>
              <a:rPr sz="1300">
                <a:solidFill>
                  <a:srgbClr val="62736A"/>
                </a:solidFill>
                <a:latin typeface="Aptos"/>
                <a:ea typeface="Aptos"/>
                <a:cs typeface="Aptos"/>
              </a:rPr>
              <a:t>Saved grazing order and start date</a:t>
            </a:r>
            <a:endParaRPr sz="1300"/>
          </a:p>
        </p:txBody>
      </p:sp>
      <p:sp>
        <p:nvSpPr>
          <p:cNvPr id="32" name="section-label">
            <a:extLst>
              <a:ext uri="{FF2B5EF4-FFF2-40B4-BE49-F238E27FC236}">
                <a16:creationId xmlns:a16="http://schemas.microsoft.com/office/drawing/2014/main" id="{8626C328-7107-4F52-9560-0782F548DE1F}"/>
              </a:ext>
            </a:extLst>
          </p:cNvPr>
          <p:cNvSpPr>
            <a:spLocks noGrp="1"/>
          </p:cNvSpPr>
          <p:nvPr/>
        </p:nvSpPr>
        <p:spPr>
          <a:xfrm>
            <a:off x="658368" y="342900"/>
            <a:ext cx="8382000" cy="228600"/>
          </a:xfrm>
          <a:prstGeom prst="rect">
            <a:avLst/>
          </a:prstGeom>
          <a:noFill/>
          <a:ln w="0">
            <a:noFill/>
          </a:ln>
        </p:spPr>
        <p:txBody>
          <a:bodyPr wrap="square" lIns="0" tIns="0" rIns="0" bIns="0" anchor="t">
            <a:noAutofit/>
          </a:bodyPr>
          <a:lstStyle>
            <a:defPPr algn="l">
              <a:defRPr sz="1100" b="1">
                <a:solidFill>
                  <a:srgbClr val="2D7040"/>
                </a:solidFill>
                <a:latin typeface="Aptos"/>
                <a:ea typeface="Aptos"/>
                <a:cs typeface="Aptos"/>
              </a:defRPr>
            </a:defPPr>
          </a:lstStyle>
          <a:p>
            <a:pPr algn="l">
              <a:defRPr sz="1100" b="1">
                <a:solidFill>
                  <a:srgbClr val="2D7040"/>
                </a:solidFill>
                <a:latin typeface="Aptos"/>
                <a:ea typeface="Aptos"/>
                <a:cs typeface="Aptos"/>
              </a:defRPr>
            </a:pPr>
            <a:r>
              <a:rPr sz="1100" b="1" dirty="0">
                <a:solidFill>
                  <a:srgbClr val="2D7040"/>
                </a:solidFill>
                <a:latin typeface="Aptos"/>
                <a:ea typeface="Aptos"/>
                <a:cs typeface="Aptos"/>
              </a:rPr>
              <a:t>03 / DELIVERY - DATABASE AND CRUD</a:t>
            </a:r>
          </a:p>
        </p:txBody>
      </p:sp>
    </p:spTree>
    <p:extLst>
      <p:ext uri="{BB962C8B-B14F-4D97-AF65-F5344CB8AC3E}">
        <p14:creationId xmlns:p14="http://schemas.microsoft.com/office/powerpoint/2010/main" val="17481072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8F4"/>
        </a:solidFill>
        <a:effectLst/>
      </p:bgPr>
    </p:bg>
    <p:spTree>
      <p:nvGrpSpPr>
        <p:cNvPr id="1" name=""/>
        <p:cNvGrpSpPr/>
        <p:nvPr/>
      </p:nvGrpSpPr>
      <p:grpSpPr>
        <a:xfrm>
          <a:off x="0" y="0"/>
          <a:ext cx="0" cy="0"/>
          <a:chOff x="0" y="0"/>
          <a:chExt cx="0" cy="0"/>
        </a:xfrm>
      </p:grpSpPr>
      <p:cxnSp>
        <p:nvCxnSpPr>
          <p:cNvPr id="63" name="Straight Arrow Connector 62">
            <a:extLst>
              <a:ext uri="{FF2B5EF4-FFF2-40B4-BE49-F238E27FC236}">
                <a16:creationId xmlns:a16="http://schemas.microsoft.com/office/drawing/2014/main" id="{BC14C8C3-D8EC-46B8-BBA9-9A97A936B2FB}"/>
              </a:ext>
            </a:extLst>
          </p:cNvPr>
          <p:cNvCxnSpPr>
            <a:stCxn id="52" idx="2"/>
            <a:endCxn id="55" idx="0"/>
          </p:cNvCxnSpPr>
          <p:nvPr/>
        </p:nvCxnSpPr>
        <p:spPr>
          <a:xfrm>
            <a:off x="8943975" y="5543550"/>
            <a:ext cx="0" cy="133350"/>
          </a:xfrm>
          <a:prstGeom prst="straightConnector1">
            <a:avLst/>
          </a:prstGeom>
          <a:ln w="15240">
            <a:solidFill>
              <a:srgbClr val="2D7040"/>
            </a:solidFill>
            <a:headEnd type="none" w="med" len="med"/>
            <a:tailEnd type="triangle" w="sm" len="sm"/>
          </a:ln>
        </p:spPr>
      </p:cxnSp>
      <p:cxnSp>
        <p:nvCxnSpPr>
          <p:cNvPr id="62" name="Straight Arrow Connector 61">
            <a:extLst>
              <a:ext uri="{FF2B5EF4-FFF2-40B4-BE49-F238E27FC236}">
                <a16:creationId xmlns:a16="http://schemas.microsoft.com/office/drawing/2014/main" id="{707230C4-574D-442E-996E-F6AC887EBC71}"/>
              </a:ext>
            </a:extLst>
          </p:cNvPr>
          <p:cNvCxnSpPr>
            <a:stCxn id="49" idx="2"/>
            <a:endCxn id="52" idx="0"/>
          </p:cNvCxnSpPr>
          <p:nvPr/>
        </p:nvCxnSpPr>
        <p:spPr>
          <a:xfrm>
            <a:off x="8943975" y="4953000"/>
            <a:ext cx="0" cy="133350"/>
          </a:xfrm>
          <a:prstGeom prst="straightConnector1">
            <a:avLst/>
          </a:prstGeom>
          <a:ln w="15240">
            <a:solidFill>
              <a:srgbClr val="2D7040"/>
            </a:solidFill>
            <a:headEnd type="none" w="med" len="med"/>
            <a:tailEnd type="triangle" w="sm" len="sm"/>
          </a:ln>
        </p:spPr>
      </p:cxnSp>
      <p:cxnSp>
        <p:nvCxnSpPr>
          <p:cNvPr id="61" name="Straight Arrow Connector 60">
            <a:extLst>
              <a:ext uri="{FF2B5EF4-FFF2-40B4-BE49-F238E27FC236}">
                <a16:creationId xmlns:a16="http://schemas.microsoft.com/office/drawing/2014/main" id="{EBB38F01-F34E-43C6-8193-85A60BDE40C9}"/>
              </a:ext>
            </a:extLst>
          </p:cNvPr>
          <p:cNvCxnSpPr>
            <a:stCxn id="46" idx="2"/>
            <a:endCxn id="49" idx="0"/>
          </p:cNvCxnSpPr>
          <p:nvPr/>
        </p:nvCxnSpPr>
        <p:spPr>
          <a:xfrm>
            <a:off x="8943975" y="4362450"/>
            <a:ext cx="0" cy="133350"/>
          </a:xfrm>
          <a:prstGeom prst="straightConnector1">
            <a:avLst/>
          </a:prstGeom>
          <a:ln w="15240">
            <a:solidFill>
              <a:srgbClr val="2D7040"/>
            </a:solidFill>
            <a:headEnd type="none" w="med" len="med"/>
            <a:tailEnd type="triangle" w="sm" len="sm"/>
          </a:ln>
        </p:spPr>
      </p:cxnSp>
      <p:cxnSp>
        <p:nvCxnSpPr>
          <p:cNvPr id="60" name="Straight Arrow Connector 59">
            <a:extLst>
              <a:ext uri="{FF2B5EF4-FFF2-40B4-BE49-F238E27FC236}">
                <a16:creationId xmlns:a16="http://schemas.microsoft.com/office/drawing/2014/main" id="{2E7F7521-E370-460A-B4AD-E511B7CC7C82}"/>
              </a:ext>
            </a:extLst>
          </p:cNvPr>
          <p:cNvCxnSpPr>
            <a:stCxn id="43" idx="2"/>
            <a:endCxn id="46" idx="0"/>
          </p:cNvCxnSpPr>
          <p:nvPr/>
        </p:nvCxnSpPr>
        <p:spPr>
          <a:xfrm>
            <a:off x="8943975" y="3771900"/>
            <a:ext cx="0" cy="133350"/>
          </a:xfrm>
          <a:prstGeom prst="straightConnector1">
            <a:avLst/>
          </a:prstGeom>
          <a:ln w="15240">
            <a:solidFill>
              <a:srgbClr val="2D7040"/>
            </a:solidFill>
            <a:headEnd type="none" w="med" len="med"/>
            <a:tailEnd type="triangle" w="sm" len="sm"/>
          </a:ln>
        </p:spPr>
      </p:cxnSp>
      <p:cxnSp>
        <p:nvCxnSpPr>
          <p:cNvPr id="59" name="Straight Arrow Connector 58">
            <a:extLst>
              <a:ext uri="{FF2B5EF4-FFF2-40B4-BE49-F238E27FC236}">
                <a16:creationId xmlns:a16="http://schemas.microsoft.com/office/drawing/2014/main" id="{262DA166-047F-45DC-9D6B-9C0197D94607}"/>
              </a:ext>
            </a:extLst>
          </p:cNvPr>
          <p:cNvCxnSpPr>
            <a:stCxn id="40" idx="2"/>
            <a:endCxn id="43" idx="0"/>
          </p:cNvCxnSpPr>
          <p:nvPr/>
        </p:nvCxnSpPr>
        <p:spPr>
          <a:xfrm>
            <a:off x="8943975" y="3181350"/>
            <a:ext cx="0" cy="133350"/>
          </a:xfrm>
          <a:prstGeom prst="straightConnector1">
            <a:avLst/>
          </a:prstGeom>
          <a:ln w="15240">
            <a:solidFill>
              <a:srgbClr val="2D7040"/>
            </a:solidFill>
            <a:headEnd type="none" w="med" len="med"/>
            <a:tailEnd type="triangle" w="sm" len="sm"/>
          </a:ln>
        </p:spPr>
      </p:cxnSp>
      <p:cxnSp>
        <p:nvCxnSpPr>
          <p:cNvPr id="58" name="Straight Arrow Connector 57">
            <a:extLst>
              <a:ext uri="{FF2B5EF4-FFF2-40B4-BE49-F238E27FC236}">
                <a16:creationId xmlns:a16="http://schemas.microsoft.com/office/drawing/2014/main" id="{F29ED8ED-1FFE-4A27-B2F2-461D7CEAFB3B}"/>
              </a:ext>
            </a:extLst>
          </p:cNvPr>
          <p:cNvCxnSpPr>
            <a:stCxn id="37" idx="2"/>
            <a:endCxn id="40" idx="0"/>
          </p:cNvCxnSpPr>
          <p:nvPr/>
        </p:nvCxnSpPr>
        <p:spPr>
          <a:xfrm>
            <a:off x="8943975" y="2590800"/>
            <a:ext cx="0" cy="133350"/>
          </a:xfrm>
          <a:prstGeom prst="straightConnector1">
            <a:avLst/>
          </a:prstGeom>
          <a:ln w="15240">
            <a:solidFill>
              <a:srgbClr val="2D7040"/>
            </a:solidFill>
            <a:headEnd type="none" w="med" len="med"/>
            <a:tailEnd type="triangle" w="sm" len="sm"/>
          </a:ln>
        </p:spPr>
      </p:cxnSp>
      <p:cxnSp>
        <p:nvCxnSpPr>
          <p:cNvPr id="36" name="Straight Arrow Connector 35">
            <a:extLst>
              <a:ext uri="{FF2B5EF4-FFF2-40B4-BE49-F238E27FC236}">
                <a16:creationId xmlns:a16="http://schemas.microsoft.com/office/drawing/2014/main" id="{DE4A2294-6890-41BD-9941-8D180B92A510}"/>
              </a:ext>
            </a:extLst>
          </p:cNvPr>
          <p:cNvCxnSpPr>
            <a:stCxn id="25" idx="2"/>
            <a:endCxn id="28" idx="0"/>
          </p:cNvCxnSpPr>
          <p:nvPr/>
        </p:nvCxnSpPr>
        <p:spPr>
          <a:xfrm>
            <a:off x="3267075" y="5543550"/>
            <a:ext cx="0" cy="198655"/>
          </a:xfrm>
          <a:prstGeom prst="straightConnector1">
            <a:avLst/>
          </a:prstGeom>
          <a:ln w="15240">
            <a:solidFill>
              <a:srgbClr val="2D7040"/>
            </a:solidFill>
            <a:headEnd type="none" w="med" len="med"/>
            <a:tailEnd type="triangle" w="sm" len="sm"/>
          </a:ln>
        </p:spPr>
      </p:cxnSp>
      <p:cxnSp>
        <p:nvCxnSpPr>
          <p:cNvPr id="35" name="Straight Arrow Connector 34">
            <a:extLst>
              <a:ext uri="{FF2B5EF4-FFF2-40B4-BE49-F238E27FC236}">
                <a16:creationId xmlns:a16="http://schemas.microsoft.com/office/drawing/2014/main" id="{D11F849B-363A-487D-8F1B-C458666294C5}"/>
              </a:ext>
            </a:extLst>
          </p:cNvPr>
          <p:cNvCxnSpPr>
            <a:stCxn id="22" idx="2"/>
            <a:endCxn id="25" idx="0"/>
          </p:cNvCxnSpPr>
          <p:nvPr/>
        </p:nvCxnSpPr>
        <p:spPr>
          <a:xfrm>
            <a:off x="3267075" y="4953000"/>
            <a:ext cx="0" cy="133350"/>
          </a:xfrm>
          <a:prstGeom prst="straightConnector1">
            <a:avLst/>
          </a:prstGeom>
          <a:ln w="15240">
            <a:solidFill>
              <a:srgbClr val="2D7040"/>
            </a:solidFill>
            <a:headEnd type="none" w="med" len="med"/>
            <a:tailEnd type="triangle" w="sm" len="sm"/>
          </a:ln>
        </p:spPr>
      </p:cxnSp>
      <p:cxnSp>
        <p:nvCxnSpPr>
          <p:cNvPr id="34" name="Straight Arrow Connector 33">
            <a:extLst>
              <a:ext uri="{FF2B5EF4-FFF2-40B4-BE49-F238E27FC236}">
                <a16:creationId xmlns:a16="http://schemas.microsoft.com/office/drawing/2014/main" id="{7758A7EA-6ECC-40CA-8FEA-B62E38436488}"/>
              </a:ext>
            </a:extLst>
          </p:cNvPr>
          <p:cNvCxnSpPr>
            <a:stCxn id="19" idx="2"/>
            <a:endCxn id="22" idx="0"/>
          </p:cNvCxnSpPr>
          <p:nvPr/>
        </p:nvCxnSpPr>
        <p:spPr>
          <a:xfrm>
            <a:off x="3267075" y="4362450"/>
            <a:ext cx="0" cy="133350"/>
          </a:xfrm>
          <a:prstGeom prst="straightConnector1">
            <a:avLst/>
          </a:prstGeom>
          <a:ln w="15240">
            <a:solidFill>
              <a:srgbClr val="2D7040"/>
            </a:solidFill>
            <a:headEnd type="none" w="med" len="med"/>
            <a:tailEnd type="triangle" w="sm" len="sm"/>
          </a:ln>
        </p:spPr>
      </p:cxnSp>
      <p:cxnSp>
        <p:nvCxnSpPr>
          <p:cNvPr id="33" name="Straight Arrow Connector 32">
            <a:extLst>
              <a:ext uri="{FF2B5EF4-FFF2-40B4-BE49-F238E27FC236}">
                <a16:creationId xmlns:a16="http://schemas.microsoft.com/office/drawing/2014/main" id="{715E140C-93EC-419D-AD1E-62BB66F59AB6}"/>
              </a:ext>
            </a:extLst>
          </p:cNvPr>
          <p:cNvCxnSpPr>
            <a:stCxn id="16" idx="2"/>
            <a:endCxn id="19" idx="0"/>
          </p:cNvCxnSpPr>
          <p:nvPr/>
        </p:nvCxnSpPr>
        <p:spPr>
          <a:xfrm>
            <a:off x="3267075" y="3771900"/>
            <a:ext cx="0" cy="133350"/>
          </a:xfrm>
          <a:prstGeom prst="straightConnector1">
            <a:avLst/>
          </a:prstGeom>
          <a:ln w="15240">
            <a:solidFill>
              <a:srgbClr val="2D7040"/>
            </a:solidFill>
            <a:headEnd type="none" w="med" len="med"/>
            <a:tailEnd type="triangle" w="sm" len="sm"/>
          </a:ln>
        </p:spPr>
      </p:cxnSp>
      <p:cxnSp>
        <p:nvCxnSpPr>
          <p:cNvPr id="32" name="Straight Arrow Connector 31">
            <a:extLst>
              <a:ext uri="{FF2B5EF4-FFF2-40B4-BE49-F238E27FC236}">
                <a16:creationId xmlns:a16="http://schemas.microsoft.com/office/drawing/2014/main" id="{7D01B218-D00D-4F4D-A613-7041BF24FE88}"/>
              </a:ext>
            </a:extLst>
          </p:cNvPr>
          <p:cNvCxnSpPr>
            <a:cxnSpLocks/>
            <a:stCxn id="13" idx="2"/>
            <a:endCxn id="16" idx="0"/>
          </p:cNvCxnSpPr>
          <p:nvPr/>
        </p:nvCxnSpPr>
        <p:spPr>
          <a:xfrm>
            <a:off x="3267075" y="3181350"/>
            <a:ext cx="0" cy="133350"/>
          </a:xfrm>
          <a:prstGeom prst="straightConnector1">
            <a:avLst/>
          </a:prstGeom>
          <a:ln w="15240">
            <a:solidFill>
              <a:srgbClr val="2D7040"/>
            </a:solidFill>
            <a:headEnd type="none" w="med" len="med"/>
            <a:tailEnd type="triangle" w="sm" len="sm"/>
          </a:ln>
        </p:spPr>
      </p:cxnSp>
      <p:cxnSp>
        <p:nvCxnSpPr>
          <p:cNvPr id="31" name="Straight Arrow Connector 30">
            <a:extLst>
              <a:ext uri="{FF2B5EF4-FFF2-40B4-BE49-F238E27FC236}">
                <a16:creationId xmlns:a16="http://schemas.microsoft.com/office/drawing/2014/main" id="{D3FC6A61-044E-42EB-A62E-A2502E5D0640}"/>
              </a:ext>
            </a:extLst>
          </p:cNvPr>
          <p:cNvCxnSpPr>
            <a:cxnSpLocks/>
            <a:stCxn id="10" idx="2"/>
            <a:endCxn id="13" idx="0"/>
          </p:cNvCxnSpPr>
          <p:nvPr/>
        </p:nvCxnSpPr>
        <p:spPr>
          <a:xfrm>
            <a:off x="3262503" y="2647950"/>
            <a:ext cx="4572" cy="184250"/>
          </a:xfrm>
          <a:prstGeom prst="straightConnector1">
            <a:avLst/>
          </a:prstGeom>
          <a:ln w="15240">
            <a:solidFill>
              <a:srgbClr val="2D7040"/>
            </a:solidFill>
            <a:headEnd type="none" w="med" len="med"/>
            <a:tailEnd type="triangle" w="sm" len="sm"/>
          </a:ln>
        </p:spPr>
      </p:cxnSp>
      <p:sp>
        <p:nvSpPr>
          <p:cNvPr id="64" name="brand-edge">
            <a:extLst>
              <a:ext uri="{FF2B5EF4-FFF2-40B4-BE49-F238E27FC236}">
                <a16:creationId xmlns:a16="http://schemas.microsoft.com/office/drawing/2014/main" id="{F41991FC-0ABF-42F3-BA1A-F2877EA8CAD2}"/>
              </a:ext>
            </a:extLst>
          </p:cNvPr>
          <p:cNvSpPr>
            <a:spLocks noGrp="1"/>
          </p:cNvSpPr>
          <p:nvPr/>
        </p:nvSpPr>
        <p:spPr>
          <a:xfrm>
            <a:off x="0" y="0"/>
            <a:ext cx="105156" cy="6858000"/>
          </a:xfrm>
          <a:prstGeom prst="rect">
            <a:avLst/>
          </a:prstGeom>
          <a:solidFill>
            <a:srgbClr val="2D7040"/>
          </a:solidFill>
          <a:ln w="0">
            <a:noFill/>
          </a:ln>
        </p:spPr>
        <p:txBody>
          <a:bodyPr/>
          <a:lstStyle/>
          <a:p>
            <a:endParaRPr lang="en-US"/>
          </a:p>
        </p:txBody>
      </p:sp>
      <p:sp>
        <p:nvSpPr>
          <p:cNvPr id="2" name="section-label">
            <a:extLst>
              <a:ext uri="{FF2B5EF4-FFF2-40B4-BE49-F238E27FC236}">
                <a16:creationId xmlns:a16="http://schemas.microsoft.com/office/drawing/2014/main" id="{DC89B500-2C20-4BF1-93FC-FD15B0F65640}"/>
              </a:ext>
            </a:extLst>
          </p:cNvPr>
          <p:cNvSpPr>
            <a:spLocks noGrp="1"/>
          </p:cNvSpPr>
          <p:nvPr/>
        </p:nvSpPr>
        <p:spPr>
          <a:xfrm>
            <a:off x="658368" y="342900"/>
            <a:ext cx="8382000" cy="228600"/>
          </a:xfrm>
          <a:prstGeom prst="rect">
            <a:avLst/>
          </a:prstGeom>
          <a:noFill/>
          <a:ln w="0">
            <a:noFill/>
          </a:ln>
        </p:spPr>
        <p:txBody>
          <a:bodyPr wrap="square" lIns="0" tIns="0" rIns="0" bIns="0" anchor="t">
            <a:noAutofit/>
          </a:bodyPr>
          <a:lstStyle>
            <a:defPPr algn="l">
              <a:defRPr sz="1100" b="1">
                <a:solidFill>
                  <a:srgbClr val="2D7040"/>
                </a:solidFill>
                <a:latin typeface="Aptos"/>
                <a:ea typeface="Aptos"/>
                <a:cs typeface="Aptos"/>
              </a:defRPr>
            </a:defPPr>
          </a:lstStyle>
          <a:p>
            <a:pPr algn="l">
              <a:defRPr sz="1100" b="1">
                <a:solidFill>
                  <a:srgbClr val="2D7040"/>
                </a:solidFill>
                <a:latin typeface="Aptos"/>
                <a:ea typeface="Aptos"/>
                <a:cs typeface="Aptos"/>
              </a:defRPr>
            </a:pPr>
            <a:r>
              <a:rPr sz="1100" b="1">
                <a:solidFill>
                  <a:srgbClr val="2D7040"/>
                </a:solidFill>
                <a:latin typeface="Aptos"/>
                <a:ea typeface="Aptos"/>
                <a:cs typeface="Aptos"/>
              </a:rPr>
              <a:t>03 / DELIVERY - USER AND DATA FLOW</a:t>
            </a:r>
          </a:p>
        </p:txBody>
      </p:sp>
      <p:sp>
        <p:nvSpPr>
          <p:cNvPr id="3" name="title">
            <a:extLst>
              <a:ext uri="{FF2B5EF4-FFF2-40B4-BE49-F238E27FC236}">
                <a16:creationId xmlns:a16="http://schemas.microsoft.com/office/drawing/2014/main" id="{2C139FD1-42AA-4326-97D6-BED993F357C6}"/>
              </a:ext>
            </a:extLst>
          </p:cNvPr>
          <p:cNvSpPr>
            <a:spLocks noGrp="1"/>
          </p:cNvSpPr>
          <p:nvPr/>
        </p:nvSpPr>
        <p:spPr>
          <a:xfrm>
            <a:off x="658368" y="771525"/>
            <a:ext cx="10810875" cy="561975"/>
          </a:xfrm>
          <a:prstGeom prst="rect">
            <a:avLst/>
          </a:prstGeom>
          <a:noFill/>
          <a:ln w="0">
            <a:noFill/>
          </a:ln>
        </p:spPr>
        <p:txBody>
          <a:bodyPr wrap="square" lIns="0" tIns="0" rIns="0" bIns="0" anchor="t">
            <a:noAutofit/>
          </a:bodyPr>
          <a:lstStyle>
            <a:defPPr algn="l">
              <a:defRPr sz="3000" b="1">
                <a:solidFill>
                  <a:srgbClr val="193F2A"/>
                </a:solidFill>
                <a:latin typeface="Aptos"/>
                <a:ea typeface="Aptos"/>
                <a:cs typeface="Aptos"/>
              </a:defRPr>
            </a:defPPr>
          </a:lstStyle>
          <a:p>
            <a:pPr algn="l">
              <a:defRPr sz="3000" b="1">
                <a:solidFill>
                  <a:srgbClr val="193F2A"/>
                </a:solidFill>
                <a:latin typeface="Aptos"/>
                <a:ea typeface="Aptos"/>
                <a:cs typeface="Aptos"/>
              </a:defRPr>
            </a:pPr>
            <a:r>
              <a:rPr sz="3000" b="1">
                <a:solidFill>
                  <a:srgbClr val="193F2A"/>
                </a:solidFill>
                <a:latin typeface="Aptos"/>
                <a:ea typeface="Aptos"/>
                <a:cs typeface="Aptos"/>
              </a:rPr>
              <a:t>User and data flow</a:t>
            </a:r>
          </a:p>
        </p:txBody>
      </p:sp>
      <p:sp>
        <p:nvSpPr>
          <p:cNvPr id="4" name="subtitle">
            <a:extLst>
              <a:ext uri="{FF2B5EF4-FFF2-40B4-BE49-F238E27FC236}">
                <a16:creationId xmlns:a16="http://schemas.microsoft.com/office/drawing/2014/main" id="{0867340D-A72F-4FC5-A4E5-209BFB5D7ED9}"/>
              </a:ext>
            </a:extLst>
          </p:cNvPr>
          <p:cNvSpPr>
            <a:spLocks noGrp="1"/>
          </p:cNvSpPr>
          <p:nvPr/>
        </p:nvSpPr>
        <p:spPr>
          <a:xfrm>
            <a:off x="676656" y="1409700"/>
            <a:ext cx="10420350" cy="314325"/>
          </a:xfrm>
          <a:prstGeom prst="rect">
            <a:avLst/>
          </a:prstGeom>
          <a:noFill/>
          <a:ln w="0">
            <a:noFill/>
          </a:ln>
        </p:spPr>
        <p:txBody>
          <a:bodyPr wrap="square" lIns="0" tIns="0" rIns="0" bIns="0" anchor="t">
            <a:noAutofit/>
          </a:bodyPr>
          <a:lstStyle>
            <a:defPPr algn="l">
              <a:defRPr sz="1400" b="0">
                <a:solidFill>
                  <a:srgbClr val="62736A"/>
                </a:solidFill>
                <a:latin typeface="Aptos"/>
                <a:ea typeface="Aptos"/>
                <a:cs typeface="Aptos"/>
              </a:defRPr>
            </a:defPPr>
          </a:lstStyle>
          <a:p>
            <a:pPr algn="l">
              <a:defRPr sz="1400" b="0">
                <a:solidFill>
                  <a:srgbClr val="62736A"/>
                </a:solidFill>
                <a:latin typeface="Aptos"/>
                <a:ea typeface="Aptos"/>
                <a:cs typeface="Aptos"/>
              </a:defRPr>
            </a:pPr>
            <a:r>
              <a:rPr sz="1400" b="0">
                <a:solidFill>
                  <a:srgbClr val="62736A"/>
                </a:solidFill>
                <a:latin typeface="Aptos"/>
                <a:ea typeface="Aptos"/>
                <a:cs typeface="Aptos"/>
              </a:rPr>
              <a:t>Saving farm changes to MySQL and returning the confirmed result</a:t>
            </a:r>
          </a:p>
        </p:txBody>
      </p:sp>
      <p:sp>
        <p:nvSpPr>
          <p:cNvPr id="5" name="brand">
            <a:extLst>
              <a:ext uri="{FF2B5EF4-FFF2-40B4-BE49-F238E27FC236}">
                <a16:creationId xmlns:a16="http://schemas.microsoft.com/office/drawing/2014/main" id="{1364EA33-40A5-454F-A006-95E2D97BA217}"/>
              </a:ext>
            </a:extLst>
          </p:cNvPr>
          <p:cNvSpPr>
            <a:spLocks noGrp="1"/>
          </p:cNvSpPr>
          <p:nvPr/>
        </p:nvSpPr>
        <p:spPr>
          <a:xfrm>
            <a:off x="10563225" y="371475"/>
            <a:ext cx="1047750" cy="247650"/>
          </a:xfrm>
          <a:prstGeom prst="rect">
            <a:avLst/>
          </a:prstGeom>
          <a:noFill/>
          <a:ln w="0">
            <a:noFill/>
          </a:ln>
        </p:spPr>
        <p:txBody>
          <a:bodyPr wrap="square" lIns="0" tIns="0" rIns="0" bIns="0" anchor="t">
            <a:noAutofit/>
          </a:bodyPr>
          <a:lstStyle>
            <a:defPPr algn="l">
              <a:defRPr sz="1400" b="1">
                <a:solidFill>
                  <a:srgbClr val="193F2A"/>
                </a:solidFill>
                <a:latin typeface="Aptos"/>
                <a:ea typeface="Aptos"/>
                <a:cs typeface="Aptos"/>
              </a:defRPr>
            </a:defPPr>
          </a:lstStyle>
          <a:p>
            <a:pPr algn="l">
              <a:defRPr sz="1400" b="1">
                <a:solidFill>
                  <a:srgbClr val="193F2A"/>
                </a:solidFill>
                <a:latin typeface="Aptos"/>
                <a:ea typeface="Aptos"/>
                <a:cs typeface="Aptos"/>
              </a:defRPr>
            </a:pPr>
            <a:r>
              <a:rPr sz="1400" b="1" dirty="0">
                <a:solidFill>
                  <a:srgbClr val="193F2A"/>
                </a:solidFill>
                <a:latin typeface="Aptos"/>
                <a:ea typeface="Aptos"/>
                <a:cs typeface="Aptos"/>
              </a:rPr>
              <a:t>FeedBoard</a:t>
            </a:r>
          </a:p>
        </p:txBody>
      </p:sp>
      <p:sp>
        <p:nvSpPr>
          <p:cNvPr id="6" name="footer-rule">
            <a:extLst>
              <a:ext uri="{FF2B5EF4-FFF2-40B4-BE49-F238E27FC236}">
                <a16:creationId xmlns:a16="http://schemas.microsoft.com/office/drawing/2014/main" id="{9FD7CFEF-18BD-4C9E-B255-49E40D8DF2ED}"/>
              </a:ext>
            </a:extLst>
          </p:cNvPr>
          <p:cNvSpPr>
            <a:spLocks noGrp="1"/>
          </p:cNvSpPr>
          <p:nvPr/>
        </p:nvSpPr>
        <p:spPr>
          <a:xfrm>
            <a:off x="658368" y="6492240"/>
            <a:ext cx="10844784" cy="9525"/>
          </a:xfrm>
          <a:prstGeom prst="rect">
            <a:avLst/>
          </a:prstGeom>
          <a:solidFill>
            <a:srgbClr val="D9E2D9"/>
          </a:solidFill>
          <a:ln w="0">
            <a:noFill/>
          </a:ln>
        </p:spPr>
        <p:txBody>
          <a:bodyPr/>
          <a:lstStyle/>
          <a:p>
            <a:endParaRPr lang="en-US"/>
          </a:p>
        </p:txBody>
      </p:sp>
      <p:sp>
        <p:nvSpPr>
          <p:cNvPr id="7" name="footer">
            <a:extLst>
              <a:ext uri="{FF2B5EF4-FFF2-40B4-BE49-F238E27FC236}">
                <a16:creationId xmlns:a16="http://schemas.microsoft.com/office/drawing/2014/main" id="{D1D54657-131F-4158-8A86-F377CDA950EE}"/>
              </a:ext>
            </a:extLst>
          </p:cNvPr>
          <p:cNvSpPr>
            <a:spLocks noGrp="1"/>
          </p:cNvSpPr>
          <p:nvPr/>
        </p:nvSpPr>
        <p:spPr>
          <a:xfrm>
            <a:off x="667512" y="6556248"/>
            <a:ext cx="4114800" cy="171450"/>
          </a:xfrm>
          <a:prstGeom prst="rect">
            <a:avLst/>
          </a:prstGeom>
          <a:noFill/>
          <a:ln w="0">
            <a:noFill/>
          </a:ln>
        </p:spPr>
        <p:txBody>
          <a:bodyPr wrap="square" lIns="0" tIns="0" rIns="0" bIns="0" anchor="t">
            <a:noAutofit/>
          </a:bodyPr>
          <a:lstStyle>
            <a:defPPr algn="l">
              <a:defRPr sz="900" b="1">
                <a:solidFill>
                  <a:srgbClr val="62736A"/>
                </a:solidFill>
                <a:latin typeface="Aptos"/>
                <a:ea typeface="Aptos"/>
                <a:cs typeface="Aptos"/>
              </a:defRPr>
            </a:defPPr>
          </a:lstStyle>
          <a:p>
            <a:pPr algn="l">
              <a:defRPr sz="900" b="1">
                <a:solidFill>
                  <a:srgbClr val="62736A"/>
                </a:solidFill>
                <a:latin typeface="Aptos"/>
                <a:ea typeface="Aptos"/>
                <a:cs typeface="Aptos"/>
              </a:defRPr>
            </a:pPr>
            <a:r>
              <a:rPr sz="900" b="1">
                <a:solidFill>
                  <a:srgbClr val="62736A"/>
                </a:solidFill>
                <a:latin typeface="Aptos"/>
                <a:ea typeface="Aptos"/>
                <a:cs typeface="Aptos"/>
              </a:rPr>
              <a:t>GRAZING + FEED PLANNING</a:t>
            </a:r>
          </a:p>
        </p:txBody>
      </p:sp>
      <p:sp>
        <p:nvSpPr>
          <p:cNvPr id="8" name="request-heading">
            <a:extLst>
              <a:ext uri="{FF2B5EF4-FFF2-40B4-BE49-F238E27FC236}">
                <a16:creationId xmlns:a16="http://schemas.microsoft.com/office/drawing/2014/main" id="{37B5DE05-4B23-4115-A77B-DDD9EC8DB23D}"/>
              </a:ext>
            </a:extLst>
          </p:cNvPr>
          <p:cNvSpPr>
            <a:spLocks noGrp="1"/>
          </p:cNvSpPr>
          <p:nvPr/>
        </p:nvSpPr>
        <p:spPr>
          <a:xfrm>
            <a:off x="762000" y="1790700"/>
            <a:ext cx="5010150" cy="266700"/>
          </a:xfrm>
          <a:prstGeom prst="rect">
            <a:avLst/>
          </a:prstGeom>
          <a:noFill/>
          <a:ln w="0">
            <a:noFill/>
          </a:ln>
        </p:spPr>
        <p:txBody>
          <a:bodyPr wrap="square" lIns="0" tIns="0" rIns="0" bIns="0" anchor="t">
            <a:noAutofit/>
          </a:bodyPr>
          <a:lstStyle>
            <a:defPPr algn="l">
              <a:defRPr sz="1425" b="1">
                <a:solidFill>
                  <a:srgbClr val="2D7040"/>
                </a:solidFill>
                <a:latin typeface="Aptos"/>
                <a:ea typeface="Aptos"/>
                <a:cs typeface="Aptos"/>
              </a:defRPr>
            </a:defPPr>
          </a:lstStyle>
          <a:p>
            <a:pPr algn="l">
              <a:defRPr sz="1425" b="1">
                <a:solidFill>
                  <a:srgbClr val="2D7040"/>
                </a:solidFill>
                <a:latin typeface="Aptos"/>
                <a:ea typeface="Aptos"/>
                <a:cs typeface="Aptos"/>
              </a:defRPr>
            </a:pPr>
            <a:r>
              <a:rPr sz="1425" b="1">
                <a:solidFill>
                  <a:srgbClr val="2D7040"/>
                </a:solidFill>
                <a:latin typeface="Aptos"/>
                <a:ea typeface="Aptos"/>
                <a:cs typeface="Aptos"/>
              </a:rPr>
              <a:t>REQUEST: USER TO DATABASE</a:t>
            </a:r>
          </a:p>
        </p:txBody>
      </p:sp>
      <p:sp>
        <p:nvSpPr>
          <p:cNvPr id="9" name="response-heading">
            <a:extLst>
              <a:ext uri="{FF2B5EF4-FFF2-40B4-BE49-F238E27FC236}">
                <a16:creationId xmlns:a16="http://schemas.microsoft.com/office/drawing/2014/main" id="{7DBCDAFC-26F4-4104-AA7B-D755426999DD}"/>
              </a:ext>
            </a:extLst>
          </p:cNvPr>
          <p:cNvSpPr>
            <a:spLocks noGrp="1"/>
          </p:cNvSpPr>
          <p:nvPr/>
        </p:nvSpPr>
        <p:spPr>
          <a:xfrm>
            <a:off x="6429375" y="1790700"/>
            <a:ext cx="5010150" cy="266700"/>
          </a:xfrm>
          <a:prstGeom prst="rect">
            <a:avLst/>
          </a:prstGeom>
          <a:noFill/>
          <a:ln w="0">
            <a:noFill/>
          </a:ln>
        </p:spPr>
        <p:txBody>
          <a:bodyPr wrap="square" lIns="0" tIns="0" rIns="0" bIns="0" anchor="t">
            <a:noAutofit/>
          </a:bodyPr>
          <a:lstStyle>
            <a:defPPr algn="l">
              <a:defRPr sz="1425" b="1">
                <a:solidFill>
                  <a:srgbClr val="2D7040"/>
                </a:solidFill>
                <a:latin typeface="Aptos"/>
                <a:ea typeface="Aptos"/>
                <a:cs typeface="Aptos"/>
              </a:defRPr>
            </a:defPPr>
          </a:lstStyle>
          <a:p>
            <a:pPr algn="l">
              <a:defRPr sz="1425" b="1">
                <a:solidFill>
                  <a:srgbClr val="2D7040"/>
                </a:solidFill>
                <a:latin typeface="Aptos"/>
                <a:ea typeface="Aptos"/>
                <a:cs typeface="Aptos"/>
              </a:defRPr>
            </a:pPr>
            <a:r>
              <a:rPr sz="1425" b="1">
                <a:solidFill>
                  <a:srgbClr val="2D7040"/>
                </a:solidFill>
                <a:latin typeface="Aptos"/>
                <a:ea typeface="Aptos"/>
                <a:cs typeface="Aptos"/>
              </a:rPr>
              <a:t>RESPONSE: DATABASE TO USER</a:t>
            </a:r>
          </a:p>
        </p:txBody>
      </p:sp>
      <p:sp>
        <p:nvSpPr>
          <p:cNvPr id="10" name="request-node-0">
            <a:extLst>
              <a:ext uri="{FF2B5EF4-FFF2-40B4-BE49-F238E27FC236}">
                <a16:creationId xmlns:a16="http://schemas.microsoft.com/office/drawing/2014/main" id="{250655DF-9A22-4BBE-AA59-5800E2F79736}"/>
              </a:ext>
            </a:extLst>
          </p:cNvPr>
          <p:cNvSpPr>
            <a:spLocks noGrp="1"/>
          </p:cNvSpPr>
          <p:nvPr/>
        </p:nvSpPr>
        <p:spPr>
          <a:xfrm>
            <a:off x="738378" y="2190750"/>
            <a:ext cx="5048250" cy="457200"/>
          </a:xfrm>
          <a:prstGeom prst="rect">
            <a:avLst/>
          </a:prstGeom>
          <a:solidFill>
            <a:srgbClr val="EDF3E8"/>
          </a:solidFill>
          <a:ln w="9525">
            <a:solidFill>
              <a:srgbClr val="D9E2D9"/>
            </a:solidFill>
          </a:ln>
        </p:spPr>
        <p:txBody>
          <a:bodyPr/>
          <a:lstStyle/>
          <a:p>
            <a:endParaRPr lang="en-US" dirty="0"/>
          </a:p>
        </p:txBody>
      </p:sp>
      <p:sp>
        <p:nvSpPr>
          <p:cNvPr id="11" name="request-label-0">
            <a:extLst>
              <a:ext uri="{FF2B5EF4-FFF2-40B4-BE49-F238E27FC236}">
                <a16:creationId xmlns:a16="http://schemas.microsoft.com/office/drawing/2014/main" id="{EA087028-AF59-4581-B925-D68A426B5352}"/>
              </a:ext>
            </a:extLst>
          </p:cNvPr>
          <p:cNvSpPr>
            <a:spLocks noGrp="1"/>
          </p:cNvSpPr>
          <p:nvPr/>
        </p:nvSpPr>
        <p:spPr>
          <a:xfrm>
            <a:off x="838200" y="2272398"/>
            <a:ext cx="4819650" cy="238125"/>
          </a:xfrm>
          <a:prstGeom prst="rect">
            <a:avLst/>
          </a:prstGeom>
          <a:noFill/>
          <a:ln w="0">
            <a:noFill/>
          </a:ln>
        </p:spPr>
        <p:txBody>
          <a:bodyPr wrap="square" lIns="0" tIns="0" rIns="0" bIns="0" anchor="t">
            <a:noAutofit/>
          </a:bodyPr>
          <a:lstStyle>
            <a:defPPr algn="l">
              <a:defRPr sz="1575" b="1">
                <a:solidFill>
                  <a:srgbClr val="193F2A"/>
                </a:solidFill>
                <a:latin typeface="Aptos"/>
                <a:ea typeface="Aptos"/>
                <a:cs typeface="Aptos"/>
              </a:defRPr>
            </a:defPPr>
          </a:lstStyle>
          <a:p>
            <a:pPr algn="l">
              <a:defRPr sz="1575" b="1">
                <a:solidFill>
                  <a:srgbClr val="193F2A"/>
                </a:solidFill>
                <a:latin typeface="Aptos"/>
                <a:ea typeface="Aptos"/>
                <a:cs typeface="Aptos"/>
              </a:defRPr>
            </a:pPr>
            <a:r>
              <a:rPr sz="1575" b="1" dirty="0">
                <a:solidFill>
                  <a:srgbClr val="193F2A"/>
                </a:solidFill>
                <a:latin typeface="Aptos"/>
                <a:ea typeface="Aptos"/>
                <a:cs typeface="Aptos"/>
              </a:rPr>
              <a:t>User</a:t>
            </a:r>
          </a:p>
        </p:txBody>
      </p:sp>
      <p:sp>
        <p:nvSpPr>
          <p:cNvPr id="12" name="request-detail-0">
            <a:extLst>
              <a:ext uri="{FF2B5EF4-FFF2-40B4-BE49-F238E27FC236}">
                <a16:creationId xmlns:a16="http://schemas.microsoft.com/office/drawing/2014/main" id="{61FE65BE-B461-4EB0-AC59-B363879C49D1}"/>
              </a:ext>
            </a:extLst>
          </p:cNvPr>
          <p:cNvSpPr>
            <a:spLocks noGrp="1"/>
          </p:cNvSpPr>
          <p:nvPr/>
        </p:nvSpPr>
        <p:spPr>
          <a:xfrm>
            <a:off x="857250" y="2390775"/>
            <a:ext cx="4819650" cy="190500"/>
          </a:xfrm>
          <a:prstGeom prst="rect">
            <a:avLst/>
          </a:prstGeom>
          <a:noFill/>
          <a:ln w="0">
            <a:noFill/>
          </a:ln>
        </p:spPr>
        <p:txBody>
          <a:bodyPr wrap="square" lIns="0" tIns="0" rIns="0" bIns="0" anchor="t">
            <a:noAutofit/>
          </a:bodyPr>
          <a:lstStyle>
            <a:defPPr algn="l">
              <a:defRPr sz="1252" b="0">
                <a:solidFill>
                  <a:srgbClr val="62736A"/>
                </a:solidFill>
                <a:latin typeface="Aptos"/>
                <a:ea typeface="Aptos"/>
                <a:cs typeface="Aptos"/>
              </a:defRPr>
            </a:defPPr>
          </a:lstStyle>
          <a:p>
            <a:pPr algn="l">
              <a:defRPr sz="1252" b="0">
                <a:solidFill>
                  <a:srgbClr val="62736A"/>
                </a:solidFill>
                <a:latin typeface="Aptos"/>
                <a:ea typeface="Aptos"/>
                <a:cs typeface="Aptos"/>
              </a:defRPr>
            </a:pPr>
            <a:endParaRPr sz="1252" b="0" dirty="0">
              <a:solidFill>
                <a:srgbClr val="62736A"/>
              </a:solidFill>
              <a:latin typeface="Aptos"/>
              <a:ea typeface="Aptos"/>
              <a:cs typeface="Aptos"/>
            </a:endParaRPr>
          </a:p>
        </p:txBody>
      </p:sp>
      <p:sp>
        <p:nvSpPr>
          <p:cNvPr id="13" name="request-node-1">
            <a:extLst>
              <a:ext uri="{FF2B5EF4-FFF2-40B4-BE49-F238E27FC236}">
                <a16:creationId xmlns:a16="http://schemas.microsoft.com/office/drawing/2014/main" id="{8DBB4B78-02A8-4FD6-AE4C-FA5293EBAD9E}"/>
              </a:ext>
            </a:extLst>
          </p:cNvPr>
          <p:cNvSpPr>
            <a:spLocks noGrp="1"/>
          </p:cNvSpPr>
          <p:nvPr/>
        </p:nvSpPr>
        <p:spPr>
          <a:xfrm>
            <a:off x="742950" y="2832200"/>
            <a:ext cx="5048250" cy="349150"/>
          </a:xfrm>
          <a:prstGeom prst="rect">
            <a:avLst/>
          </a:prstGeom>
          <a:solidFill>
            <a:srgbClr val="FFFFFF"/>
          </a:solidFill>
          <a:ln w="9525">
            <a:solidFill>
              <a:srgbClr val="D9E2D9"/>
            </a:solidFill>
          </a:ln>
        </p:spPr>
        <p:txBody>
          <a:bodyPr/>
          <a:lstStyle/>
          <a:p>
            <a:endParaRPr lang="en-US" dirty="0"/>
          </a:p>
        </p:txBody>
      </p:sp>
      <p:sp>
        <p:nvSpPr>
          <p:cNvPr id="14" name="request-label-1">
            <a:extLst>
              <a:ext uri="{FF2B5EF4-FFF2-40B4-BE49-F238E27FC236}">
                <a16:creationId xmlns:a16="http://schemas.microsoft.com/office/drawing/2014/main" id="{8027A19F-5B61-4056-8909-BEC4A6D14499}"/>
              </a:ext>
            </a:extLst>
          </p:cNvPr>
          <p:cNvSpPr>
            <a:spLocks noGrp="1"/>
          </p:cNvSpPr>
          <p:nvPr/>
        </p:nvSpPr>
        <p:spPr>
          <a:xfrm>
            <a:off x="857250" y="2856923"/>
            <a:ext cx="4819650" cy="238125"/>
          </a:xfrm>
          <a:prstGeom prst="rect">
            <a:avLst/>
          </a:prstGeom>
          <a:noFill/>
          <a:ln w="0">
            <a:noFill/>
          </a:ln>
        </p:spPr>
        <p:txBody>
          <a:bodyPr wrap="square" lIns="0" tIns="0" rIns="0" bIns="0" anchor="t">
            <a:noAutofit/>
          </a:bodyPr>
          <a:lstStyle>
            <a:defPPr algn="l">
              <a:defRPr sz="1575" b="1">
                <a:solidFill>
                  <a:srgbClr val="193F2A"/>
                </a:solidFill>
                <a:latin typeface="Aptos"/>
                <a:ea typeface="Aptos"/>
                <a:cs typeface="Aptos"/>
              </a:defRPr>
            </a:defPPr>
          </a:lstStyle>
          <a:p>
            <a:pPr algn="l">
              <a:defRPr sz="1575" b="1">
                <a:solidFill>
                  <a:srgbClr val="193F2A"/>
                </a:solidFill>
                <a:latin typeface="Aptos"/>
                <a:ea typeface="Aptos"/>
                <a:cs typeface="Aptos"/>
              </a:defRPr>
            </a:pPr>
            <a:r>
              <a:rPr sz="1575" b="1" dirty="0">
                <a:solidFill>
                  <a:srgbClr val="193F2A"/>
                </a:solidFill>
                <a:latin typeface="Aptos"/>
                <a:ea typeface="Aptos"/>
                <a:cs typeface="Aptos"/>
              </a:rPr>
              <a:t>ui/src</a:t>
            </a:r>
            <a:r>
              <a:rPr lang="en-AU" sz="1575" b="1" dirty="0">
                <a:solidFill>
                  <a:srgbClr val="193F2A"/>
                </a:solidFill>
                <a:latin typeface="Aptos"/>
                <a:ea typeface="Aptos"/>
                <a:cs typeface="Aptos"/>
              </a:rPr>
              <a:t>/</a:t>
            </a:r>
            <a:endParaRPr sz="1575" b="1" dirty="0">
              <a:solidFill>
                <a:srgbClr val="193F2A"/>
              </a:solidFill>
              <a:latin typeface="Aptos"/>
              <a:ea typeface="Aptos"/>
              <a:cs typeface="Aptos"/>
            </a:endParaRPr>
          </a:p>
        </p:txBody>
      </p:sp>
      <p:sp>
        <p:nvSpPr>
          <p:cNvPr id="15" name="request-detail-1">
            <a:extLst>
              <a:ext uri="{FF2B5EF4-FFF2-40B4-BE49-F238E27FC236}">
                <a16:creationId xmlns:a16="http://schemas.microsoft.com/office/drawing/2014/main" id="{DC171A79-E6A4-40C9-9DA8-82E06C1E3B2C}"/>
              </a:ext>
            </a:extLst>
          </p:cNvPr>
          <p:cNvSpPr>
            <a:spLocks noGrp="1"/>
          </p:cNvSpPr>
          <p:nvPr/>
        </p:nvSpPr>
        <p:spPr>
          <a:xfrm>
            <a:off x="857250" y="2981325"/>
            <a:ext cx="4819650" cy="190500"/>
          </a:xfrm>
          <a:prstGeom prst="rect">
            <a:avLst/>
          </a:prstGeom>
          <a:noFill/>
          <a:ln w="0">
            <a:noFill/>
          </a:ln>
        </p:spPr>
        <p:txBody>
          <a:bodyPr wrap="square" lIns="0" tIns="0" rIns="0" bIns="0" anchor="t">
            <a:noAutofit/>
          </a:bodyPr>
          <a:lstStyle>
            <a:defPPr algn="l">
              <a:defRPr sz="1252" b="0">
                <a:solidFill>
                  <a:srgbClr val="62736A"/>
                </a:solidFill>
                <a:latin typeface="Aptos"/>
                <a:ea typeface="Aptos"/>
                <a:cs typeface="Aptos"/>
              </a:defRPr>
            </a:defPPr>
          </a:lstStyle>
          <a:p>
            <a:pPr algn="l">
              <a:defRPr sz="1252" b="0">
                <a:solidFill>
                  <a:srgbClr val="62736A"/>
                </a:solidFill>
                <a:latin typeface="Aptos"/>
                <a:ea typeface="Aptos"/>
                <a:cs typeface="Aptos"/>
              </a:defRPr>
            </a:pPr>
            <a:endParaRPr sz="1252" b="0" dirty="0">
              <a:solidFill>
                <a:srgbClr val="62736A"/>
              </a:solidFill>
              <a:latin typeface="Aptos"/>
              <a:ea typeface="Aptos"/>
              <a:cs typeface="Aptos"/>
            </a:endParaRPr>
          </a:p>
        </p:txBody>
      </p:sp>
      <p:sp>
        <p:nvSpPr>
          <p:cNvPr id="16" name="request-node-2">
            <a:extLst>
              <a:ext uri="{FF2B5EF4-FFF2-40B4-BE49-F238E27FC236}">
                <a16:creationId xmlns:a16="http://schemas.microsoft.com/office/drawing/2014/main" id="{47CE9328-1170-49FA-8520-3D265C48BA44}"/>
              </a:ext>
            </a:extLst>
          </p:cNvPr>
          <p:cNvSpPr>
            <a:spLocks noGrp="1"/>
          </p:cNvSpPr>
          <p:nvPr/>
        </p:nvSpPr>
        <p:spPr>
          <a:xfrm>
            <a:off x="742950" y="3314700"/>
            <a:ext cx="5048250" cy="457200"/>
          </a:xfrm>
          <a:prstGeom prst="rect">
            <a:avLst/>
          </a:prstGeom>
          <a:solidFill>
            <a:srgbClr val="FFFFFF"/>
          </a:solidFill>
          <a:ln w="9525">
            <a:solidFill>
              <a:srgbClr val="D9E2D9"/>
            </a:solidFill>
          </a:ln>
        </p:spPr>
        <p:txBody>
          <a:bodyPr/>
          <a:lstStyle/>
          <a:p>
            <a:endParaRPr lang="en-US"/>
          </a:p>
        </p:txBody>
      </p:sp>
      <p:sp>
        <p:nvSpPr>
          <p:cNvPr id="17" name="request-label-2">
            <a:extLst>
              <a:ext uri="{FF2B5EF4-FFF2-40B4-BE49-F238E27FC236}">
                <a16:creationId xmlns:a16="http://schemas.microsoft.com/office/drawing/2014/main" id="{D0ED461C-8EED-4712-A2C1-268E4C5EF276}"/>
              </a:ext>
            </a:extLst>
          </p:cNvPr>
          <p:cNvSpPr>
            <a:spLocks noGrp="1"/>
          </p:cNvSpPr>
          <p:nvPr/>
        </p:nvSpPr>
        <p:spPr>
          <a:xfrm>
            <a:off x="857250" y="3343275"/>
            <a:ext cx="4819650" cy="238125"/>
          </a:xfrm>
          <a:prstGeom prst="rect">
            <a:avLst/>
          </a:prstGeom>
          <a:noFill/>
          <a:ln w="0">
            <a:noFill/>
          </a:ln>
        </p:spPr>
        <p:txBody>
          <a:bodyPr wrap="square" lIns="0" tIns="0" rIns="0" bIns="0" anchor="t">
            <a:noAutofit/>
          </a:bodyPr>
          <a:lstStyle>
            <a:defPPr algn="l">
              <a:defRPr sz="1575" b="1">
                <a:solidFill>
                  <a:srgbClr val="193F2A"/>
                </a:solidFill>
                <a:latin typeface="Aptos"/>
                <a:ea typeface="Aptos"/>
                <a:cs typeface="Aptos"/>
              </a:defRPr>
            </a:defPPr>
          </a:lstStyle>
          <a:p>
            <a:pPr algn="l">
              <a:defRPr sz="1575" b="1">
                <a:solidFill>
                  <a:srgbClr val="193F2A"/>
                </a:solidFill>
                <a:latin typeface="Aptos"/>
                <a:ea typeface="Aptos"/>
                <a:cs typeface="Aptos"/>
              </a:defRPr>
            </a:pPr>
            <a:r>
              <a:rPr sz="1575" b="1">
                <a:solidFill>
                  <a:srgbClr val="193F2A"/>
                </a:solidFill>
                <a:latin typeface="Aptos"/>
                <a:ea typeface="Aptos"/>
                <a:cs typeface="Aptos"/>
              </a:rPr>
              <a:t>backend/server.js</a:t>
            </a:r>
          </a:p>
        </p:txBody>
      </p:sp>
      <p:sp>
        <p:nvSpPr>
          <p:cNvPr id="18" name="request-detail-2">
            <a:extLst>
              <a:ext uri="{FF2B5EF4-FFF2-40B4-BE49-F238E27FC236}">
                <a16:creationId xmlns:a16="http://schemas.microsoft.com/office/drawing/2014/main" id="{D25DB6DC-A905-4151-9D20-5552AA52EE64}"/>
              </a:ext>
            </a:extLst>
          </p:cNvPr>
          <p:cNvSpPr>
            <a:spLocks noGrp="1"/>
          </p:cNvSpPr>
          <p:nvPr/>
        </p:nvSpPr>
        <p:spPr>
          <a:xfrm>
            <a:off x="857250" y="3571875"/>
            <a:ext cx="4819650" cy="190500"/>
          </a:xfrm>
          <a:prstGeom prst="rect">
            <a:avLst/>
          </a:prstGeom>
          <a:noFill/>
          <a:ln w="0">
            <a:noFill/>
          </a:ln>
        </p:spPr>
        <p:txBody>
          <a:bodyPr wrap="square" lIns="0" tIns="0" rIns="0" bIns="0" anchor="t">
            <a:noAutofit/>
          </a:bodyPr>
          <a:lstStyle>
            <a:defPPr algn="l">
              <a:defRPr sz="1252" b="0">
                <a:solidFill>
                  <a:srgbClr val="62736A"/>
                </a:solidFill>
                <a:latin typeface="Aptos"/>
                <a:ea typeface="Aptos"/>
                <a:cs typeface="Aptos"/>
              </a:defRPr>
            </a:defPPr>
          </a:lstStyle>
          <a:p>
            <a:pPr algn="l">
              <a:defRPr sz="1252" b="0">
                <a:solidFill>
                  <a:srgbClr val="62736A"/>
                </a:solidFill>
                <a:latin typeface="Aptos"/>
                <a:ea typeface="Aptos"/>
                <a:cs typeface="Aptos"/>
              </a:defRPr>
            </a:pPr>
            <a:endParaRPr sz="1252" b="0" dirty="0">
              <a:solidFill>
                <a:srgbClr val="62736A"/>
              </a:solidFill>
              <a:latin typeface="Aptos"/>
              <a:ea typeface="Aptos"/>
              <a:cs typeface="Aptos"/>
            </a:endParaRPr>
          </a:p>
        </p:txBody>
      </p:sp>
      <p:sp>
        <p:nvSpPr>
          <p:cNvPr id="19" name="request-node-3">
            <a:extLst>
              <a:ext uri="{FF2B5EF4-FFF2-40B4-BE49-F238E27FC236}">
                <a16:creationId xmlns:a16="http://schemas.microsoft.com/office/drawing/2014/main" id="{8917CFCB-2C5C-486B-BD7B-793B064D28A4}"/>
              </a:ext>
            </a:extLst>
          </p:cNvPr>
          <p:cNvSpPr>
            <a:spLocks noGrp="1"/>
          </p:cNvSpPr>
          <p:nvPr/>
        </p:nvSpPr>
        <p:spPr>
          <a:xfrm>
            <a:off x="742950" y="3905250"/>
            <a:ext cx="5048250" cy="457200"/>
          </a:xfrm>
          <a:prstGeom prst="rect">
            <a:avLst/>
          </a:prstGeom>
          <a:solidFill>
            <a:srgbClr val="FFFFFF"/>
          </a:solidFill>
          <a:ln w="9525">
            <a:solidFill>
              <a:srgbClr val="D9E2D9"/>
            </a:solidFill>
          </a:ln>
        </p:spPr>
        <p:txBody>
          <a:bodyPr/>
          <a:lstStyle/>
          <a:p>
            <a:endParaRPr lang="en-US"/>
          </a:p>
        </p:txBody>
      </p:sp>
      <p:sp>
        <p:nvSpPr>
          <p:cNvPr id="20" name="request-label-3">
            <a:extLst>
              <a:ext uri="{FF2B5EF4-FFF2-40B4-BE49-F238E27FC236}">
                <a16:creationId xmlns:a16="http://schemas.microsoft.com/office/drawing/2014/main" id="{E326A1E6-8CF5-449B-9682-8C4CCD46C5B6}"/>
              </a:ext>
            </a:extLst>
          </p:cNvPr>
          <p:cNvSpPr>
            <a:spLocks noGrp="1"/>
          </p:cNvSpPr>
          <p:nvPr/>
        </p:nvSpPr>
        <p:spPr>
          <a:xfrm>
            <a:off x="857250" y="3933825"/>
            <a:ext cx="4819650" cy="238125"/>
          </a:xfrm>
          <a:prstGeom prst="rect">
            <a:avLst/>
          </a:prstGeom>
          <a:noFill/>
          <a:ln w="0">
            <a:noFill/>
          </a:ln>
        </p:spPr>
        <p:txBody>
          <a:bodyPr wrap="square" lIns="0" tIns="0" rIns="0" bIns="0" anchor="t">
            <a:noAutofit/>
          </a:bodyPr>
          <a:lstStyle>
            <a:defPPr algn="l">
              <a:defRPr sz="1575" b="1">
                <a:solidFill>
                  <a:srgbClr val="193F2A"/>
                </a:solidFill>
                <a:latin typeface="Aptos"/>
                <a:ea typeface="Aptos"/>
                <a:cs typeface="Aptos"/>
              </a:defRPr>
            </a:defPPr>
          </a:lstStyle>
          <a:p>
            <a:pPr algn="l">
              <a:defRPr sz="1575" b="1">
                <a:solidFill>
                  <a:srgbClr val="193F2A"/>
                </a:solidFill>
                <a:latin typeface="Aptos"/>
                <a:ea typeface="Aptos"/>
                <a:cs typeface="Aptos"/>
              </a:defRPr>
            </a:pPr>
            <a:r>
              <a:rPr sz="1575" b="1">
                <a:solidFill>
                  <a:srgbClr val="193F2A"/>
                </a:solidFill>
                <a:latin typeface="Aptos"/>
                <a:ea typeface="Aptos"/>
                <a:cs typeface="Aptos"/>
              </a:rPr>
              <a:t>backend/routes + middleware</a:t>
            </a:r>
          </a:p>
        </p:txBody>
      </p:sp>
      <p:sp>
        <p:nvSpPr>
          <p:cNvPr id="21" name="request-detail-3">
            <a:extLst>
              <a:ext uri="{FF2B5EF4-FFF2-40B4-BE49-F238E27FC236}">
                <a16:creationId xmlns:a16="http://schemas.microsoft.com/office/drawing/2014/main" id="{C7595684-6D5A-42FF-94AF-D26B65066F9C}"/>
              </a:ext>
            </a:extLst>
          </p:cNvPr>
          <p:cNvSpPr>
            <a:spLocks noGrp="1"/>
          </p:cNvSpPr>
          <p:nvPr/>
        </p:nvSpPr>
        <p:spPr>
          <a:xfrm>
            <a:off x="857250" y="4162425"/>
            <a:ext cx="4819650" cy="190500"/>
          </a:xfrm>
          <a:prstGeom prst="rect">
            <a:avLst/>
          </a:prstGeom>
          <a:noFill/>
          <a:ln w="0">
            <a:noFill/>
          </a:ln>
        </p:spPr>
        <p:txBody>
          <a:bodyPr wrap="square" lIns="0" tIns="0" rIns="0" bIns="0" anchor="t">
            <a:noAutofit/>
          </a:bodyPr>
          <a:lstStyle>
            <a:defPPr algn="l">
              <a:defRPr sz="1252" b="0">
                <a:solidFill>
                  <a:srgbClr val="62736A"/>
                </a:solidFill>
                <a:latin typeface="Aptos"/>
                <a:ea typeface="Aptos"/>
                <a:cs typeface="Aptos"/>
              </a:defRPr>
            </a:defPPr>
          </a:lstStyle>
          <a:p>
            <a:pPr algn="l">
              <a:defRPr sz="1252" b="0">
                <a:solidFill>
                  <a:srgbClr val="62736A"/>
                </a:solidFill>
                <a:latin typeface="Aptos"/>
                <a:ea typeface="Aptos"/>
                <a:cs typeface="Aptos"/>
              </a:defRPr>
            </a:pPr>
            <a:endParaRPr sz="1252" b="0" dirty="0">
              <a:solidFill>
                <a:srgbClr val="62736A"/>
              </a:solidFill>
              <a:latin typeface="Aptos"/>
              <a:ea typeface="Aptos"/>
              <a:cs typeface="Aptos"/>
            </a:endParaRPr>
          </a:p>
        </p:txBody>
      </p:sp>
      <p:sp>
        <p:nvSpPr>
          <p:cNvPr id="22" name="request-node-4">
            <a:extLst>
              <a:ext uri="{FF2B5EF4-FFF2-40B4-BE49-F238E27FC236}">
                <a16:creationId xmlns:a16="http://schemas.microsoft.com/office/drawing/2014/main" id="{936ED5C6-509A-4CAC-AC1F-91AF9AB16D7B}"/>
              </a:ext>
            </a:extLst>
          </p:cNvPr>
          <p:cNvSpPr>
            <a:spLocks noGrp="1"/>
          </p:cNvSpPr>
          <p:nvPr/>
        </p:nvSpPr>
        <p:spPr>
          <a:xfrm>
            <a:off x="742950" y="4495800"/>
            <a:ext cx="5048250" cy="457200"/>
          </a:xfrm>
          <a:prstGeom prst="rect">
            <a:avLst/>
          </a:prstGeom>
          <a:solidFill>
            <a:srgbClr val="FFFFFF"/>
          </a:solidFill>
          <a:ln w="9525">
            <a:solidFill>
              <a:srgbClr val="D9E2D9"/>
            </a:solidFill>
          </a:ln>
        </p:spPr>
        <p:txBody>
          <a:bodyPr/>
          <a:lstStyle/>
          <a:p>
            <a:endParaRPr lang="en-US"/>
          </a:p>
        </p:txBody>
      </p:sp>
      <p:sp>
        <p:nvSpPr>
          <p:cNvPr id="23" name="request-label-4">
            <a:extLst>
              <a:ext uri="{FF2B5EF4-FFF2-40B4-BE49-F238E27FC236}">
                <a16:creationId xmlns:a16="http://schemas.microsoft.com/office/drawing/2014/main" id="{5310F9F9-C6B5-485A-B28B-B500BF4674EF}"/>
              </a:ext>
            </a:extLst>
          </p:cNvPr>
          <p:cNvSpPr>
            <a:spLocks noGrp="1"/>
          </p:cNvSpPr>
          <p:nvPr/>
        </p:nvSpPr>
        <p:spPr>
          <a:xfrm>
            <a:off x="857250" y="4524375"/>
            <a:ext cx="4819650" cy="238125"/>
          </a:xfrm>
          <a:prstGeom prst="rect">
            <a:avLst/>
          </a:prstGeom>
          <a:noFill/>
          <a:ln w="0">
            <a:noFill/>
          </a:ln>
        </p:spPr>
        <p:txBody>
          <a:bodyPr wrap="square" lIns="0" tIns="0" rIns="0" bIns="0" anchor="t">
            <a:noAutofit/>
          </a:bodyPr>
          <a:lstStyle>
            <a:defPPr algn="l">
              <a:defRPr sz="1575" b="1">
                <a:solidFill>
                  <a:srgbClr val="193F2A"/>
                </a:solidFill>
                <a:latin typeface="Aptos"/>
                <a:ea typeface="Aptos"/>
                <a:cs typeface="Aptos"/>
              </a:defRPr>
            </a:defPPr>
          </a:lstStyle>
          <a:p>
            <a:pPr algn="l">
              <a:defRPr sz="1575" b="1">
                <a:solidFill>
                  <a:srgbClr val="193F2A"/>
                </a:solidFill>
                <a:latin typeface="Aptos"/>
                <a:ea typeface="Aptos"/>
                <a:cs typeface="Aptos"/>
              </a:defRPr>
            </a:pPr>
            <a:r>
              <a:rPr sz="1575" b="1">
                <a:solidFill>
                  <a:srgbClr val="193F2A"/>
                </a:solidFill>
                <a:latin typeface="Aptos"/>
                <a:ea typeface="Aptos"/>
                <a:cs typeface="Aptos"/>
              </a:rPr>
              <a:t>backend/controllers</a:t>
            </a:r>
          </a:p>
        </p:txBody>
      </p:sp>
      <p:sp>
        <p:nvSpPr>
          <p:cNvPr id="24" name="request-detail-4">
            <a:extLst>
              <a:ext uri="{FF2B5EF4-FFF2-40B4-BE49-F238E27FC236}">
                <a16:creationId xmlns:a16="http://schemas.microsoft.com/office/drawing/2014/main" id="{CB80AD44-510C-4969-97FE-635A08B90C63}"/>
              </a:ext>
            </a:extLst>
          </p:cNvPr>
          <p:cNvSpPr>
            <a:spLocks noGrp="1"/>
          </p:cNvSpPr>
          <p:nvPr/>
        </p:nvSpPr>
        <p:spPr>
          <a:xfrm>
            <a:off x="857250" y="4752975"/>
            <a:ext cx="4819650" cy="190500"/>
          </a:xfrm>
          <a:prstGeom prst="rect">
            <a:avLst/>
          </a:prstGeom>
          <a:noFill/>
          <a:ln w="0">
            <a:noFill/>
          </a:ln>
        </p:spPr>
        <p:txBody>
          <a:bodyPr wrap="square" lIns="0" tIns="0" rIns="0" bIns="0" anchor="t">
            <a:noAutofit/>
          </a:bodyPr>
          <a:lstStyle>
            <a:defPPr algn="l">
              <a:defRPr sz="1252" b="0">
                <a:solidFill>
                  <a:srgbClr val="62736A"/>
                </a:solidFill>
                <a:latin typeface="Aptos"/>
                <a:ea typeface="Aptos"/>
                <a:cs typeface="Aptos"/>
              </a:defRPr>
            </a:defPPr>
          </a:lstStyle>
          <a:p>
            <a:pPr algn="l">
              <a:defRPr sz="1252" b="0">
                <a:solidFill>
                  <a:srgbClr val="62736A"/>
                </a:solidFill>
                <a:latin typeface="Aptos"/>
                <a:ea typeface="Aptos"/>
                <a:cs typeface="Aptos"/>
              </a:defRPr>
            </a:pPr>
            <a:endParaRPr sz="1252" b="0" dirty="0">
              <a:solidFill>
                <a:srgbClr val="62736A"/>
              </a:solidFill>
              <a:latin typeface="Aptos"/>
              <a:ea typeface="Aptos"/>
              <a:cs typeface="Aptos"/>
            </a:endParaRPr>
          </a:p>
        </p:txBody>
      </p:sp>
      <p:sp>
        <p:nvSpPr>
          <p:cNvPr id="25" name="request-node-5">
            <a:extLst>
              <a:ext uri="{FF2B5EF4-FFF2-40B4-BE49-F238E27FC236}">
                <a16:creationId xmlns:a16="http://schemas.microsoft.com/office/drawing/2014/main" id="{28A2D736-AE52-4964-9D24-418E42392BCE}"/>
              </a:ext>
            </a:extLst>
          </p:cNvPr>
          <p:cNvSpPr>
            <a:spLocks noGrp="1"/>
          </p:cNvSpPr>
          <p:nvPr/>
        </p:nvSpPr>
        <p:spPr>
          <a:xfrm>
            <a:off x="742950" y="5086350"/>
            <a:ext cx="5048250" cy="457200"/>
          </a:xfrm>
          <a:prstGeom prst="rect">
            <a:avLst/>
          </a:prstGeom>
          <a:solidFill>
            <a:srgbClr val="FFFFFF"/>
          </a:solidFill>
          <a:ln w="9525">
            <a:solidFill>
              <a:srgbClr val="D9E2D9"/>
            </a:solidFill>
          </a:ln>
        </p:spPr>
        <p:txBody>
          <a:bodyPr/>
          <a:lstStyle/>
          <a:p>
            <a:endParaRPr lang="en-US"/>
          </a:p>
        </p:txBody>
      </p:sp>
      <p:sp>
        <p:nvSpPr>
          <p:cNvPr id="26" name="request-label-5">
            <a:extLst>
              <a:ext uri="{FF2B5EF4-FFF2-40B4-BE49-F238E27FC236}">
                <a16:creationId xmlns:a16="http://schemas.microsoft.com/office/drawing/2014/main" id="{A53E7052-F7EE-4F49-B6B9-738D888A432F}"/>
              </a:ext>
            </a:extLst>
          </p:cNvPr>
          <p:cNvSpPr>
            <a:spLocks noGrp="1"/>
          </p:cNvSpPr>
          <p:nvPr/>
        </p:nvSpPr>
        <p:spPr>
          <a:xfrm>
            <a:off x="857250" y="5114925"/>
            <a:ext cx="4819650" cy="238125"/>
          </a:xfrm>
          <a:prstGeom prst="rect">
            <a:avLst/>
          </a:prstGeom>
          <a:noFill/>
          <a:ln w="0">
            <a:noFill/>
          </a:ln>
        </p:spPr>
        <p:txBody>
          <a:bodyPr wrap="square" lIns="0" tIns="0" rIns="0" bIns="0" anchor="t">
            <a:noAutofit/>
          </a:bodyPr>
          <a:lstStyle>
            <a:defPPr algn="l">
              <a:defRPr sz="1575" b="1">
                <a:solidFill>
                  <a:srgbClr val="193F2A"/>
                </a:solidFill>
                <a:latin typeface="Aptos"/>
                <a:ea typeface="Aptos"/>
                <a:cs typeface="Aptos"/>
              </a:defRPr>
            </a:defPPr>
          </a:lstStyle>
          <a:p>
            <a:pPr algn="l">
              <a:defRPr sz="1575" b="1">
                <a:solidFill>
                  <a:srgbClr val="193F2A"/>
                </a:solidFill>
                <a:latin typeface="Aptos"/>
                <a:ea typeface="Aptos"/>
                <a:cs typeface="Aptos"/>
              </a:defRPr>
            </a:pPr>
            <a:r>
              <a:rPr sz="1575" b="1">
                <a:solidFill>
                  <a:srgbClr val="193F2A"/>
                </a:solidFill>
                <a:latin typeface="Aptos"/>
                <a:ea typeface="Aptos"/>
                <a:cs typeface="Aptos"/>
              </a:rPr>
              <a:t>backend/models</a:t>
            </a:r>
          </a:p>
        </p:txBody>
      </p:sp>
      <p:sp>
        <p:nvSpPr>
          <p:cNvPr id="27" name="request-detail-5">
            <a:extLst>
              <a:ext uri="{FF2B5EF4-FFF2-40B4-BE49-F238E27FC236}">
                <a16:creationId xmlns:a16="http://schemas.microsoft.com/office/drawing/2014/main" id="{BFEA30D7-02B8-4B88-A4D9-01CAD26C5F16}"/>
              </a:ext>
            </a:extLst>
          </p:cNvPr>
          <p:cNvSpPr>
            <a:spLocks noGrp="1"/>
          </p:cNvSpPr>
          <p:nvPr/>
        </p:nvSpPr>
        <p:spPr>
          <a:xfrm>
            <a:off x="857250" y="5343525"/>
            <a:ext cx="4819650" cy="190500"/>
          </a:xfrm>
          <a:prstGeom prst="rect">
            <a:avLst/>
          </a:prstGeom>
          <a:noFill/>
          <a:ln w="0">
            <a:noFill/>
          </a:ln>
        </p:spPr>
        <p:txBody>
          <a:bodyPr wrap="square" lIns="0" tIns="0" rIns="0" bIns="0" anchor="t">
            <a:noAutofit/>
          </a:bodyPr>
          <a:lstStyle>
            <a:defPPr algn="l">
              <a:defRPr sz="1252" b="0">
                <a:solidFill>
                  <a:srgbClr val="62736A"/>
                </a:solidFill>
                <a:latin typeface="Aptos"/>
                <a:ea typeface="Aptos"/>
                <a:cs typeface="Aptos"/>
              </a:defRPr>
            </a:defPPr>
          </a:lstStyle>
          <a:p>
            <a:pPr algn="l">
              <a:defRPr sz="1252" b="0">
                <a:solidFill>
                  <a:srgbClr val="62736A"/>
                </a:solidFill>
                <a:latin typeface="Aptos"/>
                <a:ea typeface="Aptos"/>
                <a:cs typeface="Aptos"/>
              </a:defRPr>
            </a:pPr>
            <a:endParaRPr sz="1252" b="0" dirty="0">
              <a:solidFill>
                <a:srgbClr val="62736A"/>
              </a:solidFill>
              <a:latin typeface="Aptos"/>
              <a:ea typeface="Aptos"/>
              <a:cs typeface="Aptos"/>
            </a:endParaRPr>
          </a:p>
        </p:txBody>
      </p:sp>
      <p:sp>
        <p:nvSpPr>
          <p:cNvPr id="28" name="request-node-6">
            <a:extLst>
              <a:ext uri="{FF2B5EF4-FFF2-40B4-BE49-F238E27FC236}">
                <a16:creationId xmlns:a16="http://schemas.microsoft.com/office/drawing/2014/main" id="{6A237724-43AD-4227-8C2A-7191DCE760C0}"/>
              </a:ext>
            </a:extLst>
          </p:cNvPr>
          <p:cNvSpPr>
            <a:spLocks noGrp="1"/>
          </p:cNvSpPr>
          <p:nvPr/>
        </p:nvSpPr>
        <p:spPr>
          <a:xfrm>
            <a:off x="742950" y="5742205"/>
            <a:ext cx="5048250" cy="457200"/>
          </a:xfrm>
          <a:prstGeom prst="rect">
            <a:avLst/>
          </a:prstGeom>
          <a:solidFill>
            <a:srgbClr val="EDF3E8"/>
          </a:solidFill>
          <a:ln w="9525">
            <a:solidFill>
              <a:srgbClr val="D9E2D9"/>
            </a:solidFill>
          </a:ln>
        </p:spPr>
        <p:txBody>
          <a:bodyPr/>
          <a:lstStyle/>
          <a:p>
            <a:endParaRPr lang="en-US"/>
          </a:p>
        </p:txBody>
      </p:sp>
      <p:sp>
        <p:nvSpPr>
          <p:cNvPr id="29" name="request-label-6">
            <a:extLst>
              <a:ext uri="{FF2B5EF4-FFF2-40B4-BE49-F238E27FC236}">
                <a16:creationId xmlns:a16="http://schemas.microsoft.com/office/drawing/2014/main" id="{C71A4EDA-A526-4ED4-87E5-6EAD2991A52C}"/>
              </a:ext>
            </a:extLst>
          </p:cNvPr>
          <p:cNvSpPr>
            <a:spLocks noGrp="1"/>
          </p:cNvSpPr>
          <p:nvPr/>
        </p:nvSpPr>
        <p:spPr>
          <a:xfrm>
            <a:off x="857250" y="5705475"/>
            <a:ext cx="4819650" cy="238125"/>
          </a:xfrm>
          <a:prstGeom prst="rect">
            <a:avLst/>
          </a:prstGeom>
          <a:noFill/>
          <a:ln w="0">
            <a:noFill/>
          </a:ln>
        </p:spPr>
        <p:txBody>
          <a:bodyPr wrap="square" lIns="0" tIns="0" rIns="0" bIns="0" anchor="t">
            <a:noAutofit/>
          </a:bodyPr>
          <a:lstStyle>
            <a:defPPr algn="l">
              <a:defRPr sz="1575" b="1">
                <a:solidFill>
                  <a:srgbClr val="193F2A"/>
                </a:solidFill>
                <a:latin typeface="Aptos"/>
                <a:ea typeface="Aptos"/>
                <a:cs typeface="Aptos"/>
              </a:defRPr>
            </a:defPPr>
          </a:lstStyle>
          <a:p>
            <a:pPr algn="l">
              <a:defRPr sz="1575" b="1">
                <a:solidFill>
                  <a:srgbClr val="193F2A"/>
                </a:solidFill>
                <a:latin typeface="Aptos"/>
                <a:ea typeface="Aptos"/>
                <a:cs typeface="Aptos"/>
              </a:defRPr>
            </a:pPr>
            <a:r>
              <a:rPr sz="1575" b="1">
                <a:solidFill>
                  <a:srgbClr val="193F2A"/>
                </a:solidFill>
                <a:latin typeface="Aptos"/>
                <a:ea typeface="Aptos"/>
                <a:cs typeface="Aptos"/>
              </a:rPr>
              <a:t>MySQL</a:t>
            </a:r>
          </a:p>
        </p:txBody>
      </p:sp>
      <p:sp>
        <p:nvSpPr>
          <p:cNvPr id="30" name="request-detail-6">
            <a:extLst>
              <a:ext uri="{FF2B5EF4-FFF2-40B4-BE49-F238E27FC236}">
                <a16:creationId xmlns:a16="http://schemas.microsoft.com/office/drawing/2014/main" id="{56DB650C-83A7-4B58-9526-AA85601BC03D}"/>
              </a:ext>
            </a:extLst>
          </p:cNvPr>
          <p:cNvSpPr>
            <a:spLocks noGrp="1"/>
          </p:cNvSpPr>
          <p:nvPr/>
        </p:nvSpPr>
        <p:spPr>
          <a:xfrm>
            <a:off x="857250" y="5934075"/>
            <a:ext cx="4819650" cy="190500"/>
          </a:xfrm>
          <a:prstGeom prst="rect">
            <a:avLst/>
          </a:prstGeom>
          <a:noFill/>
          <a:ln w="0">
            <a:noFill/>
          </a:ln>
        </p:spPr>
        <p:txBody>
          <a:bodyPr wrap="square" lIns="0" tIns="0" rIns="0" bIns="0" anchor="t">
            <a:noAutofit/>
          </a:bodyPr>
          <a:lstStyle>
            <a:defPPr algn="l">
              <a:defRPr sz="1252" b="0">
                <a:solidFill>
                  <a:srgbClr val="62736A"/>
                </a:solidFill>
                <a:latin typeface="Aptos"/>
                <a:ea typeface="Aptos"/>
                <a:cs typeface="Aptos"/>
              </a:defRPr>
            </a:defPPr>
          </a:lstStyle>
          <a:p>
            <a:pPr algn="l">
              <a:defRPr sz="1252" b="0">
                <a:solidFill>
                  <a:srgbClr val="62736A"/>
                </a:solidFill>
                <a:latin typeface="Aptos"/>
                <a:ea typeface="Aptos"/>
                <a:cs typeface="Aptos"/>
              </a:defRPr>
            </a:pPr>
            <a:r>
              <a:rPr sz="1252" b="0">
                <a:solidFill>
                  <a:srgbClr val="62736A"/>
                </a:solidFill>
                <a:latin typeface="Aptos"/>
                <a:ea typeface="Aptos"/>
                <a:cs typeface="Aptos"/>
              </a:rPr>
              <a:t>Stores the validated farm records</a:t>
            </a:r>
          </a:p>
        </p:txBody>
      </p:sp>
      <p:sp>
        <p:nvSpPr>
          <p:cNvPr id="37" name="response-node-0">
            <a:extLst>
              <a:ext uri="{FF2B5EF4-FFF2-40B4-BE49-F238E27FC236}">
                <a16:creationId xmlns:a16="http://schemas.microsoft.com/office/drawing/2014/main" id="{6BEFC180-0882-4F76-AC55-336C36469F0C}"/>
              </a:ext>
            </a:extLst>
          </p:cNvPr>
          <p:cNvSpPr>
            <a:spLocks noGrp="1"/>
          </p:cNvSpPr>
          <p:nvPr/>
        </p:nvSpPr>
        <p:spPr>
          <a:xfrm>
            <a:off x="6419850" y="2133600"/>
            <a:ext cx="5048250" cy="457200"/>
          </a:xfrm>
          <a:prstGeom prst="rect">
            <a:avLst/>
          </a:prstGeom>
          <a:solidFill>
            <a:srgbClr val="EDF3E8"/>
          </a:solidFill>
          <a:ln w="9525">
            <a:solidFill>
              <a:srgbClr val="D9E2D9"/>
            </a:solidFill>
          </a:ln>
        </p:spPr>
        <p:txBody>
          <a:bodyPr/>
          <a:lstStyle/>
          <a:p>
            <a:endParaRPr lang="en-US"/>
          </a:p>
        </p:txBody>
      </p:sp>
      <p:sp>
        <p:nvSpPr>
          <p:cNvPr id="38" name="response-label-0">
            <a:extLst>
              <a:ext uri="{FF2B5EF4-FFF2-40B4-BE49-F238E27FC236}">
                <a16:creationId xmlns:a16="http://schemas.microsoft.com/office/drawing/2014/main" id="{2EB707AF-7A5C-4E09-98B3-A7C90BD3F25D}"/>
              </a:ext>
            </a:extLst>
          </p:cNvPr>
          <p:cNvSpPr>
            <a:spLocks noGrp="1"/>
          </p:cNvSpPr>
          <p:nvPr/>
        </p:nvSpPr>
        <p:spPr>
          <a:xfrm>
            <a:off x="6534150" y="2162175"/>
            <a:ext cx="4819650" cy="238125"/>
          </a:xfrm>
          <a:prstGeom prst="rect">
            <a:avLst/>
          </a:prstGeom>
          <a:noFill/>
          <a:ln w="0">
            <a:noFill/>
          </a:ln>
        </p:spPr>
        <p:txBody>
          <a:bodyPr wrap="square" lIns="0" tIns="0" rIns="0" bIns="0" anchor="t">
            <a:noAutofit/>
          </a:bodyPr>
          <a:lstStyle>
            <a:defPPr algn="l">
              <a:defRPr sz="1575" b="1">
                <a:solidFill>
                  <a:srgbClr val="193F2A"/>
                </a:solidFill>
                <a:latin typeface="Aptos"/>
                <a:ea typeface="Aptos"/>
                <a:cs typeface="Aptos"/>
              </a:defRPr>
            </a:defPPr>
          </a:lstStyle>
          <a:p>
            <a:pPr algn="l">
              <a:defRPr sz="1575" b="1">
                <a:solidFill>
                  <a:srgbClr val="193F2A"/>
                </a:solidFill>
                <a:latin typeface="Aptos"/>
                <a:ea typeface="Aptos"/>
                <a:cs typeface="Aptos"/>
              </a:defRPr>
            </a:pPr>
            <a:r>
              <a:rPr sz="1575" b="1">
                <a:solidFill>
                  <a:srgbClr val="193F2A"/>
                </a:solidFill>
                <a:latin typeface="Aptos"/>
                <a:ea typeface="Aptos"/>
                <a:cs typeface="Aptos"/>
              </a:rPr>
              <a:t>MySQL</a:t>
            </a:r>
          </a:p>
        </p:txBody>
      </p:sp>
      <p:sp>
        <p:nvSpPr>
          <p:cNvPr id="39" name="response-detail-0">
            <a:extLst>
              <a:ext uri="{FF2B5EF4-FFF2-40B4-BE49-F238E27FC236}">
                <a16:creationId xmlns:a16="http://schemas.microsoft.com/office/drawing/2014/main" id="{3CD59E4A-FF93-45D9-9084-8111E417BA6A}"/>
              </a:ext>
            </a:extLst>
          </p:cNvPr>
          <p:cNvSpPr>
            <a:spLocks noGrp="1"/>
          </p:cNvSpPr>
          <p:nvPr/>
        </p:nvSpPr>
        <p:spPr>
          <a:xfrm>
            <a:off x="6534150" y="2390775"/>
            <a:ext cx="4819650" cy="190500"/>
          </a:xfrm>
          <a:prstGeom prst="rect">
            <a:avLst/>
          </a:prstGeom>
          <a:noFill/>
          <a:ln w="0">
            <a:noFill/>
          </a:ln>
        </p:spPr>
        <p:txBody>
          <a:bodyPr wrap="square" lIns="0" tIns="0" rIns="0" bIns="0" anchor="t">
            <a:noAutofit/>
          </a:bodyPr>
          <a:lstStyle>
            <a:defPPr algn="l">
              <a:defRPr sz="1252" b="0">
                <a:solidFill>
                  <a:srgbClr val="62736A"/>
                </a:solidFill>
                <a:latin typeface="Aptos"/>
                <a:ea typeface="Aptos"/>
                <a:cs typeface="Aptos"/>
              </a:defRPr>
            </a:defPPr>
          </a:lstStyle>
          <a:p>
            <a:pPr algn="l">
              <a:defRPr sz="1252" b="0">
                <a:solidFill>
                  <a:srgbClr val="62736A"/>
                </a:solidFill>
                <a:latin typeface="Aptos"/>
                <a:ea typeface="Aptos"/>
                <a:cs typeface="Aptos"/>
              </a:defRPr>
            </a:pPr>
            <a:r>
              <a:rPr sz="1252" b="0" dirty="0">
                <a:solidFill>
                  <a:srgbClr val="62736A"/>
                </a:solidFill>
                <a:latin typeface="Aptos"/>
                <a:ea typeface="Aptos"/>
                <a:cs typeface="Aptos"/>
              </a:rPr>
              <a:t>Returns query results and confirms the write</a:t>
            </a:r>
          </a:p>
        </p:txBody>
      </p:sp>
      <p:sp>
        <p:nvSpPr>
          <p:cNvPr id="40" name="response-node-1">
            <a:extLst>
              <a:ext uri="{FF2B5EF4-FFF2-40B4-BE49-F238E27FC236}">
                <a16:creationId xmlns:a16="http://schemas.microsoft.com/office/drawing/2014/main" id="{020E3FB1-838F-44F3-B576-0BAF53BEE358}"/>
              </a:ext>
            </a:extLst>
          </p:cNvPr>
          <p:cNvSpPr>
            <a:spLocks noGrp="1"/>
          </p:cNvSpPr>
          <p:nvPr/>
        </p:nvSpPr>
        <p:spPr>
          <a:xfrm>
            <a:off x="6419850" y="2724150"/>
            <a:ext cx="5048250" cy="457200"/>
          </a:xfrm>
          <a:prstGeom prst="rect">
            <a:avLst/>
          </a:prstGeom>
          <a:solidFill>
            <a:srgbClr val="FFFFFF"/>
          </a:solidFill>
          <a:ln w="9525">
            <a:solidFill>
              <a:srgbClr val="D9E2D9"/>
            </a:solidFill>
          </a:ln>
        </p:spPr>
        <p:txBody>
          <a:bodyPr/>
          <a:lstStyle/>
          <a:p>
            <a:endParaRPr lang="en-US"/>
          </a:p>
        </p:txBody>
      </p:sp>
      <p:sp>
        <p:nvSpPr>
          <p:cNvPr id="41" name="response-label-1">
            <a:extLst>
              <a:ext uri="{FF2B5EF4-FFF2-40B4-BE49-F238E27FC236}">
                <a16:creationId xmlns:a16="http://schemas.microsoft.com/office/drawing/2014/main" id="{ECA33AF2-D9B2-407F-B9EF-5996EA42D746}"/>
              </a:ext>
            </a:extLst>
          </p:cNvPr>
          <p:cNvSpPr>
            <a:spLocks noGrp="1"/>
          </p:cNvSpPr>
          <p:nvPr/>
        </p:nvSpPr>
        <p:spPr>
          <a:xfrm>
            <a:off x="6534150" y="2752725"/>
            <a:ext cx="4819650" cy="238125"/>
          </a:xfrm>
          <a:prstGeom prst="rect">
            <a:avLst/>
          </a:prstGeom>
          <a:noFill/>
          <a:ln w="0">
            <a:noFill/>
          </a:ln>
        </p:spPr>
        <p:txBody>
          <a:bodyPr wrap="square" lIns="0" tIns="0" rIns="0" bIns="0" anchor="t">
            <a:noAutofit/>
          </a:bodyPr>
          <a:lstStyle>
            <a:defPPr algn="l">
              <a:defRPr sz="1575" b="1">
                <a:solidFill>
                  <a:srgbClr val="193F2A"/>
                </a:solidFill>
                <a:latin typeface="Aptos"/>
                <a:ea typeface="Aptos"/>
                <a:cs typeface="Aptos"/>
              </a:defRPr>
            </a:defPPr>
          </a:lstStyle>
          <a:p>
            <a:pPr algn="l">
              <a:defRPr sz="1575" b="1">
                <a:solidFill>
                  <a:srgbClr val="193F2A"/>
                </a:solidFill>
                <a:latin typeface="Aptos"/>
                <a:ea typeface="Aptos"/>
                <a:cs typeface="Aptos"/>
              </a:defRPr>
            </a:pPr>
            <a:r>
              <a:rPr sz="1575" b="1">
                <a:solidFill>
                  <a:srgbClr val="193F2A"/>
                </a:solidFill>
                <a:latin typeface="Aptos"/>
                <a:ea typeface="Aptos"/>
                <a:cs typeface="Aptos"/>
              </a:rPr>
              <a:t>backend/config → backend/models</a:t>
            </a:r>
          </a:p>
        </p:txBody>
      </p:sp>
      <p:sp>
        <p:nvSpPr>
          <p:cNvPr id="42" name="response-detail-1">
            <a:extLst>
              <a:ext uri="{FF2B5EF4-FFF2-40B4-BE49-F238E27FC236}">
                <a16:creationId xmlns:a16="http://schemas.microsoft.com/office/drawing/2014/main" id="{13384B13-45E8-497E-B07B-86E7E8C2C1F8}"/>
              </a:ext>
            </a:extLst>
          </p:cNvPr>
          <p:cNvSpPr>
            <a:spLocks noGrp="1"/>
          </p:cNvSpPr>
          <p:nvPr/>
        </p:nvSpPr>
        <p:spPr>
          <a:xfrm>
            <a:off x="6534150" y="2981325"/>
            <a:ext cx="4819650" cy="190500"/>
          </a:xfrm>
          <a:prstGeom prst="rect">
            <a:avLst/>
          </a:prstGeom>
          <a:noFill/>
          <a:ln w="0">
            <a:noFill/>
          </a:ln>
        </p:spPr>
        <p:txBody>
          <a:bodyPr wrap="square" lIns="0" tIns="0" rIns="0" bIns="0" anchor="t">
            <a:noAutofit/>
          </a:bodyPr>
          <a:lstStyle>
            <a:defPPr algn="l">
              <a:defRPr sz="1252" b="0">
                <a:solidFill>
                  <a:srgbClr val="62736A"/>
                </a:solidFill>
                <a:latin typeface="Aptos"/>
                <a:ea typeface="Aptos"/>
                <a:cs typeface="Aptos"/>
              </a:defRPr>
            </a:defPPr>
          </a:lstStyle>
          <a:p>
            <a:pPr algn="l">
              <a:defRPr sz="1252" b="0">
                <a:solidFill>
                  <a:srgbClr val="62736A"/>
                </a:solidFill>
                <a:latin typeface="Aptos"/>
                <a:ea typeface="Aptos"/>
                <a:cs typeface="Aptos"/>
              </a:defRPr>
            </a:pPr>
            <a:r>
              <a:rPr sz="1252" b="0" dirty="0">
                <a:solidFill>
                  <a:srgbClr val="62736A"/>
                </a:solidFill>
                <a:latin typeface="Aptos"/>
                <a:ea typeface="Aptos"/>
                <a:cs typeface="Aptos"/>
              </a:rPr>
              <a:t>Returns the saved farm</a:t>
            </a:r>
          </a:p>
        </p:txBody>
      </p:sp>
      <p:sp>
        <p:nvSpPr>
          <p:cNvPr id="43" name="response-node-2">
            <a:extLst>
              <a:ext uri="{FF2B5EF4-FFF2-40B4-BE49-F238E27FC236}">
                <a16:creationId xmlns:a16="http://schemas.microsoft.com/office/drawing/2014/main" id="{BB8F3CC9-566A-4D3B-8D2A-42A2B0A6F295}"/>
              </a:ext>
            </a:extLst>
          </p:cNvPr>
          <p:cNvSpPr>
            <a:spLocks noGrp="1"/>
          </p:cNvSpPr>
          <p:nvPr/>
        </p:nvSpPr>
        <p:spPr>
          <a:xfrm>
            <a:off x="6419850" y="3314700"/>
            <a:ext cx="5048250" cy="457200"/>
          </a:xfrm>
          <a:prstGeom prst="rect">
            <a:avLst/>
          </a:prstGeom>
          <a:solidFill>
            <a:srgbClr val="FFFFFF"/>
          </a:solidFill>
          <a:ln w="9525">
            <a:solidFill>
              <a:srgbClr val="D9E2D9"/>
            </a:solidFill>
          </a:ln>
        </p:spPr>
        <p:txBody>
          <a:bodyPr/>
          <a:lstStyle/>
          <a:p>
            <a:endParaRPr lang="en-US"/>
          </a:p>
        </p:txBody>
      </p:sp>
      <p:sp>
        <p:nvSpPr>
          <p:cNvPr id="44" name="response-label-2">
            <a:extLst>
              <a:ext uri="{FF2B5EF4-FFF2-40B4-BE49-F238E27FC236}">
                <a16:creationId xmlns:a16="http://schemas.microsoft.com/office/drawing/2014/main" id="{715FAF0D-8A70-427D-B4BB-B573CAE36623}"/>
              </a:ext>
            </a:extLst>
          </p:cNvPr>
          <p:cNvSpPr>
            <a:spLocks noGrp="1"/>
          </p:cNvSpPr>
          <p:nvPr/>
        </p:nvSpPr>
        <p:spPr>
          <a:xfrm>
            <a:off x="6534150" y="3343275"/>
            <a:ext cx="4819650" cy="238125"/>
          </a:xfrm>
          <a:prstGeom prst="rect">
            <a:avLst/>
          </a:prstGeom>
          <a:noFill/>
          <a:ln w="0">
            <a:noFill/>
          </a:ln>
        </p:spPr>
        <p:txBody>
          <a:bodyPr wrap="square" lIns="0" tIns="0" rIns="0" bIns="0" anchor="t">
            <a:noAutofit/>
          </a:bodyPr>
          <a:lstStyle>
            <a:defPPr algn="l">
              <a:defRPr sz="1575" b="1">
                <a:solidFill>
                  <a:srgbClr val="193F2A"/>
                </a:solidFill>
                <a:latin typeface="Aptos"/>
                <a:ea typeface="Aptos"/>
                <a:cs typeface="Aptos"/>
              </a:defRPr>
            </a:defPPr>
          </a:lstStyle>
          <a:p>
            <a:pPr algn="l">
              <a:defRPr sz="1575" b="1">
                <a:solidFill>
                  <a:srgbClr val="193F2A"/>
                </a:solidFill>
                <a:latin typeface="Aptos"/>
                <a:ea typeface="Aptos"/>
                <a:cs typeface="Aptos"/>
              </a:defRPr>
            </a:pPr>
            <a:r>
              <a:rPr sz="1575" b="1">
                <a:solidFill>
                  <a:srgbClr val="193F2A"/>
                </a:solidFill>
                <a:latin typeface="Aptos"/>
                <a:ea typeface="Aptos"/>
                <a:cs typeface="Aptos"/>
              </a:rPr>
              <a:t>backend/controllers</a:t>
            </a:r>
          </a:p>
        </p:txBody>
      </p:sp>
      <p:sp>
        <p:nvSpPr>
          <p:cNvPr id="45" name="response-detail-2">
            <a:extLst>
              <a:ext uri="{FF2B5EF4-FFF2-40B4-BE49-F238E27FC236}">
                <a16:creationId xmlns:a16="http://schemas.microsoft.com/office/drawing/2014/main" id="{6B76F172-3764-45CD-A67D-29A1EE385B61}"/>
              </a:ext>
            </a:extLst>
          </p:cNvPr>
          <p:cNvSpPr>
            <a:spLocks noGrp="1"/>
          </p:cNvSpPr>
          <p:nvPr/>
        </p:nvSpPr>
        <p:spPr>
          <a:xfrm>
            <a:off x="6534150" y="3571875"/>
            <a:ext cx="4819650" cy="190500"/>
          </a:xfrm>
          <a:prstGeom prst="rect">
            <a:avLst/>
          </a:prstGeom>
          <a:noFill/>
          <a:ln w="0">
            <a:noFill/>
          </a:ln>
        </p:spPr>
        <p:txBody>
          <a:bodyPr wrap="square" lIns="0" tIns="0" rIns="0" bIns="0" anchor="t">
            <a:noAutofit/>
          </a:bodyPr>
          <a:lstStyle>
            <a:defPPr algn="l">
              <a:defRPr sz="1252" b="0">
                <a:solidFill>
                  <a:srgbClr val="62736A"/>
                </a:solidFill>
                <a:latin typeface="Aptos"/>
                <a:ea typeface="Aptos"/>
                <a:cs typeface="Aptos"/>
              </a:defRPr>
            </a:defPPr>
          </a:lstStyle>
          <a:p>
            <a:pPr algn="l">
              <a:defRPr sz="1252" b="0">
                <a:solidFill>
                  <a:srgbClr val="62736A"/>
                </a:solidFill>
                <a:latin typeface="Aptos"/>
                <a:ea typeface="Aptos"/>
                <a:cs typeface="Aptos"/>
              </a:defRPr>
            </a:pPr>
            <a:endParaRPr sz="1252" b="0" dirty="0">
              <a:solidFill>
                <a:srgbClr val="62736A"/>
              </a:solidFill>
              <a:latin typeface="Aptos"/>
              <a:ea typeface="Aptos"/>
              <a:cs typeface="Aptos"/>
            </a:endParaRPr>
          </a:p>
        </p:txBody>
      </p:sp>
      <p:sp>
        <p:nvSpPr>
          <p:cNvPr id="46" name="response-node-3">
            <a:extLst>
              <a:ext uri="{FF2B5EF4-FFF2-40B4-BE49-F238E27FC236}">
                <a16:creationId xmlns:a16="http://schemas.microsoft.com/office/drawing/2014/main" id="{833FFD7C-AEC3-4AFB-A40D-8382160D9CD8}"/>
              </a:ext>
            </a:extLst>
          </p:cNvPr>
          <p:cNvSpPr>
            <a:spLocks noGrp="1"/>
          </p:cNvSpPr>
          <p:nvPr/>
        </p:nvSpPr>
        <p:spPr>
          <a:xfrm>
            <a:off x="6419850" y="3905250"/>
            <a:ext cx="5048250" cy="457200"/>
          </a:xfrm>
          <a:prstGeom prst="rect">
            <a:avLst/>
          </a:prstGeom>
          <a:solidFill>
            <a:srgbClr val="FFFFFF"/>
          </a:solidFill>
          <a:ln w="9525">
            <a:solidFill>
              <a:srgbClr val="D9E2D9"/>
            </a:solidFill>
          </a:ln>
        </p:spPr>
        <p:txBody>
          <a:bodyPr/>
          <a:lstStyle/>
          <a:p>
            <a:endParaRPr lang="en-US"/>
          </a:p>
        </p:txBody>
      </p:sp>
      <p:sp>
        <p:nvSpPr>
          <p:cNvPr id="47" name="response-label-3">
            <a:extLst>
              <a:ext uri="{FF2B5EF4-FFF2-40B4-BE49-F238E27FC236}">
                <a16:creationId xmlns:a16="http://schemas.microsoft.com/office/drawing/2014/main" id="{5B52C3C7-636B-4625-8131-D87945934A5A}"/>
              </a:ext>
            </a:extLst>
          </p:cNvPr>
          <p:cNvSpPr>
            <a:spLocks noGrp="1"/>
          </p:cNvSpPr>
          <p:nvPr/>
        </p:nvSpPr>
        <p:spPr>
          <a:xfrm>
            <a:off x="6534150" y="3933825"/>
            <a:ext cx="4819650" cy="238125"/>
          </a:xfrm>
          <a:prstGeom prst="rect">
            <a:avLst/>
          </a:prstGeom>
          <a:noFill/>
          <a:ln w="0">
            <a:noFill/>
          </a:ln>
        </p:spPr>
        <p:txBody>
          <a:bodyPr wrap="square" lIns="0" tIns="0" rIns="0" bIns="0" anchor="t">
            <a:noAutofit/>
          </a:bodyPr>
          <a:lstStyle>
            <a:defPPr algn="l">
              <a:defRPr sz="1575" b="1">
                <a:solidFill>
                  <a:srgbClr val="193F2A"/>
                </a:solidFill>
                <a:latin typeface="Aptos"/>
                <a:ea typeface="Aptos"/>
                <a:cs typeface="Aptos"/>
              </a:defRPr>
            </a:defPPr>
          </a:lstStyle>
          <a:p>
            <a:pPr algn="l">
              <a:defRPr sz="1575" b="1">
                <a:solidFill>
                  <a:srgbClr val="193F2A"/>
                </a:solidFill>
                <a:latin typeface="Aptos"/>
                <a:ea typeface="Aptos"/>
                <a:cs typeface="Aptos"/>
              </a:defRPr>
            </a:pPr>
            <a:r>
              <a:rPr sz="1575" b="1" dirty="0">
                <a:solidFill>
                  <a:srgbClr val="193F2A"/>
                </a:solidFill>
                <a:latin typeface="Aptos"/>
                <a:ea typeface="Aptos"/>
                <a:cs typeface="Aptos"/>
              </a:rPr>
              <a:t>ui/src/services</a:t>
            </a:r>
          </a:p>
        </p:txBody>
      </p:sp>
      <p:sp>
        <p:nvSpPr>
          <p:cNvPr id="48" name="response-detail-3">
            <a:extLst>
              <a:ext uri="{FF2B5EF4-FFF2-40B4-BE49-F238E27FC236}">
                <a16:creationId xmlns:a16="http://schemas.microsoft.com/office/drawing/2014/main" id="{224594AB-2B32-4F78-B712-87181DFF15BB}"/>
              </a:ext>
            </a:extLst>
          </p:cNvPr>
          <p:cNvSpPr>
            <a:spLocks noGrp="1"/>
          </p:cNvSpPr>
          <p:nvPr/>
        </p:nvSpPr>
        <p:spPr>
          <a:xfrm>
            <a:off x="6534150" y="4162425"/>
            <a:ext cx="4819650" cy="190500"/>
          </a:xfrm>
          <a:prstGeom prst="rect">
            <a:avLst/>
          </a:prstGeom>
          <a:noFill/>
          <a:ln w="0">
            <a:noFill/>
          </a:ln>
        </p:spPr>
        <p:txBody>
          <a:bodyPr wrap="square" lIns="0" tIns="0" rIns="0" bIns="0" anchor="t">
            <a:noAutofit/>
          </a:bodyPr>
          <a:lstStyle>
            <a:defPPr algn="l">
              <a:defRPr sz="1252" b="0">
                <a:solidFill>
                  <a:srgbClr val="62736A"/>
                </a:solidFill>
                <a:latin typeface="Aptos"/>
                <a:ea typeface="Aptos"/>
                <a:cs typeface="Aptos"/>
              </a:defRPr>
            </a:defPPr>
          </a:lstStyle>
          <a:p>
            <a:pPr algn="l">
              <a:defRPr sz="1252" b="0">
                <a:solidFill>
                  <a:srgbClr val="62736A"/>
                </a:solidFill>
                <a:latin typeface="Aptos"/>
                <a:ea typeface="Aptos"/>
                <a:cs typeface="Aptos"/>
              </a:defRPr>
            </a:pPr>
            <a:r>
              <a:rPr sz="1252" b="0" dirty="0">
                <a:solidFill>
                  <a:srgbClr val="62736A"/>
                </a:solidFill>
                <a:latin typeface="Aptos"/>
                <a:ea typeface="Aptos"/>
                <a:cs typeface="Aptos"/>
              </a:rPr>
              <a:t>Reads the response and acknowledges the save</a:t>
            </a:r>
          </a:p>
        </p:txBody>
      </p:sp>
      <p:sp>
        <p:nvSpPr>
          <p:cNvPr id="49" name="response-node-4">
            <a:extLst>
              <a:ext uri="{FF2B5EF4-FFF2-40B4-BE49-F238E27FC236}">
                <a16:creationId xmlns:a16="http://schemas.microsoft.com/office/drawing/2014/main" id="{44FF6669-76AC-486D-A209-5FE80D357069}"/>
              </a:ext>
            </a:extLst>
          </p:cNvPr>
          <p:cNvSpPr>
            <a:spLocks noGrp="1"/>
          </p:cNvSpPr>
          <p:nvPr/>
        </p:nvSpPr>
        <p:spPr>
          <a:xfrm>
            <a:off x="6419850" y="4495800"/>
            <a:ext cx="5048250" cy="457200"/>
          </a:xfrm>
          <a:prstGeom prst="rect">
            <a:avLst/>
          </a:prstGeom>
          <a:solidFill>
            <a:srgbClr val="FFFFFF"/>
          </a:solidFill>
          <a:ln w="9525">
            <a:solidFill>
              <a:srgbClr val="D9E2D9"/>
            </a:solidFill>
          </a:ln>
        </p:spPr>
        <p:txBody>
          <a:bodyPr/>
          <a:lstStyle/>
          <a:p>
            <a:endParaRPr lang="en-US"/>
          </a:p>
        </p:txBody>
      </p:sp>
      <p:sp>
        <p:nvSpPr>
          <p:cNvPr id="50" name="response-label-4">
            <a:extLst>
              <a:ext uri="{FF2B5EF4-FFF2-40B4-BE49-F238E27FC236}">
                <a16:creationId xmlns:a16="http://schemas.microsoft.com/office/drawing/2014/main" id="{A99D2793-BB0A-4388-90ED-9F89074A58E3}"/>
              </a:ext>
            </a:extLst>
          </p:cNvPr>
          <p:cNvSpPr>
            <a:spLocks noGrp="1"/>
          </p:cNvSpPr>
          <p:nvPr/>
        </p:nvSpPr>
        <p:spPr>
          <a:xfrm>
            <a:off x="6534150" y="4524375"/>
            <a:ext cx="4819650" cy="238125"/>
          </a:xfrm>
          <a:prstGeom prst="rect">
            <a:avLst/>
          </a:prstGeom>
          <a:noFill/>
          <a:ln w="0">
            <a:noFill/>
          </a:ln>
        </p:spPr>
        <p:txBody>
          <a:bodyPr wrap="square" lIns="0" tIns="0" rIns="0" bIns="0" anchor="t">
            <a:noAutofit/>
          </a:bodyPr>
          <a:lstStyle>
            <a:defPPr algn="l">
              <a:defRPr sz="1575" b="1">
                <a:solidFill>
                  <a:srgbClr val="193F2A"/>
                </a:solidFill>
                <a:latin typeface="Aptos"/>
                <a:ea typeface="Aptos"/>
                <a:cs typeface="Aptos"/>
              </a:defRPr>
            </a:defPPr>
          </a:lstStyle>
          <a:p>
            <a:pPr algn="l">
              <a:defRPr sz="1575" b="1">
                <a:solidFill>
                  <a:srgbClr val="193F2A"/>
                </a:solidFill>
                <a:latin typeface="Aptos"/>
                <a:ea typeface="Aptos"/>
                <a:cs typeface="Aptos"/>
              </a:defRPr>
            </a:pPr>
            <a:r>
              <a:rPr sz="1575" b="1" dirty="0">
                <a:solidFill>
                  <a:srgbClr val="193F2A"/>
                </a:solidFill>
                <a:latin typeface="Aptos"/>
                <a:ea typeface="Aptos"/>
                <a:cs typeface="Aptos"/>
              </a:rPr>
              <a:t>ui/src/hooks</a:t>
            </a:r>
          </a:p>
        </p:txBody>
      </p:sp>
      <p:sp>
        <p:nvSpPr>
          <p:cNvPr id="51" name="response-detail-4">
            <a:extLst>
              <a:ext uri="{FF2B5EF4-FFF2-40B4-BE49-F238E27FC236}">
                <a16:creationId xmlns:a16="http://schemas.microsoft.com/office/drawing/2014/main" id="{46F6EABB-EEA7-405D-B428-3C25778D0A3D}"/>
              </a:ext>
            </a:extLst>
          </p:cNvPr>
          <p:cNvSpPr>
            <a:spLocks noGrp="1"/>
          </p:cNvSpPr>
          <p:nvPr/>
        </p:nvSpPr>
        <p:spPr>
          <a:xfrm>
            <a:off x="6534150" y="4752975"/>
            <a:ext cx="4819650" cy="190500"/>
          </a:xfrm>
          <a:prstGeom prst="rect">
            <a:avLst/>
          </a:prstGeom>
          <a:noFill/>
          <a:ln w="0">
            <a:noFill/>
          </a:ln>
        </p:spPr>
        <p:txBody>
          <a:bodyPr wrap="square" lIns="0" tIns="0" rIns="0" bIns="0" anchor="t">
            <a:noAutofit/>
          </a:bodyPr>
          <a:lstStyle>
            <a:defPPr algn="l">
              <a:defRPr sz="1252" b="0">
                <a:solidFill>
                  <a:srgbClr val="62736A"/>
                </a:solidFill>
                <a:latin typeface="Aptos"/>
                <a:ea typeface="Aptos"/>
                <a:cs typeface="Aptos"/>
              </a:defRPr>
            </a:defPPr>
          </a:lstStyle>
          <a:p>
            <a:pPr algn="l">
              <a:defRPr sz="1252" b="0">
                <a:solidFill>
                  <a:srgbClr val="62736A"/>
                </a:solidFill>
                <a:latin typeface="Aptos"/>
                <a:ea typeface="Aptos"/>
                <a:cs typeface="Aptos"/>
              </a:defRPr>
            </a:pPr>
            <a:r>
              <a:rPr sz="1252" b="0" dirty="0">
                <a:solidFill>
                  <a:srgbClr val="62736A"/>
                </a:solidFill>
                <a:latin typeface="Aptos"/>
                <a:ea typeface="Aptos"/>
                <a:cs typeface="Aptos"/>
              </a:rPr>
              <a:t>Updates farm state</a:t>
            </a:r>
          </a:p>
        </p:txBody>
      </p:sp>
      <p:sp>
        <p:nvSpPr>
          <p:cNvPr id="52" name="response-node-5">
            <a:extLst>
              <a:ext uri="{FF2B5EF4-FFF2-40B4-BE49-F238E27FC236}">
                <a16:creationId xmlns:a16="http://schemas.microsoft.com/office/drawing/2014/main" id="{08A757C4-A553-4CA5-B68E-AC8529106EA9}"/>
              </a:ext>
            </a:extLst>
          </p:cNvPr>
          <p:cNvSpPr>
            <a:spLocks noGrp="1"/>
          </p:cNvSpPr>
          <p:nvPr/>
        </p:nvSpPr>
        <p:spPr>
          <a:xfrm>
            <a:off x="6419850" y="5086350"/>
            <a:ext cx="5048250" cy="457200"/>
          </a:xfrm>
          <a:prstGeom prst="rect">
            <a:avLst/>
          </a:prstGeom>
          <a:solidFill>
            <a:srgbClr val="FFFFFF"/>
          </a:solidFill>
          <a:ln w="9525">
            <a:solidFill>
              <a:srgbClr val="D9E2D9"/>
            </a:solidFill>
          </a:ln>
        </p:spPr>
        <p:txBody>
          <a:bodyPr/>
          <a:lstStyle/>
          <a:p>
            <a:endParaRPr lang="en-US"/>
          </a:p>
        </p:txBody>
      </p:sp>
      <p:sp>
        <p:nvSpPr>
          <p:cNvPr id="53" name="response-label-5">
            <a:extLst>
              <a:ext uri="{FF2B5EF4-FFF2-40B4-BE49-F238E27FC236}">
                <a16:creationId xmlns:a16="http://schemas.microsoft.com/office/drawing/2014/main" id="{F14357C5-4194-4327-8CEC-FDC36B753C62}"/>
              </a:ext>
            </a:extLst>
          </p:cNvPr>
          <p:cNvSpPr>
            <a:spLocks noGrp="1"/>
          </p:cNvSpPr>
          <p:nvPr/>
        </p:nvSpPr>
        <p:spPr>
          <a:xfrm>
            <a:off x="6534150" y="5114925"/>
            <a:ext cx="4819650" cy="238125"/>
          </a:xfrm>
          <a:prstGeom prst="rect">
            <a:avLst/>
          </a:prstGeom>
          <a:noFill/>
          <a:ln w="0">
            <a:noFill/>
          </a:ln>
        </p:spPr>
        <p:txBody>
          <a:bodyPr wrap="square" lIns="0" tIns="0" rIns="0" bIns="0" anchor="t">
            <a:noAutofit/>
          </a:bodyPr>
          <a:lstStyle>
            <a:defPPr algn="l">
              <a:defRPr sz="1575" b="1">
                <a:solidFill>
                  <a:srgbClr val="193F2A"/>
                </a:solidFill>
                <a:latin typeface="Aptos"/>
                <a:ea typeface="Aptos"/>
                <a:cs typeface="Aptos"/>
              </a:defRPr>
            </a:defPPr>
          </a:lstStyle>
          <a:p>
            <a:pPr algn="l">
              <a:defRPr sz="1575" b="1">
                <a:solidFill>
                  <a:srgbClr val="193F2A"/>
                </a:solidFill>
                <a:latin typeface="Aptos"/>
                <a:ea typeface="Aptos"/>
                <a:cs typeface="Aptos"/>
              </a:defRPr>
            </a:pPr>
            <a:r>
              <a:rPr sz="1575" b="1" dirty="0">
                <a:solidFill>
                  <a:srgbClr val="193F2A"/>
                </a:solidFill>
                <a:latin typeface="Aptos"/>
                <a:ea typeface="Aptos"/>
                <a:cs typeface="Aptos"/>
              </a:rPr>
              <a:t>ui/src/pages</a:t>
            </a:r>
            <a:r>
              <a:rPr lang="en-AU" sz="1575" b="1" dirty="0">
                <a:solidFill>
                  <a:srgbClr val="193F2A"/>
                </a:solidFill>
                <a:latin typeface="Aptos"/>
                <a:ea typeface="Aptos"/>
                <a:cs typeface="Aptos"/>
              </a:rPr>
              <a:t> &amp; components</a:t>
            </a:r>
            <a:endParaRPr sz="1575" b="1" dirty="0">
              <a:solidFill>
                <a:srgbClr val="193F2A"/>
              </a:solidFill>
              <a:latin typeface="Aptos"/>
              <a:ea typeface="Aptos"/>
              <a:cs typeface="Aptos"/>
            </a:endParaRPr>
          </a:p>
        </p:txBody>
      </p:sp>
      <p:sp>
        <p:nvSpPr>
          <p:cNvPr id="54" name="response-detail-5">
            <a:extLst>
              <a:ext uri="{FF2B5EF4-FFF2-40B4-BE49-F238E27FC236}">
                <a16:creationId xmlns:a16="http://schemas.microsoft.com/office/drawing/2014/main" id="{ABB70098-2585-4E97-BC85-5D2F01479DCE}"/>
              </a:ext>
            </a:extLst>
          </p:cNvPr>
          <p:cNvSpPr>
            <a:spLocks noGrp="1"/>
          </p:cNvSpPr>
          <p:nvPr/>
        </p:nvSpPr>
        <p:spPr>
          <a:xfrm>
            <a:off x="6534150" y="5343525"/>
            <a:ext cx="4819650" cy="190500"/>
          </a:xfrm>
          <a:prstGeom prst="rect">
            <a:avLst/>
          </a:prstGeom>
          <a:noFill/>
          <a:ln w="0">
            <a:noFill/>
          </a:ln>
        </p:spPr>
        <p:txBody>
          <a:bodyPr wrap="square" lIns="0" tIns="0" rIns="0" bIns="0" anchor="t">
            <a:noAutofit/>
          </a:bodyPr>
          <a:lstStyle>
            <a:defPPr algn="l">
              <a:defRPr sz="1252" b="0">
                <a:solidFill>
                  <a:srgbClr val="62736A"/>
                </a:solidFill>
                <a:latin typeface="Aptos"/>
                <a:ea typeface="Aptos"/>
                <a:cs typeface="Aptos"/>
              </a:defRPr>
            </a:defPPr>
          </a:lstStyle>
          <a:p>
            <a:pPr algn="l">
              <a:defRPr sz="1252" b="0">
                <a:solidFill>
                  <a:srgbClr val="62736A"/>
                </a:solidFill>
                <a:latin typeface="Aptos"/>
                <a:ea typeface="Aptos"/>
                <a:cs typeface="Aptos"/>
              </a:defRPr>
            </a:pPr>
            <a:r>
              <a:rPr sz="1252" b="0" dirty="0">
                <a:solidFill>
                  <a:srgbClr val="62736A"/>
                </a:solidFill>
                <a:latin typeface="Aptos"/>
                <a:ea typeface="Aptos"/>
                <a:cs typeface="Aptos"/>
              </a:rPr>
              <a:t>React renders the updated information</a:t>
            </a:r>
          </a:p>
        </p:txBody>
      </p:sp>
      <p:sp>
        <p:nvSpPr>
          <p:cNvPr id="55" name="response-node-6">
            <a:extLst>
              <a:ext uri="{FF2B5EF4-FFF2-40B4-BE49-F238E27FC236}">
                <a16:creationId xmlns:a16="http://schemas.microsoft.com/office/drawing/2014/main" id="{86002CBB-512D-4D38-BF79-3952BB72B6B4}"/>
              </a:ext>
            </a:extLst>
          </p:cNvPr>
          <p:cNvSpPr>
            <a:spLocks noGrp="1"/>
          </p:cNvSpPr>
          <p:nvPr/>
        </p:nvSpPr>
        <p:spPr>
          <a:xfrm>
            <a:off x="6419850" y="5676900"/>
            <a:ext cx="5048250" cy="457200"/>
          </a:xfrm>
          <a:prstGeom prst="rect">
            <a:avLst/>
          </a:prstGeom>
          <a:solidFill>
            <a:srgbClr val="EDF3E8"/>
          </a:solidFill>
          <a:ln w="9525">
            <a:solidFill>
              <a:srgbClr val="D9E2D9"/>
            </a:solidFill>
          </a:ln>
        </p:spPr>
        <p:txBody>
          <a:bodyPr/>
          <a:lstStyle/>
          <a:p>
            <a:endParaRPr lang="en-US"/>
          </a:p>
        </p:txBody>
      </p:sp>
      <p:sp>
        <p:nvSpPr>
          <p:cNvPr id="56" name="response-label-6">
            <a:extLst>
              <a:ext uri="{FF2B5EF4-FFF2-40B4-BE49-F238E27FC236}">
                <a16:creationId xmlns:a16="http://schemas.microsoft.com/office/drawing/2014/main" id="{F257B07C-88A4-4B58-A047-3B3F19F9C6F0}"/>
              </a:ext>
            </a:extLst>
          </p:cNvPr>
          <p:cNvSpPr>
            <a:spLocks noGrp="1"/>
          </p:cNvSpPr>
          <p:nvPr/>
        </p:nvSpPr>
        <p:spPr>
          <a:xfrm>
            <a:off x="6534150" y="5705475"/>
            <a:ext cx="4819650" cy="238125"/>
          </a:xfrm>
          <a:prstGeom prst="rect">
            <a:avLst/>
          </a:prstGeom>
          <a:noFill/>
          <a:ln w="0">
            <a:noFill/>
          </a:ln>
        </p:spPr>
        <p:txBody>
          <a:bodyPr wrap="square" lIns="0" tIns="0" rIns="0" bIns="0" anchor="t">
            <a:noAutofit/>
          </a:bodyPr>
          <a:lstStyle>
            <a:defPPr algn="l">
              <a:defRPr sz="1575" b="1">
                <a:solidFill>
                  <a:srgbClr val="193F2A"/>
                </a:solidFill>
                <a:latin typeface="Aptos"/>
                <a:ea typeface="Aptos"/>
                <a:cs typeface="Aptos"/>
              </a:defRPr>
            </a:defPPr>
          </a:lstStyle>
          <a:p>
            <a:pPr algn="l">
              <a:defRPr sz="1575" b="1">
                <a:solidFill>
                  <a:srgbClr val="193F2A"/>
                </a:solidFill>
                <a:latin typeface="Aptos"/>
                <a:ea typeface="Aptos"/>
                <a:cs typeface="Aptos"/>
              </a:defRPr>
            </a:pPr>
            <a:r>
              <a:rPr sz="1575" b="1">
                <a:solidFill>
                  <a:srgbClr val="193F2A"/>
                </a:solidFill>
                <a:latin typeface="Aptos"/>
                <a:ea typeface="Aptos"/>
                <a:cs typeface="Aptos"/>
              </a:rPr>
              <a:t>User</a:t>
            </a:r>
          </a:p>
        </p:txBody>
      </p:sp>
      <p:sp>
        <p:nvSpPr>
          <p:cNvPr id="57" name="response-detail-6">
            <a:extLst>
              <a:ext uri="{FF2B5EF4-FFF2-40B4-BE49-F238E27FC236}">
                <a16:creationId xmlns:a16="http://schemas.microsoft.com/office/drawing/2014/main" id="{66060CFE-6195-4855-9EF1-13DEBB17F516}"/>
              </a:ext>
            </a:extLst>
          </p:cNvPr>
          <p:cNvSpPr>
            <a:spLocks noGrp="1"/>
          </p:cNvSpPr>
          <p:nvPr/>
        </p:nvSpPr>
        <p:spPr>
          <a:xfrm>
            <a:off x="6534150" y="5934075"/>
            <a:ext cx="4819650" cy="190500"/>
          </a:xfrm>
          <a:prstGeom prst="rect">
            <a:avLst/>
          </a:prstGeom>
          <a:noFill/>
          <a:ln w="0">
            <a:noFill/>
          </a:ln>
        </p:spPr>
        <p:txBody>
          <a:bodyPr wrap="square" lIns="0" tIns="0" rIns="0" bIns="0" anchor="t">
            <a:noAutofit/>
          </a:bodyPr>
          <a:lstStyle>
            <a:defPPr algn="l">
              <a:defRPr sz="1252" b="0">
                <a:solidFill>
                  <a:srgbClr val="62736A"/>
                </a:solidFill>
                <a:latin typeface="Aptos"/>
                <a:ea typeface="Aptos"/>
                <a:cs typeface="Aptos"/>
              </a:defRPr>
            </a:defPPr>
          </a:lstStyle>
          <a:p>
            <a:pPr algn="l">
              <a:defRPr sz="1252" b="0">
                <a:solidFill>
                  <a:srgbClr val="62736A"/>
                </a:solidFill>
                <a:latin typeface="Aptos"/>
                <a:ea typeface="Aptos"/>
                <a:cs typeface="Aptos"/>
              </a:defRPr>
            </a:pPr>
            <a:r>
              <a:rPr sz="1252" b="0" dirty="0">
                <a:solidFill>
                  <a:srgbClr val="62736A"/>
                </a:solidFill>
                <a:latin typeface="Aptos"/>
                <a:ea typeface="Aptos"/>
                <a:cs typeface="Aptos"/>
              </a:rPr>
              <a:t>Sees the updated farm information</a:t>
            </a:r>
          </a:p>
        </p:txBody>
      </p:sp>
    </p:spTree>
    <p:extLst>
      <p:ext uri="{BB962C8B-B14F-4D97-AF65-F5344CB8AC3E}">
        <p14:creationId xmlns:p14="http://schemas.microsoft.com/office/powerpoint/2010/main" val="14476222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8F4"/>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2D6A28B-164C-4FD0-91AF-2A3CFA732803}"/>
              </a:ext>
            </a:extLst>
          </p:cNvPr>
          <p:cNvSpPr>
            <a:spLocks noGrp="1"/>
          </p:cNvSpPr>
          <p:nvPr/>
        </p:nvSpPr>
        <p:spPr>
          <a:xfrm>
            <a:off x="0" y="0"/>
            <a:ext cx="105156" cy="6858000"/>
          </a:xfrm>
          <a:prstGeom prst="rect">
            <a:avLst/>
          </a:prstGeom>
          <a:solidFill>
            <a:srgbClr val="2D7040"/>
          </a:solidFill>
          <a:ln w="12700">
            <a:solidFill>
              <a:srgbClr val="2D7040">
                <a:alpha val="0"/>
              </a:srgbClr>
            </a:solidFill>
            <a:prstDash val="solid"/>
          </a:ln>
        </p:spPr>
        <p:txBody>
          <a:bodyPr/>
          <a:lstStyle/>
          <a:p>
            <a:endParaRPr/>
          </a:p>
        </p:txBody>
      </p:sp>
      <p:sp>
        <p:nvSpPr>
          <p:cNvPr id="4" name="Text 2">
            <a:extLst>
              <a:ext uri="{FF2B5EF4-FFF2-40B4-BE49-F238E27FC236}">
                <a16:creationId xmlns:a16="http://schemas.microsoft.com/office/drawing/2014/main" id="{7E8726FA-96F6-4B33-844C-298716447657}"/>
              </a:ext>
            </a:extLst>
          </p:cNvPr>
          <p:cNvSpPr>
            <a:spLocks noGrp="1"/>
          </p:cNvSpPr>
          <p:nvPr/>
        </p:nvSpPr>
        <p:spPr>
          <a:xfrm>
            <a:off x="658368" y="771525"/>
            <a:ext cx="10810875" cy="561975"/>
          </a:xfrm>
          <a:prstGeom prst="rect">
            <a:avLst/>
          </a:prstGeom>
          <a:noFill/>
        </p:spPr>
        <p:txBody>
          <a:bodyPr wrap="square" lIns="0" tIns="0" rIns="0" bIns="0" anchor="t">
            <a:noAutofit/>
          </a:bodyPr>
          <a:lstStyle>
            <a:defPPr algn="l">
              <a:defRPr sz="3000" b="1">
                <a:solidFill>
                  <a:srgbClr val="193F2A"/>
                </a:solidFill>
                <a:latin typeface="Aptos"/>
                <a:ea typeface="Aptos"/>
                <a:cs typeface="Aptos"/>
              </a:defRPr>
            </a:defPPr>
          </a:lstStyle>
          <a:p>
            <a:pPr marL="0" indent="0" algn="l">
              <a:buNone/>
              <a:defRPr sz="3000" b="1">
                <a:solidFill>
                  <a:srgbClr val="193F2A"/>
                </a:solidFill>
                <a:latin typeface="Aptos"/>
                <a:ea typeface="Aptos"/>
                <a:cs typeface="Aptos"/>
              </a:defRPr>
            </a:pPr>
            <a:r>
              <a:rPr sz="3000" b="1">
                <a:solidFill>
                  <a:srgbClr val="193F2A"/>
                </a:solidFill>
                <a:latin typeface="Aptos"/>
                <a:ea typeface="Aptos"/>
                <a:cs typeface="Aptos"/>
              </a:rPr>
              <a:t>README, Git and documentation</a:t>
            </a:r>
            <a:endParaRPr sz="3000"/>
          </a:p>
        </p:txBody>
      </p:sp>
      <p:sp>
        <p:nvSpPr>
          <p:cNvPr id="5" name="Text 3">
            <a:extLst>
              <a:ext uri="{FF2B5EF4-FFF2-40B4-BE49-F238E27FC236}">
                <a16:creationId xmlns:a16="http://schemas.microsoft.com/office/drawing/2014/main" id="{AE130F24-9FED-4B5E-94A1-422492CB65D9}"/>
              </a:ext>
            </a:extLst>
          </p:cNvPr>
          <p:cNvSpPr>
            <a:spLocks noGrp="1"/>
          </p:cNvSpPr>
          <p:nvPr/>
        </p:nvSpPr>
        <p:spPr>
          <a:xfrm>
            <a:off x="676656" y="1298448"/>
            <a:ext cx="10424160" cy="292608"/>
          </a:xfrm>
          <a:prstGeom prst="rect">
            <a:avLst/>
          </a:prstGeom>
          <a:noFill/>
        </p:spPr>
        <p:txBody>
          <a:bodyPr wrap="square" lIns="0" tIns="0" rIns="0" bIns="0" anchor="t">
            <a:noAutofit/>
          </a:bodyPr>
          <a:lstStyle>
            <a:defPPr algn="l">
              <a:defRPr sz="1400" b="0">
                <a:solidFill>
                  <a:srgbClr val="62736A"/>
                </a:solidFill>
                <a:latin typeface="Aptos"/>
                <a:ea typeface="Aptos"/>
                <a:cs typeface="Aptos"/>
              </a:defRPr>
            </a:defPPr>
          </a:lstStyle>
          <a:p>
            <a:pPr marL="0" indent="0" algn="l">
              <a:buNone/>
              <a:defRPr sz="1400" b="0">
                <a:solidFill>
                  <a:srgbClr val="62736A"/>
                </a:solidFill>
                <a:latin typeface="Aptos"/>
                <a:ea typeface="Aptos"/>
                <a:cs typeface="Aptos"/>
              </a:defRPr>
            </a:pPr>
            <a:r>
              <a:rPr sz="1400" b="0">
                <a:solidFill>
                  <a:srgbClr val="62736A"/>
                </a:solidFill>
                <a:latin typeface="Aptos"/>
                <a:ea typeface="Aptos"/>
                <a:cs typeface="Aptos"/>
              </a:rPr>
              <a:t>Project context, installation instructions and version history</a:t>
            </a:r>
            <a:endParaRPr sz="1400"/>
          </a:p>
        </p:txBody>
      </p:sp>
      <p:sp>
        <p:nvSpPr>
          <p:cNvPr id="6" name="Text 4">
            <a:extLst>
              <a:ext uri="{FF2B5EF4-FFF2-40B4-BE49-F238E27FC236}">
                <a16:creationId xmlns:a16="http://schemas.microsoft.com/office/drawing/2014/main" id="{6D5143F7-BEDC-491C-B0A4-09F909C25F0B}"/>
              </a:ext>
            </a:extLst>
          </p:cNvPr>
          <p:cNvSpPr>
            <a:spLocks noGrp="1"/>
          </p:cNvSpPr>
          <p:nvPr/>
        </p:nvSpPr>
        <p:spPr>
          <a:xfrm>
            <a:off x="10561320" y="338328"/>
            <a:ext cx="1005840" cy="274320"/>
          </a:xfrm>
          <a:prstGeom prst="rect">
            <a:avLst/>
          </a:prstGeom>
          <a:noFill/>
        </p:spPr>
        <p:txBody>
          <a:bodyPr wrap="square" lIns="0" tIns="0" rIns="0" bIns="0" anchor="ctr">
            <a:normAutofit/>
          </a:bodyPr>
          <a:lstStyle/>
          <a:p>
            <a:pPr marL="0" indent="0" algn="r">
              <a:buNone/>
            </a:pPr>
            <a:r>
              <a:rPr sz="1400" b="1" dirty="0">
                <a:solidFill>
                  <a:srgbClr val="193F2A"/>
                </a:solidFill>
                <a:latin typeface="Aptos"/>
                <a:ea typeface="Aptos"/>
                <a:cs typeface="Aptos"/>
              </a:rPr>
              <a:t>FeedBoard</a:t>
            </a:r>
            <a:endParaRPr sz="1400" dirty="0"/>
          </a:p>
        </p:txBody>
      </p:sp>
      <p:sp>
        <p:nvSpPr>
          <p:cNvPr id="7" name="Shape 5">
            <a:extLst>
              <a:ext uri="{FF2B5EF4-FFF2-40B4-BE49-F238E27FC236}">
                <a16:creationId xmlns:a16="http://schemas.microsoft.com/office/drawing/2014/main" id="{2FDEF34E-141B-4353-B2D1-B9C6A1BC9588}"/>
              </a:ext>
            </a:extLst>
          </p:cNvPr>
          <p:cNvSpPr>
            <a:spLocks noGrp="1"/>
          </p:cNvSpPr>
          <p:nvPr/>
        </p:nvSpPr>
        <p:spPr>
          <a:xfrm>
            <a:off x="658368" y="6492240"/>
            <a:ext cx="10844784" cy="0"/>
          </a:xfrm>
          <a:prstGeom prst="line">
            <a:avLst/>
          </a:prstGeom>
          <a:noFill/>
          <a:ln w="11430">
            <a:solidFill>
              <a:srgbClr val="D9E2D9"/>
            </a:solidFill>
            <a:prstDash val="solid"/>
          </a:ln>
        </p:spPr>
        <p:txBody>
          <a:bodyPr/>
          <a:lstStyle/>
          <a:p>
            <a:endParaRPr/>
          </a:p>
        </p:txBody>
      </p:sp>
      <p:sp>
        <p:nvSpPr>
          <p:cNvPr id="8" name="Text 6">
            <a:extLst>
              <a:ext uri="{FF2B5EF4-FFF2-40B4-BE49-F238E27FC236}">
                <a16:creationId xmlns:a16="http://schemas.microsoft.com/office/drawing/2014/main" id="{1E343AA3-AE8B-48C1-AD0C-B736289ACB89}"/>
              </a:ext>
            </a:extLst>
          </p:cNvPr>
          <p:cNvSpPr>
            <a:spLocks noGrp="1"/>
          </p:cNvSpPr>
          <p:nvPr/>
        </p:nvSpPr>
        <p:spPr>
          <a:xfrm>
            <a:off x="667512" y="6556248"/>
            <a:ext cx="4114800" cy="155448"/>
          </a:xfrm>
          <a:prstGeom prst="rect">
            <a:avLst/>
          </a:prstGeom>
          <a:noFill/>
        </p:spPr>
        <p:txBody>
          <a:bodyPr wrap="square" lIns="0" tIns="0" rIns="0" bIns="0" anchor="ctr">
            <a:normAutofit/>
          </a:bodyPr>
          <a:lstStyle/>
          <a:p>
            <a:pPr marL="0" indent="0">
              <a:buNone/>
            </a:pPr>
            <a:r>
              <a:rPr sz="900" b="1" spc="60">
                <a:solidFill>
                  <a:srgbClr val="62736A"/>
                </a:solidFill>
                <a:latin typeface="Aptos"/>
                <a:ea typeface="Aptos"/>
                <a:cs typeface="Aptos"/>
              </a:rPr>
              <a:t>GRAZING + FEED PLANNING</a:t>
            </a:r>
            <a:endParaRPr sz="900"/>
          </a:p>
        </p:txBody>
      </p:sp>
      <p:sp>
        <p:nvSpPr>
          <p:cNvPr id="9" name="Text 7">
            <a:extLst>
              <a:ext uri="{FF2B5EF4-FFF2-40B4-BE49-F238E27FC236}">
                <a16:creationId xmlns:a16="http://schemas.microsoft.com/office/drawing/2014/main" id="{A035F960-937C-41C7-A7A7-C57775B1CC46}"/>
              </a:ext>
            </a:extLst>
          </p:cNvPr>
          <p:cNvSpPr>
            <a:spLocks noGrp="1"/>
          </p:cNvSpPr>
          <p:nvPr/>
        </p:nvSpPr>
        <p:spPr>
          <a:xfrm>
            <a:off x="10789920" y="6528816"/>
            <a:ext cx="676656" cy="201168"/>
          </a:xfrm>
          <a:prstGeom prst="rect">
            <a:avLst/>
          </a:prstGeom>
          <a:noFill/>
        </p:spPr>
        <p:txBody>
          <a:bodyPr wrap="square" lIns="0" tIns="0" rIns="0" bIns="0" anchor="ctr">
            <a:normAutofit/>
          </a:bodyPr>
          <a:lstStyle/>
          <a:p>
            <a:pPr marL="0" indent="0" algn="r">
              <a:buNone/>
            </a:pPr>
            <a:endParaRPr sz="1000"/>
          </a:p>
        </p:txBody>
      </p:sp>
      <p:sp>
        <p:nvSpPr>
          <p:cNvPr id="10" name="Shape 8">
            <a:extLst>
              <a:ext uri="{FF2B5EF4-FFF2-40B4-BE49-F238E27FC236}">
                <a16:creationId xmlns:a16="http://schemas.microsoft.com/office/drawing/2014/main" id="{B79BC736-C49A-4B4D-A8B7-379972087B68}"/>
              </a:ext>
            </a:extLst>
          </p:cNvPr>
          <p:cNvSpPr>
            <a:spLocks noGrp="1"/>
          </p:cNvSpPr>
          <p:nvPr/>
        </p:nvSpPr>
        <p:spPr>
          <a:xfrm>
            <a:off x="707967" y="1760220"/>
            <a:ext cx="5248656" cy="4233672"/>
          </a:xfrm>
          <a:prstGeom prst="roundRect">
            <a:avLst>
              <a:gd name="adj" fmla="val 2592"/>
            </a:avLst>
          </a:prstGeom>
          <a:solidFill>
            <a:srgbClr val="FFFFFF"/>
          </a:solidFill>
          <a:ln w="8890">
            <a:solidFill>
              <a:srgbClr val="D9E2D9"/>
            </a:solidFill>
            <a:prstDash val="solid"/>
          </a:ln>
        </p:spPr>
        <p:txBody>
          <a:bodyPr/>
          <a:lstStyle/>
          <a:p>
            <a:endParaRPr dirty="0"/>
          </a:p>
        </p:txBody>
      </p:sp>
      <p:sp>
        <p:nvSpPr>
          <p:cNvPr id="11" name="Text 9">
            <a:extLst>
              <a:ext uri="{FF2B5EF4-FFF2-40B4-BE49-F238E27FC236}">
                <a16:creationId xmlns:a16="http://schemas.microsoft.com/office/drawing/2014/main" id="{2476C950-CB80-4C6B-BA05-BE0E1DF446DF}"/>
              </a:ext>
            </a:extLst>
          </p:cNvPr>
          <p:cNvSpPr>
            <a:spLocks noGrp="1"/>
          </p:cNvSpPr>
          <p:nvPr/>
        </p:nvSpPr>
        <p:spPr>
          <a:xfrm>
            <a:off x="1042416" y="2039112"/>
            <a:ext cx="4480560" cy="402336"/>
          </a:xfrm>
          <a:prstGeom prst="rect">
            <a:avLst/>
          </a:prstGeom>
          <a:noFill/>
        </p:spPr>
        <p:txBody>
          <a:bodyPr wrap="square" lIns="0" tIns="0" rIns="0" bIns="0" anchor="ctr">
            <a:normAutofit/>
          </a:bodyPr>
          <a:lstStyle/>
          <a:p>
            <a:pPr marL="0" indent="0">
              <a:buNone/>
            </a:pPr>
            <a:r>
              <a:rPr lang="en-AU" sz="2300" b="1" dirty="0">
                <a:solidFill>
                  <a:srgbClr val="193F2A"/>
                </a:solidFill>
                <a:latin typeface="Aptos"/>
                <a:ea typeface="Aptos"/>
                <a:cs typeface="Aptos"/>
              </a:rPr>
              <a:t>ReadMe complete </a:t>
            </a:r>
            <a:endParaRPr sz="2300" dirty="0"/>
          </a:p>
        </p:txBody>
      </p:sp>
      <p:sp>
        <p:nvSpPr>
          <p:cNvPr id="12" name="Shape 10">
            <a:extLst>
              <a:ext uri="{FF2B5EF4-FFF2-40B4-BE49-F238E27FC236}">
                <a16:creationId xmlns:a16="http://schemas.microsoft.com/office/drawing/2014/main" id="{67B38D02-0BEE-49EF-8D32-45BF81EFDEE1}"/>
              </a:ext>
            </a:extLst>
          </p:cNvPr>
          <p:cNvSpPr>
            <a:spLocks noGrp="1"/>
          </p:cNvSpPr>
          <p:nvPr/>
        </p:nvSpPr>
        <p:spPr>
          <a:xfrm>
            <a:off x="1060704" y="2788920"/>
            <a:ext cx="338328" cy="338328"/>
          </a:xfrm>
          <a:prstGeom prst="ellipse">
            <a:avLst/>
          </a:prstGeom>
          <a:solidFill>
            <a:srgbClr val="2D7040"/>
          </a:solidFill>
          <a:ln w="12700">
            <a:solidFill>
              <a:srgbClr val="2D7040"/>
            </a:solidFill>
            <a:prstDash val="solid"/>
          </a:ln>
        </p:spPr>
        <p:txBody>
          <a:bodyPr/>
          <a:lstStyle/>
          <a:p>
            <a:endParaRPr/>
          </a:p>
        </p:txBody>
      </p:sp>
      <p:sp>
        <p:nvSpPr>
          <p:cNvPr id="13" name="Text 11">
            <a:extLst>
              <a:ext uri="{FF2B5EF4-FFF2-40B4-BE49-F238E27FC236}">
                <a16:creationId xmlns:a16="http://schemas.microsoft.com/office/drawing/2014/main" id="{69B9499D-0EAD-4619-858D-4AFAE5967DCC}"/>
              </a:ext>
            </a:extLst>
          </p:cNvPr>
          <p:cNvSpPr>
            <a:spLocks noGrp="1"/>
          </p:cNvSpPr>
          <p:nvPr/>
        </p:nvSpPr>
        <p:spPr>
          <a:xfrm>
            <a:off x="1110996" y="2795321"/>
            <a:ext cx="228600" cy="228600"/>
          </a:xfrm>
          <a:prstGeom prst="rect">
            <a:avLst/>
          </a:prstGeom>
          <a:noFill/>
        </p:spPr>
        <p:txBody>
          <a:bodyPr wrap="square" lIns="0" tIns="0" rIns="0" bIns="0" anchor="ctr">
            <a:normAutofit/>
          </a:bodyPr>
          <a:lstStyle/>
          <a:p>
            <a:pPr marL="0" indent="0" algn="ctr">
              <a:buNone/>
            </a:pPr>
            <a:r>
              <a:rPr sz="1300" b="1">
                <a:solidFill>
                  <a:srgbClr val="FFFFFF"/>
                </a:solidFill>
                <a:latin typeface="Aptos"/>
                <a:ea typeface="Aptos"/>
                <a:cs typeface="Aptos"/>
              </a:rPr>
              <a:t>✓</a:t>
            </a:r>
            <a:endParaRPr sz="1300"/>
          </a:p>
        </p:txBody>
      </p:sp>
      <p:sp>
        <p:nvSpPr>
          <p:cNvPr id="14" name="Text 12">
            <a:extLst>
              <a:ext uri="{FF2B5EF4-FFF2-40B4-BE49-F238E27FC236}">
                <a16:creationId xmlns:a16="http://schemas.microsoft.com/office/drawing/2014/main" id="{0EBF8868-CCE0-451A-ABF3-8C403CD1618F}"/>
              </a:ext>
            </a:extLst>
          </p:cNvPr>
          <p:cNvSpPr>
            <a:spLocks noGrp="1"/>
          </p:cNvSpPr>
          <p:nvPr/>
        </p:nvSpPr>
        <p:spPr>
          <a:xfrm>
            <a:off x="1545336" y="2734056"/>
            <a:ext cx="4023360" cy="310896"/>
          </a:xfrm>
          <a:prstGeom prst="rect">
            <a:avLst/>
          </a:prstGeom>
          <a:noFill/>
        </p:spPr>
        <p:txBody>
          <a:bodyPr wrap="square" lIns="0" tIns="0" rIns="0" bIns="0" anchor="ctr">
            <a:normAutofit/>
          </a:bodyPr>
          <a:lstStyle/>
          <a:p>
            <a:pPr marL="0" indent="0">
              <a:buNone/>
            </a:pPr>
            <a:r>
              <a:rPr lang="en-AU" sz="1700" b="1" dirty="0">
                <a:solidFill>
                  <a:srgbClr val="193F2A"/>
                </a:solidFill>
                <a:latin typeface="Aptos"/>
                <a:ea typeface="Aptos"/>
                <a:cs typeface="Aptos"/>
              </a:rPr>
              <a:t>Added Screenshots</a:t>
            </a:r>
            <a:endParaRPr sz="1700" dirty="0"/>
          </a:p>
        </p:txBody>
      </p:sp>
      <p:sp>
        <p:nvSpPr>
          <p:cNvPr id="15" name="Text 13">
            <a:extLst>
              <a:ext uri="{FF2B5EF4-FFF2-40B4-BE49-F238E27FC236}">
                <a16:creationId xmlns:a16="http://schemas.microsoft.com/office/drawing/2014/main" id="{70898C80-7827-4C01-A10E-D0D00111E9D4}"/>
              </a:ext>
            </a:extLst>
          </p:cNvPr>
          <p:cNvSpPr>
            <a:spLocks noGrp="1"/>
          </p:cNvSpPr>
          <p:nvPr/>
        </p:nvSpPr>
        <p:spPr>
          <a:xfrm>
            <a:off x="1545336" y="3118104"/>
            <a:ext cx="4023360" cy="320040"/>
          </a:xfrm>
          <a:prstGeom prst="rect">
            <a:avLst/>
          </a:prstGeom>
          <a:noFill/>
        </p:spPr>
        <p:txBody>
          <a:bodyPr wrap="square" lIns="0" tIns="0" rIns="0" bIns="0" anchor="ctr">
            <a:normAutofit/>
          </a:bodyPr>
          <a:lstStyle/>
          <a:p>
            <a:pPr marL="0" indent="0">
              <a:buNone/>
            </a:pPr>
            <a:endParaRPr sz="1250" dirty="0"/>
          </a:p>
        </p:txBody>
      </p:sp>
      <p:sp>
        <p:nvSpPr>
          <p:cNvPr id="16" name="Shape 14">
            <a:extLst>
              <a:ext uri="{FF2B5EF4-FFF2-40B4-BE49-F238E27FC236}">
                <a16:creationId xmlns:a16="http://schemas.microsoft.com/office/drawing/2014/main" id="{5C4FEB7E-E54D-403A-94CB-7CE836A04A16}"/>
              </a:ext>
            </a:extLst>
          </p:cNvPr>
          <p:cNvSpPr>
            <a:spLocks noGrp="1"/>
          </p:cNvSpPr>
          <p:nvPr/>
        </p:nvSpPr>
        <p:spPr>
          <a:xfrm>
            <a:off x="1060704" y="3950208"/>
            <a:ext cx="338328" cy="338328"/>
          </a:xfrm>
          <a:prstGeom prst="ellipse">
            <a:avLst/>
          </a:prstGeom>
          <a:solidFill>
            <a:srgbClr val="2D7040"/>
          </a:solidFill>
          <a:ln w="12700">
            <a:solidFill>
              <a:srgbClr val="2D7040"/>
            </a:solidFill>
            <a:prstDash val="solid"/>
          </a:ln>
        </p:spPr>
        <p:txBody>
          <a:bodyPr/>
          <a:lstStyle/>
          <a:p>
            <a:endParaRPr/>
          </a:p>
        </p:txBody>
      </p:sp>
      <p:sp>
        <p:nvSpPr>
          <p:cNvPr id="17" name="Text 15">
            <a:extLst>
              <a:ext uri="{FF2B5EF4-FFF2-40B4-BE49-F238E27FC236}">
                <a16:creationId xmlns:a16="http://schemas.microsoft.com/office/drawing/2014/main" id="{0A6B7EB8-A95B-4E2E-B3E7-87380F5D92E0}"/>
              </a:ext>
            </a:extLst>
          </p:cNvPr>
          <p:cNvSpPr>
            <a:spLocks noGrp="1"/>
          </p:cNvSpPr>
          <p:nvPr/>
        </p:nvSpPr>
        <p:spPr>
          <a:xfrm>
            <a:off x="1110996" y="3956609"/>
            <a:ext cx="228600" cy="228600"/>
          </a:xfrm>
          <a:prstGeom prst="rect">
            <a:avLst/>
          </a:prstGeom>
          <a:noFill/>
        </p:spPr>
        <p:txBody>
          <a:bodyPr wrap="square" lIns="0" tIns="0" rIns="0" bIns="0" anchor="ctr">
            <a:normAutofit/>
          </a:bodyPr>
          <a:lstStyle/>
          <a:p>
            <a:pPr marL="0" indent="0" algn="ctr">
              <a:buNone/>
            </a:pPr>
            <a:r>
              <a:rPr sz="1300" b="1">
                <a:solidFill>
                  <a:srgbClr val="FFFFFF"/>
                </a:solidFill>
                <a:latin typeface="Aptos"/>
                <a:ea typeface="Aptos"/>
                <a:cs typeface="Aptos"/>
              </a:rPr>
              <a:t>✓</a:t>
            </a:r>
            <a:endParaRPr sz="1300"/>
          </a:p>
        </p:txBody>
      </p:sp>
      <p:sp>
        <p:nvSpPr>
          <p:cNvPr id="18" name="Text 16">
            <a:extLst>
              <a:ext uri="{FF2B5EF4-FFF2-40B4-BE49-F238E27FC236}">
                <a16:creationId xmlns:a16="http://schemas.microsoft.com/office/drawing/2014/main" id="{55718039-0ED0-4139-8218-659129F7F48D}"/>
              </a:ext>
            </a:extLst>
          </p:cNvPr>
          <p:cNvSpPr>
            <a:spLocks noGrp="1"/>
          </p:cNvSpPr>
          <p:nvPr/>
        </p:nvSpPr>
        <p:spPr>
          <a:xfrm>
            <a:off x="1545336" y="3895344"/>
            <a:ext cx="4023360" cy="310896"/>
          </a:xfrm>
          <a:prstGeom prst="rect">
            <a:avLst/>
          </a:prstGeom>
          <a:noFill/>
        </p:spPr>
        <p:txBody>
          <a:bodyPr wrap="square" lIns="0" tIns="0" rIns="0" bIns="0" anchor="ctr">
            <a:normAutofit/>
          </a:bodyPr>
          <a:lstStyle/>
          <a:p>
            <a:pPr marL="0" indent="0">
              <a:buNone/>
            </a:pPr>
            <a:r>
              <a:rPr sz="1700" b="1">
                <a:solidFill>
                  <a:srgbClr val="193F2A"/>
                </a:solidFill>
                <a:latin typeface="Aptos"/>
                <a:ea typeface="Aptos"/>
                <a:cs typeface="Aptos"/>
              </a:rPr>
              <a:t>Code structure</a:t>
            </a:r>
            <a:endParaRPr sz="1700"/>
          </a:p>
        </p:txBody>
      </p:sp>
      <p:sp>
        <p:nvSpPr>
          <p:cNvPr id="19" name="Text 17">
            <a:extLst>
              <a:ext uri="{FF2B5EF4-FFF2-40B4-BE49-F238E27FC236}">
                <a16:creationId xmlns:a16="http://schemas.microsoft.com/office/drawing/2014/main" id="{0AAD1C02-9415-4040-A558-BC9E6557DA67}"/>
              </a:ext>
            </a:extLst>
          </p:cNvPr>
          <p:cNvSpPr>
            <a:spLocks noGrp="1"/>
          </p:cNvSpPr>
          <p:nvPr/>
        </p:nvSpPr>
        <p:spPr>
          <a:xfrm>
            <a:off x="1545336" y="4279392"/>
            <a:ext cx="4023360" cy="320040"/>
          </a:xfrm>
          <a:prstGeom prst="rect">
            <a:avLst/>
          </a:prstGeom>
          <a:noFill/>
        </p:spPr>
        <p:txBody>
          <a:bodyPr wrap="square" lIns="0" tIns="0" rIns="0" bIns="0" anchor="ctr">
            <a:normAutofit/>
          </a:bodyPr>
          <a:lstStyle/>
          <a:p>
            <a:pPr marL="0" indent="0">
              <a:buNone/>
            </a:pPr>
            <a:r>
              <a:rPr sz="1250" dirty="0">
                <a:solidFill>
                  <a:srgbClr val="62736A"/>
                </a:solidFill>
                <a:latin typeface="Aptos"/>
                <a:ea typeface="Aptos"/>
                <a:cs typeface="Aptos"/>
              </a:rPr>
              <a:t>Pages, components, routes and models</a:t>
            </a:r>
            <a:endParaRPr sz="1250" dirty="0"/>
          </a:p>
        </p:txBody>
      </p:sp>
      <p:sp>
        <p:nvSpPr>
          <p:cNvPr id="22" name="Shape 20">
            <a:extLst>
              <a:ext uri="{FF2B5EF4-FFF2-40B4-BE49-F238E27FC236}">
                <a16:creationId xmlns:a16="http://schemas.microsoft.com/office/drawing/2014/main" id="{A7A3DB23-0CCE-450F-89DA-F45B91977104}"/>
              </a:ext>
            </a:extLst>
          </p:cNvPr>
          <p:cNvSpPr>
            <a:spLocks noGrp="1"/>
          </p:cNvSpPr>
          <p:nvPr/>
        </p:nvSpPr>
        <p:spPr>
          <a:xfrm>
            <a:off x="6217920" y="1719072"/>
            <a:ext cx="5248656" cy="4233672"/>
          </a:xfrm>
          <a:prstGeom prst="roundRect">
            <a:avLst>
              <a:gd name="adj" fmla="val 2592"/>
            </a:avLst>
          </a:prstGeom>
          <a:solidFill>
            <a:srgbClr val="EDF3E9"/>
          </a:solidFill>
          <a:ln w="8890">
            <a:solidFill>
              <a:srgbClr val="EDF3E9"/>
            </a:solidFill>
            <a:prstDash val="solid"/>
          </a:ln>
        </p:spPr>
        <p:txBody>
          <a:bodyPr/>
          <a:lstStyle/>
          <a:p>
            <a:endParaRPr dirty="0"/>
          </a:p>
        </p:txBody>
      </p:sp>
      <p:sp>
        <p:nvSpPr>
          <p:cNvPr id="23" name="Text 21">
            <a:extLst>
              <a:ext uri="{FF2B5EF4-FFF2-40B4-BE49-F238E27FC236}">
                <a16:creationId xmlns:a16="http://schemas.microsoft.com/office/drawing/2014/main" id="{3FFF5C72-D186-4322-9E0E-2DD6F6F10BD9}"/>
              </a:ext>
            </a:extLst>
          </p:cNvPr>
          <p:cNvSpPr>
            <a:spLocks noGrp="1"/>
          </p:cNvSpPr>
          <p:nvPr/>
        </p:nvSpPr>
        <p:spPr>
          <a:xfrm>
            <a:off x="6537960" y="2039112"/>
            <a:ext cx="4480560" cy="402336"/>
          </a:xfrm>
          <a:prstGeom prst="rect">
            <a:avLst/>
          </a:prstGeom>
          <a:noFill/>
        </p:spPr>
        <p:txBody>
          <a:bodyPr wrap="square" lIns="0" tIns="0" rIns="0" bIns="0" anchor="t">
            <a:noAutofit/>
          </a:bodyPr>
          <a:lstStyle>
            <a:defPPr algn="l">
              <a:defRPr sz="2300" b="1">
                <a:solidFill>
                  <a:srgbClr val="193F2A"/>
                </a:solidFill>
                <a:latin typeface="Aptos"/>
                <a:ea typeface="Aptos"/>
                <a:cs typeface="Aptos"/>
              </a:defRPr>
            </a:defPPr>
          </a:lstStyle>
          <a:p>
            <a:pPr marL="0" indent="0" algn="l">
              <a:buNone/>
              <a:defRPr sz="2300" b="1">
                <a:solidFill>
                  <a:srgbClr val="193F2A"/>
                </a:solidFill>
                <a:latin typeface="Aptos"/>
                <a:ea typeface="Aptos"/>
                <a:cs typeface="Aptos"/>
              </a:defRPr>
            </a:pPr>
            <a:r>
              <a:rPr sz="2300" b="1">
                <a:solidFill>
                  <a:srgbClr val="193F2A"/>
                </a:solidFill>
                <a:latin typeface="Aptos"/>
                <a:ea typeface="Aptos"/>
                <a:cs typeface="Aptos"/>
              </a:rPr>
              <a:t>Git workflow</a:t>
            </a:r>
            <a:endParaRPr sz="2300"/>
          </a:p>
        </p:txBody>
      </p:sp>
      <p:sp>
        <p:nvSpPr>
          <p:cNvPr id="24" name="Text 22">
            <a:extLst>
              <a:ext uri="{FF2B5EF4-FFF2-40B4-BE49-F238E27FC236}">
                <a16:creationId xmlns:a16="http://schemas.microsoft.com/office/drawing/2014/main" id="{4D8BD7C9-DE19-487B-B217-7D21647E8F8C}"/>
              </a:ext>
            </a:extLst>
          </p:cNvPr>
          <p:cNvSpPr>
            <a:spLocks noGrp="1"/>
          </p:cNvSpPr>
          <p:nvPr/>
        </p:nvSpPr>
        <p:spPr>
          <a:xfrm>
            <a:off x="6537960" y="2779776"/>
            <a:ext cx="4526280" cy="676656"/>
          </a:xfrm>
          <a:prstGeom prst="rect">
            <a:avLst/>
          </a:prstGeom>
          <a:noFill/>
        </p:spPr>
        <p:txBody>
          <a:bodyPr wrap="square" lIns="0" tIns="0" rIns="0" bIns="0" anchor="t">
            <a:noAutofit/>
          </a:bodyPr>
          <a:lstStyle>
            <a:defPPr algn="l">
              <a:defRPr sz="1700" b="0">
                <a:solidFill>
                  <a:srgbClr val="1C2C24"/>
                </a:solidFill>
                <a:latin typeface="Aptos"/>
                <a:ea typeface="Aptos"/>
                <a:cs typeface="Aptos"/>
              </a:defRPr>
            </a:defPPr>
          </a:lstStyle>
          <a:p>
            <a:pPr marL="0" indent="0" algn="l">
              <a:buNone/>
              <a:defRPr sz="1700" b="0">
                <a:solidFill>
                  <a:srgbClr val="1C2C24"/>
                </a:solidFill>
                <a:latin typeface="Aptos"/>
                <a:ea typeface="Aptos"/>
                <a:cs typeface="Aptos"/>
              </a:defRPr>
            </a:pPr>
            <a:r>
              <a:rPr sz="1700" b="0" dirty="0">
                <a:solidFill>
                  <a:srgbClr val="1C2C24"/>
                </a:solidFill>
                <a:latin typeface="Aptos"/>
                <a:ea typeface="Aptos"/>
                <a:cs typeface="Aptos"/>
              </a:rPr>
              <a:t>Meaningful commits</a:t>
            </a:r>
            <a:endParaRPr sz="1700" dirty="0"/>
          </a:p>
        </p:txBody>
      </p:sp>
      <p:sp>
        <p:nvSpPr>
          <p:cNvPr id="25" name="Text 23">
            <a:extLst>
              <a:ext uri="{FF2B5EF4-FFF2-40B4-BE49-F238E27FC236}">
                <a16:creationId xmlns:a16="http://schemas.microsoft.com/office/drawing/2014/main" id="{B56BE3A5-7203-432F-AF0C-B58C2B1BAB8B}"/>
              </a:ext>
            </a:extLst>
          </p:cNvPr>
          <p:cNvSpPr>
            <a:spLocks noGrp="1"/>
          </p:cNvSpPr>
          <p:nvPr/>
        </p:nvSpPr>
        <p:spPr>
          <a:xfrm>
            <a:off x="6510528" y="3253740"/>
            <a:ext cx="4535424" cy="1060704"/>
          </a:xfrm>
          <a:prstGeom prst="rect">
            <a:avLst/>
          </a:prstGeom>
          <a:noFill/>
        </p:spPr>
        <p:txBody>
          <a:bodyPr wrap="square" lIns="0" tIns="0" rIns="0" bIns="0" anchor="t">
            <a:noAutofit/>
          </a:bodyPr>
          <a:lstStyle>
            <a:defPPr algn="l">
              <a:defRPr sz="1600" b="0">
                <a:solidFill>
                  <a:srgbClr val="62736A"/>
                </a:solidFill>
                <a:latin typeface="Aptos"/>
                <a:ea typeface="Aptos"/>
                <a:cs typeface="Aptos"/>
              </a:defRPr>
            </a:defPPr>
          </a:lstStyle>
          <a:p>
            <a:pPr marL="0" indent="0" algn="l">
              <a:buNone/>
              <a:defRPr sz="1600" b="0">
                <a:solidFill>
                  <a:srgbClr val="62736A"/>
                </a:solidFill>
                <a:latin typeface="Aptos"/>
                <a:ea typeface="Aptos"/>
                <a:cs typeface="Aptos"/>
              </a:defRPr>
            </a:pPr>
            <a:r>
              <a:rPr lang="en-AU" sz="1600" b="0" dirty="0">
                <a:solidFill>
                  <a:srgbClr val="62736A"/>
                </a:solidFill>
                <a:latin typeface="Aptos"/>
                <a:ea typeface="Aptos"/>
                <a:cs typeface="Aptos"/>
              </a:rPr>
              <a:t>F</a:t>
            </a:r>
            <a:r>
              <a:rPr sz="1600" b="0" dirty="0">
                <a:solidFill>
                  <a:srgbClr val="62736A"/>
                </a:solidFill>
                <a:latin typeface="Aptos"/>
                <a:ea typeface="Aptos"/>
                <a:cs typeface="Aptos"/>
              </a:rPr>
              <a:t>eature branches</a:t>
            </a:r>
            <a:r>
              <a:rPr lang="en-AU" sz="1600" dirty="0">
                <a:solidFill>
                  <a:srgbClr val="62736A"/>
                </a:solidFill>
                <a:latin typeface="Aptos"/>
                <a:ea typeface="Aptos"/>
                <a:cs typeface="Aptos"/>
              </a:rPr>
              <a:t> and </a:t>
            </a:r>
            <a:r>
              <a:rPr sz="1600" b="0" dirty="0">
                <a:solidFill>
                  <a:srgbClr val="62736A"/>
                </a:solidFill>
                <a:latin typeface="Aptos"/>
                <a:ea typeface="Aptos"/>
                <a:cs typeface="Aptos"/>
              </a:rPr>
              <a:t>merges</a:t>
            </a:r>
            <a:r>
              <a:rPr lang="en-AU" sz="1600" b="0" dirty="0">
                <a:solidFill>
                  <a:srgbClr val="62736A"/>
                </a:solidFill>
                <a:latin typeface="Aptos"/>
                <a:ea typeface="Aptos"/>
                <a:cs typeface="Aptos"/>
              </a:rPr>
              <a:t>.</a:t>
            </a:r>
            <a:endParaRPr sz="1600" dirty="0"/>
          </a:p>
        </p:txBody>
      </p:sp>
      <p:sp>
        <p:nvSpPr>
          <p:cNvPr id="26" name="Shape 24">
            <a:extLst>
              <a:ext uri="{FF2B5EF4-FFF2-40B4-BE49-F238E27FC236}">
                <a16:creationId xmlns:a16="http://schemas.microsoft.com/office/drawing/2014/main" id="{43B82B0E-1F1B-4108-9938-93BF4767B171}"/>
              </a:ext>
            </a:extLst>
          </p:cNvPr>
          <p:cNvSpPr>
            <a:spLocks noGrp="1"/>
          </p:cNvSpPr>
          <p:nvPr/>
        </p:nvSpPr>
        <p:spPr>
          <a:xfrm>
            <a:off x="6528816" y="5266944"/>
            <a:ext cx="2788920" cy="310896"/>
          </a:xfrm>
          <a:prstGeom prst="roundRect">
            <a:avLst>
              <a:gd name="adj" fmla="val 35294"/>
            </a:avLst>
          </a:prstGeom>
          <a:solidFill>
            <a:srgbClr val="FFFFFF"/>
          </a:solidFill>
          <a:ln w="8890">
            <a:solidFill>
              <a:srgbClr val="FFFFFF"/>
            </a:solidFill>
            <a:prstDash val="solid"/>
          </a:ln>
        </p:spPr>
        <p:txBody>
          <a:bodyPr/>
          <a:lstStyle/>
          <a:p>
            <a:endParaRPr/>
          </a:p>
        </p:txBody>
      </p:sp>
      <p:sp>
        <p:nvSpPr>
          <p:cNvPr id="27" name="Text 25">
            <a:extLst>
              <a:ext uri="{FF2B5EF4-FFF2-40B4-BE49-F238E27FC236}">
                <a16:creationId xmlns:a16="http://schemas.microsoft.com/office/drawing/2014/main" id="{61CC8242-4E45-40A8-87AC-2784B4CF90AE}"/>
              </a:ext>
            </a:extLst>
          </p:cNvPr>
          <p:cNvSpPr>
            <a:spLocks noGrp="1"/>
          </p:cNvSpPr>
          <p:nvPr/>
        </p:nvSpPr>
        <p:spPr>
          <a:xfrm>
            <a:off x="6647688" y="5294376"/>
            <a:ext cx="2551176" cy="228600"/>
          </a:xfrm>
          <a:prstGeom prst="rect">
            <a:avLst/>
          </a:prstGeom>
          <a:noFill/>
        </p:spPr>
        <p:txBody>
          <a:bodyPr wrap="square" lIns="0" tIns="0" rIns="0" bIns="0" anchor="t">
            <a:noAutofit/>
          </a:bodyPr>
          <a:lstStyle>
            <a:defPPr algn="l">
              <a:defRPr sz="1200" b="1">
                <a:solidFill>
                  <a:srgbClr val="193F2A"/>
                </a:solidFill>
                <a:latin typeface="Aptos"/>
                <a:ea typeface="Aptos"/>
                <a:cs typeface="Aptos"/>
              </a:defRPr>
            </a:defPPr>
          </a:lstStyle>
          <a:p>
            <a:pPr marL="0" indent="0" algn="l">
              <a:buNone/>
              <a:defRPr sz="1200" b="1">
                <a:solidFill>
                  <a:srgbClr val="193F2A"/>
                </a:solidFill>
                <a:latin typeface="Aptos"/>
                <a:ea typeface="Aptos"/>
                <a:cs typeface="Aptos"/>
              </a:defRPr>
            </a:pPr>
            <a:r>
              <a:rPr sz="1200" b="1" dirty="0">
                <a:solidFill>
                  <a:srgbClr val="193F2A"/>
                </a:solidFill>
                <a:latin typeface="Aptos"/>
                <a:ea typeface="Aptos"/>
                <a:cs typeface="Aptos"/>
              </a:rPr>
              <a:t>Git evidence: to document</a:t>
            </a:r>
            <a:endParaRPr sz="1200" dirty="0"/>
          </a:p>
        </p:txBody>
      </p:sp>
      <p:sp>
        <p:nvSpPr>
          <p:cNvPr id="28" name="section-label">
            <a:extLst>
              <a:ext uri="{FF2B5EF4-FFF2-40B4-BE49-F238E27FC236}">
                <a16:creationId xmlns:a16="http://schemas.microsoft.com/office/drawing/2014/main" id="{72927290-079B-4B88-BF04-7A331B887BBE}"/>
              </a:ext>
            </a:extLst>
          </p:cNvPr>
          <p:cNvSpPr>
            <a:spLocks noGrp="1"/>
          </p:cNvSpPr>
          <p:nvPr/>
        </p:nvSpPr>
        <p:spPr>
          <a:xfrm>
            <a:off x="658368" y="342900"/>
            <a:ext cx="8382000" cy="228600"/>
          </a:xfrm>
          <a:prstGeom prst="rect">
            <a:avLst/>
          </a:prstGeom>
          <a:noFill/>
          <a:ln w="0">
            <a:noFill/>
          </a:ln>
        </p:spPr>
        <p:txBody>
          <a:bodyPr wrap="square" lIns="0" tIns="0" rIns="0" bIns="0" anchor="t">
            <a:noAutofit/>
          </a:bodyPr>
          <a:lstStyle>
            <a:defPPr algn="l">
              <a:defRPr sz="1100" b="1">
                <a:solidFill>
                  <a:srgbClr val="2D7040"/>
                </a:solidFill>
                <a:latin typeface="Aptos"/>
                <a:ea typeface="Aptos"/>
                <a:cs typeface="Aptos"/>
              </a:defRPr>
            </a:defPPr>
          </a:lstStyle>
          <a:p>
            <a:pPr algn="l">
              <a:defRPr sz="1100" b="1">
                <a:solidFill>
                  <a:srgbClr val="2D7040"/>
                </a:solidFill>
                <a:latin typeface="Aptos"/>
                <a:ea typeface="Aptos"/>
                <a:cs typeface="Aptos"/>
              </a:defRPr>
            </a:pPr>
            <a:r>
              <a:rPr sz="1100" b="1" dirty="0">
                <a:solidFill>
                  <a:srgbClr val="2D7040"/>
                </a:solidFill>
                <a:latin typeface="Aptos"/>
                <a:ea typeface="Aptos"/>
                <a:cs typeface="Aptos"/>
              </a:rPr>
              <a:t>02 / DESIGN </a:t>
            </a:r>
            <a:r>
              <a:rPr lang="en-NZ" sz="1100" b="1" dirty="0">
                <a:solidFill>
                  <a:srgbClr val="2D7040"/>
                </a:solidFill>
                <a:latin typeface="Aptos"/>
                <a:ea typeface="Aptos"/>
                <a:cs typeface="Aptos"/>
              </a:rPr>
              <a:t>–</a:t>
            </a:r>
            <a:r>
              <a:rPr sz="1100" b="1" dirty="0">
                <a:solidFill>
                  <a:srgbClr val="2D7040"/>
                </a:solidFill>
                <a:latin typeface="Aptos"/>
                <a:ea typeface="Aptos"/>
                <a:cs typeface="Aptos"/>
              </a:rPr>
              <a:t> </a:t>
            </a:r>
            <a:r>
              <a:rPr lang="en-AU" sz="1100" b="1" dirty="0">
                <a:solidFill>
                  <a:srgbClr val="2D7040"/>
                </a:solidFill>
                <a:latin typeface="Aptos"/>
                <a:ea typeface="Aptos"/>
                <a:cs typeface="Aptos"/>
              </a:rPr>
              <a:t>Readme &amp; Git documentation</a:t>
            </a:r>
            <a:endParaRPr sz="1100" b="1" dirty="0">
              <a:solidFill>
                <a:srgbClr val="2D7040"/>
              </a:solidFill>
              <a:latin typeface="Aptos"/>
              <a:ea typeface="Aptos"/>
              <a:cs typeface="Aptos"/>
            </a:endParaRPr>
          </a:p>
        </p:txBody>
      </p:sp>
      <p:pic>
        <p:nvPicPr>
          <p:cNvPr id="30" name="Picture 29">
            <a:extLst>
              <a:ext uri="{FF2B5EF4-FFF2-40B4-BE49-F238E27FC236}">
                <a16:creationId xmlns:a16="http://schemas.microsoft.com/office/drawing/2014/main" id="{507E1232-9208-81AF-7B03-754C365A49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4929" y="4007150"/>
            <a:ext cx="3441700" cy="939800"/>
          </a:xfrm>
          <a:prstGeom prst="rect">
            <a:avLst/>
          </a:prstGeom>
        </p:spPr>
      </p:pic>
    </p:spTree>
    <p:extLst>
      <p:ext uri="{BB962C8B-B14F-4D97-AF65-F5344CB8AC3E}">
        <p14:creationId xmlns:p14="http://schemas.microsoft.com/office/powerpoint/2010/main" val="1056339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8F4"/>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9BE191A-5EC7-4002-8916-2BDC449ED16E}"/>
              </a:ext>
            </a:extLst>
          </p:cNvPr>
          <p:cNvSpPr>
            <a:spLocks noGrp="1"/>
          </p:cNvSpPr>
          <p:nvPr/>
        </p:nvSpPr>
        <p:spPr>
          <a:xfrm>
            <a:off x="0" y="0"/>
            <a:ext cx="105156" cy="6858000"/>
          </a:xfrm>
          <a:prstGeom prst="rect">
            <a:avLst/>
          </a:prstGeom>
          <a:solidFill>
            <a:srgbClr val="2D7040"/>
          </a:solidFill>
          <a:ln w="12700">
            <a:solidFill>
              <a:srgbClr val="2D7040">
                <a:alpha val="0"/>
              </a:srgbClr>
            </a:solidFill>
            <a:prstDash val="solid"/>
          </a:ln>
        </p:spPr>
        <p:txBody>
          <a:bodyPr/>
          <a:lstStyle/>
          <a:p>
            <a:endParaRPr/>
          </a:p>
        </p:txBody>
      </p:sp>
      <p:sp>
        <p:nvSpPr>
          <p:cNvPr id="4" name="Text 2">
            <a:extLst>
              <a:ext uri="{FF2B5EF4-FFF2-40B4-BE49-F238E27FC236}">
                <a16:creationId xmlns:a16="http://schemas.microsoft.com/office/drawing/2014/main" id="{A27551A9-1004-4CF2-9039-E79C4DBD73C8}"/>
              </a:ext>
            </a:extLst>
          </p:cNvPr>
          <p:cNvSpPr>
            <a:spLocks noGrp="1"/>
          </p:cNvSpPr>
          <p:nvPr/>
        </p:nvSpPr>
        <p:spPr>
          <a:xfrm>
            <a:off x="658368" y="771525"/>
            <a:ext cx="10810875" cy="561975"/>
          </a:xfrm>
          <a:prstGeom prst="rect">
            <a:avLst/>
          </a:prstGeom>
          <a:noFill/>
        </p:spPr>
        <p:txBody>
          <a:bodyPr wrap="square" lIns="0" tIns="0" rIns="0" bIns="0" anchor="t">
            <a:noAutofit/>
          </a:bodyPr>
          <a:lstStyle>
            <a:defPPr algn="l">
              <a:defRPr sz="3000" b="1">
                <a:solidFill>
                  <a:srgbClr val="193F2A"/>
                </a:solidFill>
                <a:latin typeface="Aptos"/>
                <a:ea typeface="Aptos"/>
                <a:cs typeface="Aptos"/>
              </a:defRPr>
            </a:defPPr>
          </a:lstStyle>
          <a:p>
            <a:pPr marL="0" indent="0" algn="l">
              <a:buNone/>
              <a:defRPr sz="3000" b="1">
                <a:solidFill>
                  <a:srgbClr val="193F2A"/>
                </a:solidFill>
                <a:latin typeface="Aptos"/>
                <a:ea typeface="Aptos"/>
                <a:cs typeface="Aptos"/>
              </a:defRPr>
            </a:pPr>
            <a:r>
              <a:rPr sz="3000" b="1" dirty="0">
                <a:solidFill>
                  <a:srgbClr val="193F2A"/>
                </a:solidFill>
                <a:latin typeface="Aptos"/>
                <a:ea typeface="Aptos"/>
                <a:cs typeface="Aptos"/>
              </a:rPr>
              <a:t>Next steps to launch</a:t>
            </a:r>
            <a:endParaRPr sz="3000" dirty="0"/>
          </a:p>
        </p:txBody>
      </p:sp>
      <p:sp>
        <p:nvSpPr>
          <p:cNvPr id="6" name="Text 4">
            <a:extLst>
              <a:ext uri="{FF2B5EF4-FFF2-40B4-BE49-F238E27FC236}">
                <a16:creationId xmlns:a16="http://schemas.microsoft.com/office/drawing/2014/main" id="{559BED20-9B0B-4344-A3FB-788AC0BA0F7E}"/>
              </a:ext>
            </a:extLst>
          </p:cNvPr>
          <p:cNvSpPr>
            <a:spLocks noGrp="1"/>
          </p:cNvSpPr>
          <p:nvPr/>
        </p:nvSpPr>
        <p:spPr>
          <a:xfrm>
            <a:off x="10561320" y="338328"/>
            <a:ext cx="1005840" cy="274320"/>
          </a:xfrm>
          <a:prstGeom prst="rect">
            <a:avLst/>
          </a:prstGeom>
          <a:noFill/>
        </p:spPr>
        <p:txBody>
          <a:bodyPr wrap="square" lIns="0" tIns="0" rIns="0" bIns="0" anchor="ctr">
            <a:normAutofit/>
          </a:bodyPr>
          <a:lstStyle/>
          <a:p>
            <a:pPr marL="0" indent="0" algn="r">
              <a:buNone/>
            </a:pPr>
            <a:r>
              <a:rPr sz="1400" b="1" dirty="0">
                <a:solidFill>
                  <a:srgbClr val="193F2A"/>
                </a:solidFill>
                <a:latin typeface="Aptos"/>
                <a:ea typeface="Aptos"/>
                <a:cs typeface="Aptos"/>
              </a:rPr>
              <a:t>FeedBoard</a:t>
            </a:r>
            <a:endParaRPr sz="1400" dirty="0"/>
          </a:p>
        </p:txBody>
      </p:sp>
      <p:sp>
        <p:nvSpPr>
          <p:cNvPr id="7" name="Shape 5">
            <a:extLst>
              <a:ext uri="{FF2B5EF4-FFF2-40B4-BE49-F238E27FC236}">
                <a16:creationId xmlns:a16="http://schemas.microsoft.com/office/drawing/2014/main" id="{B146A355-D9D7-4E30-BF61-9DE893D8065F}"/>
              </a:ext>
            </a:extLst>
          </p:cNvPr>
          <p:cNvSpPr>
            <a:spLocks noGrp="1"/>
          </p:cNvSpPr>
          <p:nvPr/>
        </p:nvSpPr>
        <p:spPr>
          <a:xfrm>
            <a:off x="658368" y="6492240"/>
            <a:ext cx="10844784" cy="0"/>
          </a:xfrm>
          <a:prstGeom prst="line">
            <a:avLst/>
          </a:prstGeom>
          <a:noFill/>
          <a:ln w="11430">
            <a:solidFill>
              <a:srgbClr val="D9E2D9"/>
            </a:solidFill>
            <a:prstDash val="solid"/>
          </a:ln>
        </p:spPr>
        <p:txBody>
          <a:bodyPr/>
          <a:lstStyle/>
          <a:p>
            <a:endParaRPr/>
          </a:p>
        </p:txBody>
      </p:sp>
      <p:sp>
        <p:nvSpPr>
          <p:cNvPr id="8" name="Text 6">
            <a:extLst>
              <a:ext uri="{FF2B5EF4-FFF2-40B4-BE49-F238E27FC236}">
                <a16:creationId xmlns:a16="http://schemas.microsoft.com/office/drawing/2014/main" id="{9927E76A-036B-4BC8-A940-B77E1F56078B}"/>
              </a:ext>
            </a:extLst>
          </p:cNvPr>
          <p:cNvSpPr>
            <a:spLocks noGrp="1"/>
          </p:cNvSpPr>
          <p:nvPr/>
        </p:nvSpPr>
        <p:spPr>
          <a:xfrm>
            <a:off x="667512" y="6556248"/>
            <a:ext cx="4114800" cy="155448"/>
          </a:xfrm>
          <a:prstGeom prst="rect">
            <a:avLst/>
          </a:prstGeom>
          <a:noFill/>
        </p:spPr>
        <p:txBody>
          <a:bodyPr wrap="square" lIns="0" tIns="0" rIns="0" bIns="0" anchor="ctr">
            <a:normAutofit/>
          </a:bodyPr>
          <a:lstStyle/>
          <a:p>
            <a:pPr marL="0" indent="0">
              <a:buNone/>
            </a:pPr>
            <a:r>
              <a:rPr sz="900" b="1" spc="60">
                <a:solidFill>
                  <a:srgbClr val="62736A"/>
                </a:solidFill>
                <a:latin typeface="Aptos"/>
                <a:ea typeface="Aptos"/>
                <a:cs typeface="Aptos"/>
              </a:rPr>
              <a:t>GRAZING + FEED PLANNING</a:t>
            </a:r>
            <a:endParaRPr sz="900"/>
          </a:p>
        </p:txBody>
      </p:sp>
      <p:sp>
        <p:nvSpPr>
          <p:cNvPr id="33" name="section-label">
            <a:extLst>
              <a:ext uri="{FF2B5EF4-FFF2-40B4-BE49-F238E27FC236}">
                <a16:creationId xmlns:a16="http://schemas.microsoft.com/office/drawing/2014/main" id="{7DFBAFA5-CE51-4D56-9023-79F3C49B1294}"/>
              </a:ext>
            </a:extLst>
          </p:cNvPr>
          <p:cNvSpPr>
            <a:spLocks noGrp="1"/>
          </p:cNvSpPr>
          <p:nvPr/>
        </p:nvSpPr>
        <p:spPr>
          <a:xfrm>
            <a:off x="658368" y="342900"/>
            <a:ext cx="8382000" cy="228600"/>
          </a:xfrm>
          <a:prstGeom prst="rect">
            <a:avLst/>
          </a:prstGeom>
          <a:noFill/>
          <a:ln w="0">
            <a:noFill/>
          </a:ln>
        </p:spPr>
        <p:txBody>
          <a:bodyPr wrap="square" lIns="0" tIns="0" rIns="0" bIns="0" anchor="t">
            <a:noAutofit/>
          </a:bodyPr>
          <a:lstStyle>
            <a:defPPr algn="l">
              <a:defRPr sz="1100" b="1">
                <a:solidFill>
                  <a:srgbClr val="2D7040"/>
                </a:solidFill>
                <a:latin typeface="Aptos"/>
                <a:ea typeface="Aptos"/>
                <a:cs typeface="Aptos"/>
              </a:defRPr>
            </a:defPPr>
          </a:lstStyle>
          <a:p>
            <a:pPr algn="l">
              <a:defRPr sz="1100" b="1">
                <a:solidFill>
                  <a:srgbClr val="2D7040"/>
                </a:solidFill>
                <a:latin typeface="Aptos"/>
                <a:ea typeface="Aptos"/>
                <a:cs typeface="Aptos"/>
              </a:defRPr>
            </a:pPr>
            <a:r>
              <a:rPr sz="1100" b="1">
                <a:solidFill>
                  <a:srgbClr val="2D7040"/>
                </a:solidFill>
                <a:latin typeface="Aptos"/>
                <a:ea typeface="Aptos"/>
                <a:cs typeface="Aptos"/>
              </a:rPr>
              <a:t>02 / DESIGN - PLANNING AND NEXT STEPS</a:t>
            </a:r>
          </a:p>
        </p:txBody>
      </p:sp>
      <p:sp>
        <p:nvSpPr>
          <p:cNvPr id="3" name="Text 12">
            <a:extLst>
              <a:ext uri="{FF2B5EF4-FFF2-40B4-BE49-F238E27FC236}">
                <a16:creationId xmlns:a16="http://schemas.microsoft.com/office/drawing/2014/main" id="{EC46DF6B-D6FA-6416-5691-3577E303E3BB}"/>
              </a:ext>
            </a:extLst>
          </p:cNvPr>
          <p:cNvSpPr/>
          <p:nvPr/>
        </p:nvSpPr>
        <p:spPr>
          <a:xfrm>
            <a:off x="852678" y="1584107"/>
            <a:ext cx="7972008" cy="2387526"/>
          </a:xfrm>
          <a:prstGeom prst="rect">
            <a:avLst/>
          </a:prstGeom>
          <a:noFill/>
          <a:ln/>
        </p:spPr>
        <p:txBody>
          <a:bodyPr wrap="square" lIns="0" tIns="0" rIns="0" bIns="0" rtlCol="0" anchor="ctr">
            <a:normAutofit/>
          </a:bodyPr>
          <a:lstStyle/>
          <a:p>
            <a:pPr marL="0" indent="0">
              <a:buNone/>
            </a:pPr>
            <a:r>
              <a:rPr lang="en-US" sz="1700" b="1" dirty="0">
                <a:solidFill>
                  <a:srgbClr val="193F2A"/>
                </a:solidFill>
                <a:latin typeface="Aptos" pitchFamily="34" charset="0"/>
              </a:rPr>
              <a:t>Add additional features</a:t>
            </a:r>
          </a:p>
          <a:p>
            <a:pPr marL="0" indent="0">
              <a:buNone/>
            </a:pPr>
            <a:r>
              <a:rPr lang="en-US" sz="1700" dirty="0"/>
              <a:t>-Consider multi users </a:t>
            </a:r>
          </a:p>
          <a:p>
            <a:pPr marL="0" indent="0">
              <a:buNone/>
            </a:pPr>
            <a:r>
              <a:rPr lang="en-US" sz="1700" dirty="0"/>
              <a:t>-Flexible crop herd allocation.</a:t>
            </a:r>
          </a:p>
          <a:p>
            <a:pPr marL="0" indent="0">
              <a:buNone/>
            </a:pPr>
            <a:r>
              <a:rPr lang="en-US" sz="1700" dirty="0"/>
              <a:t>-add a delete farm section</a:t>
            </a:r>
          </a:p>
          <a:p>
            <a:pPr marL="0" indent="0">
              <a:buNone/>
            </a:pPr>
            <a:endParaRPr lang="en-US" sz="1700" dirty="0"/>
          </a:p>
          <a:p>
            <a:r>
              <a:rPr lang="en-US" sz="1700" b="1" dirty="0">
                <a:solidFill>
                  <a:srgbClr val="193F2A"/>
                </a:solidFill>
                <a:latin typeface="Aptos" pitchFamily="34" charset="0"/>
              </a:rPr>
              <a:t>Simplify Controllers / mutations </a:t>
            </a:r>
          </a:p>
          <a:p>
            <a:r>
              <a:rPr lang="en-US" sz="1700" dirty="0"/>
              <a:t>-Use specific controller functions and keep only saving logic in mutateFarm.</a:t>
            </a:r>
          </a:p>
          <a:p>
            <a:r>
              <a:rPr lang="en-US" sz="1700" dirty="0"/>
              <a:t> </a:t>
            </a:r>
            <a:endParaRPr lang="en-US" sz="1700" b="1" dirty="0">
              <a:solidFill>
                <a:srgbClr val="193F2A"/>
              </a:solidFill>
              <a:latin typeface="Aptos" pitchFamily="34" charset="0"/>
            </a:endParaRPr>
          </a:p>
          <a:p>
            <a:r>
              <a:rPr lang="en-US" sz="1700" b="1" dirty="0">
                <a:solidFill>
                  <a:srgbClr val="193F2A"/>
                </a:solidFill>
                <a:latin typeface="Aptos" pitchFamily="34" charset="0"/>
              </a:rPr>
              <a:t>Remove Stories.jsx </a:t>
            </a:r>
          </a:p>
          <a:p>
            <a:pPr marL="0" indent="0">
              <a:buNone/>
            </a:pPr>
            <a:endParaRPr lang="en-US" sz="1700" dirty="0"/>
          </a:p>
        </p:txBody>
      </p:sp>
      <p:sp>
        <p:nvSpPr>
          <p:cNvPr id="5" name="Text 18">
            <a:extLst>
              <a:ext uri="{FF2B5EF4-FFF2-40B4-BE49-F238E27FC236}">
                <a16:creationId xmlns:a16="http://schemas.microsoft.com/office/drawing/2014/main" id="{7C935953-4A34-6A19-2E2B-5E66F36F8D87}"/>
              </a:ext>
            </a:extLst>
          </p:cNvPr>
          <p:cNvSpPr/>
          <p:nvPr/>
        </p:nvSpPr>
        <p:spPr>
          <a:xfrm>
            <a:off x="868680" y="5146620"/>
            <a:ext cx="4480560" cy="420624"/>
          </a:xfrm>
          <a:prstGeom prst="rect">
            <a:avLst/>
          </a:prstGeom>
          <a:noFill/>
          <a:ln/>
        </p:spPr>
        <p:txBody>
          <a:bodyPr wrap="square" lIns="0" tIns="0" rIns="0" bIns="0" rtlCol="0" anchor="ctr">
            <a:normAutofit/>
          </a:bodyPr>
          <a:lstStyle/>
          <a:p>
            <a:pPr marL="0" indent="0">
              <a:buNone/>
            </a:pPr>
            <a:r>
              <a:rPr lang="en-US" sz="1700" dirty="0">
                <a:solidFill>
                  <a:srgbClr val="193F2A"/>
                </a:solidFill>
                <a:latin typeface="Aptos" pitchFamily="34" charset="0"/>
                <a:ea typeface="Aptos" pitchFamily="34" charset="-122"/>
                <a:cs typeface="Aptos" pitchFamily="34" charset="-120"/>
              </a:rPr>
              <a:t>Complete final testing with additional features</a:t>
            </a:r>
            <a:endParaRPr lang="en-US" sz="1700" dirty="0"/>
          </a:p>
        </p:txBody>
      </p:sp>
      <p:sp>
        <p:nvSpPr>
          <p:cNvPr id="9" name="Text 24">
            <a:extLst>
              <a:ext uri="{FF2B5EF4-FFF2-40B4-BE49-F238E27FC236}">
                <a16:creationId xmlns:a16="http://schemas.microsoft.com/office/drawing/2014/main" id="{CF40ACC1-E44B-ED11-D9E4-38D51B0554AD}"/>
              </a:ext>
            </a:extLst>
          </p:cNvPr>
          <p:cNvSpPr/>
          <p:nvPr/>
        </p:nvSpPr>
        <p:spPr>
          <a:xfrm>
            <a:off x="868680" y="5420939"/>
            <a:ext cx="4480560" cy="420624"/>
          </a:xfrm>
          <a:prstGeom prst="rect">
            <a:avLst/>
          </a:prstGeom>
          <a:noFill/>
          <a:ln/>
        </p:spPr>
        <p:txBody>
          <a:bodyPr wrap="square" lIns="0" tIns="0" rIns="0" bIns="0" rtlCol="0" anchor="ctr">
            <a:normAutofit/>
          </a:bodyPr>
          <a:lstStyle/>
          <a:p>
            <a:pPr marL="0" indent="0">
              <a:buNone/>
            </a:pPr>
            <a:r>
              <a:rPr lang="en-US" sz="1700" dirty="0">
                <a:solidFill>
                  <a:srgbClr val="193F2A"/>
                </a:solidFill>
                <a:latin typeface="Aptos" pitchFamily="34" charset="0"/>
                <a:ea typeface="Aptos" pitchFamily="34" charset="-122"/>
                <a:cs typeface="Aptos" pitchFamily="34" charset="-120"/>
              </a:rPr>
              <a:t>Connect to Docker + AWS </a:t>
            </a:r>
            <a:endParaRPr lang="en-US" sz="1700" dirty="0"/>
          </a:p>
        </p:txBody>
      </p:sp>
      <p:sp>
        <p:nvSpPr>
          <p:cNvPr id="10" name="Text 30">
            <a:extLst>
              <a:ext uri="{FF2B5EF4-FFF2-40B4-BE49-F238E27FC236}">
                <a16:creationId xmlns:a16="http://schemas.microsoft.com/office/drawing/2014/main" id="{A8B8767C-0A93-9532-A1E5-ED98BDCF22F2}"/>
              </a:ext>
            </a:extLst>
          </p:cNvPr>
          <p:cNvSpPr/>
          <p:nvPr/>
        </p:nvSpPr>
        <p:spPr>
          <a:xfrm>
            <a:off x="868680" y="5665851"/>
            <a:ext cx="4480560" cy="420624"/>
          </a:xfrm>
          <a:prstGeom prst="rect">
            <a:avLst/>
          </a:prstGeom>
          <a:noFill/>
          <a:ln/>
        </p:spPr>
        <p:txBody>
          <a:bodyPr wrap="square" lIns="0" tIns="0" rIns="0" bIns="0" rtlCol="0" anchor="ctr">
            <a:normAutofit/>
          </a:bodyPr>
          <a:lstStyle/>
          <a:p>
            <a:pPr marL="0" indent="0">
              <a:buNone/>
            </a:pPr>
            <a:r>
              <a:rPr lang="en-US" sz="1700" dirty="0">
                <a:solidFill>
                  <a:srgbClr val="193F2A"/>
                </a:solidFill>
                <a:latin typeface="Aptos" pitchFamily="34" charset="0"/>
                <a:ea typeface="Aptos" pitchFamily="34" charset="-122"/>
                <a:cs typeface="Aptos" pitchFamily="34" charset="-120"/>
              </a:rPr>
              <a:t>Backend server + HTTPS domain</a:t>
            </a:r>
            <a:endParaRPr lang="en-US" sz="1700" dirty="0"/>
          </a:p>
        </p:txBody>
      </p:sp>
    </p:spTree>
    <p:extLst>
      <p:ext uri="{BB962C8B-B14F-4D97-AF65-F5344CB8AC3E}">
        <p14:creationId xmlns:p14="http://schemas.microsoft.com/office/powerpoint/2010/main" val="1021584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5ECD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EC3A5FC-2117-4842-AD77-1F672E40469B}"/>
              </a:ext>
            </a:extLst>
          </p:cNvPr>
          <p:cNvSpPr>
            <a:spLocks noGrp="1"/>
          </p:cNvSpPr>
          <p:nvPr/>
        </p:nvSpPr>
        <p:spPr>
          <a:xfrm>
            <a:off x="0" y="0"/>
            <a:ext cx="118872" cy="6858000"/>
          </a:xfrm>
          <a:prstGeom prst="rect">
            <a:avLst/>
          </a:prstGeom>
          <a:solidFill>
            <a:srgbClr val="2D7040"/>
          </a:solidFill>
          <a:ln w="12700">
            <a:solidFill>
              <a:srgbClr val="2D7040"/>
            </a:solidFill>
            <a:prstDash val="solid"/>
          </a:ln>
        </p:spPr>
        <p:txBody>
          <a:bodyPr/>
          <a:lstStyle/>
          <a:p>
            <a:endParaRPr/>
          </a:p>
        </p:txBody>
      </p:sp>
      <p:pic>
        <p:nvPicPr>
          <p:cNvPr id="3" name="Image 0">
            <a:extLst>
              <a:ext uri="{FF2B5EF4-FFF2-40B4-BE49-F238E27FC236}">
                <a16:creationId xmlns:a16="http://schemas.microsoft.com/office/drawing/2014/main" id="{3FE33905-22F1-4517-9B10-3D327D0694AB}"/>
              </a:ext>
            </a:extLst>
          </p:cNvPr>
          <p:cNvPicPr>
            <a:picLocks noChangeAspect="1"/>
          </p:cNvPicPr>
          <p:nvPr/>
        </p:nvPicPr>
        <p:blipFill>
          <a:blip r:embed="rId3"/>
          <a:stretch>
            <a:fillRect/>
          </a:stretch>
        </p:blipFill>
        <p:spPr>
          <a:xfrm>
            <a:off x="722376" y="998843"/>
            <a:ext cx="3512180" cy="1152144"/>
          </a:xfrm>
          <a:prstGeom prst="rect">
            <a:avLst/>
          </a:prstGeom>
        </p:spPr>
      </p:pic>
      <p:sp>
        <p:nvSpPr>
          <p:cNvPr id="4" name="Text 1">
            <a:extLst>
              <a:ext uri="{FF2B5EF4-FFF2-40B4-BE49-F238E27FC236}">
                <a16:creationId xmlns:a16="http://schemas.microsoft.com/office/drawing/2014/main" id="{881C6E58-BB0C-4C7C-8217-B967201E6F41}"/>
              </a:ext>
            </a:extLst>
          </p:cNvPr>
          <p:cNvSpPr>
            <a:spLocks noGrp="1"/>
          </p:cNvSpPr>
          <p:nvPr/>
        </p:nvSpPr>
        <p:spPr>
          <a:xfrm>
            <a:off x="786384" y="3013316"/>
            <a:ext cx="5623560" cy="1417320"/>
          </a:xfrm>
          <a:prstGeom prst="rect">
            <a:avLst/>
          </a:prstGeom>
          <a:noFill/>
        </p:spPr>
        <p:txBody>
          <a:bodyPr wrap="square" lIns="0" tIns="0" rIns="0" bIns="0" anchor="t">
            <a:normAutofit/>
          </a:bodyPr>
          <a:lstStyle/>
          <a:p>
            <a:pPr marL="0" indent="0">
              <a:buNone/>
            </a:pPr>
            <a:r>
              <a:rPr sz="3400" b="1">
                <a:solidFill>
                  <a:srgbClr val="193F2A"/>
                </a:solidFill>
                <a:latin typeface="Aptos"/>
                <a:ea typeface="Aptos"/>
                <a:cs typeface="Aptos"/>
              </a:rPr>
              <a:t>A clearer grazing plan,</a:t>
            </a:r>
            <a:endParaRPr sz="3400"/>
          </a:p>
          <a:p>
            <a:pPr marL="0" indent="0">
              <a:buNone/>
            </a:pPr>
            <a:r>
              <a:rPr sz="3400" b="1">
                <a:solidFill>
                  <a:srgbClr val="193F2A"/>
                </a:solidFill>
                <a:latin typeface="Aptos"/>
                <a:ea typeface="Aptos"/>
                <a:cs typeface="Aptos"/>
              </a:rPr>
              <a:t>with the maths built in.</a:t>
            </a:r>
            <a:endParaRPr sz="3400"/>
          </a:p>
        </p:txBody>
      </p:sp>
      <p:sp>
        <p:nvSpPr>
          <p:cNvPr id="6" name="Text 3">
            <a:extLst>
              <a:ext uri="{FF2B5EF4-FFF2-40B4-BE49-F238E27FC236}">
                <a16:creationId xmlns:a16="http://schemas.microsoft.com/office/drawing/2014/main" id="{1308BC10-61D6-4475-8CD9-F37D138C88DF}"/>
              </a:ext>
            </a:extLst>
          </p:cNvPr>
          <p:cNvSpPr>
            <a:spLocks noGrp="1"/>
          </p:cNvSpPr>
          <p:nvPr/>
        </p:nvSpPr>
        <p:spPr>
          <a:xfrm>
            <a:off x="722376" y="5212080"/>
            <a:ext cx="5486400" cy="585216"/>
          </a:xfrm>
          <a:prstGeom prst="rect">
            <a:avLst/>
          </a:prstGeom>
          <a:noFill/>
        </p:spPr>
        <p:txBody>
          <a:bodyPr wrap="square" lIns="0" tIns="0" rIns="0" bIns="0" anchor="ctr">
            <a:normAutofit/>
          </a:bodyPr>
          <a:lstStyle/>
          <a:p>
            <a:pPr marL="0" indent="0">
              <a:buNone/>
            </a:pPr>
            <a:endParaRPr sz="1600" dirty="0"/>
          </a:p>
        </p:txBody>
      </p:sp>
      <p:sp>
        <p:nvSpPr>
          <p:cNvPr id="7" name="Shape 4">
            <a:extLst>
              <a:ext uri="{FF2B5EF4-FFF2-40B4-BE49-F238E27FC236}">
                <a16:creationId xmlns:a16="http://schemas.microsoft.com/office/drawing/2014/main" id="{36ED7E32-70C8-4529-9C3E-9A3D95306BC9}"/>
              </a:ext>
            </a:extLst>
          </p:cNvPr>
          <p:cNvSpPr>
            <a:spLocks noGrp="1"/>
          </p:cNvSpPr>
          <p:nvPr/>
        </p:nvSpPr>
        <p:spPr>
          <a:xfrm>
            <a:off x="6611112" y="1130853"/>
            <a:ext cx="4736592" cy="4069080"/>
          </a:xfrm>
          <a:prstGeom prst="roundRect">
            <a:avLst>
              <a:gd name="adj" fmla="val 2697"/>
            </a:avLst>
          </a:prstGeom>
          <a:solidFill>
            <a:srgbClr val="FFFFFF"/>
          </a:solidFill>
          <a:ln w="8890">
            <a:solidFill>
              <a:srgbClr val="D9E2D9"/>
            </a:solidFill>
            <a:prstDash val="solid"/>
          </a:ln>
        </p:spPr>
        <p:txBody>
          <a:bodyPr/>
          <a:lstStyle/>
          <a:p>
            <a:endParaRPr/>
          </a:p>
        </p:txBody>
      </p:sp>
      <p:pic>
        <p:nvPicPr>
          <p:cNvPr id="8" name="Image 1">
            <a:extLst>
              <a:ext uri="{FF2B5EF4-FFF2-40B4-BE49-F238E27FC236}">
                <a16:creationId xmlns:a16="http://schemas.microsoft.com/office/drawing/2014/main" id="{42D124F2-C9FD-4986-957F-0C024A319D0B}"/>
              </a:ext>
            </a:extLst>
          </p:cNvPr>
          <p:cNvPicPr>
            <a:picLocks noChangeAspect="1"/>
          </p:cNvPicPr>
          <p:nvPr/>
        </p:nvPicPr>
        <p:blipFill>
          <a:blip r:embed="rId4"/>
          <a:stretch>
            <a:fillRect/>
          </a:stretch>
        </p:blipFill>
        <p:spPr>
          <a:xfrm>
            <a:off x="6675120" y="1955960"/>
            <a:ext cx="4608576" cy="2418866"/>
          </a:xfrm>
          <a:prstGeom prst="rect">
            <a:avLst/>
          </a:prstGeom>
        </p:spPr>
      </p:pic>
      <p:sp>
        <p:nvSpPr>
          <p:cNvPr id="9" name="Text 5">
            <a:extLst>
              <a:ext uri="{FF2B5EF4-FFF2-40B4-BE49-F238E27FC236}">
                <a16:creationId xmlns:a16="http://schemas.microsoft.com/office/drawing/2014/main" id="{8326F368-ED13-4D48-8C9F-1972A7666001}"/>
              </a:ext>
            </a:extLst>
          </p:cNvPr>
          <p:cNvSpPr>
            <a:spLocks noGrp="1"/>
          </p:cNvSpPr>
          <p:nvPr/>
        </p:nvSpPr>
        <p:spPr>
          <a:xfrm>
            <a:off x="8257032" y="5760720"/>
            <a:ext cx="2862072" cy="438912"/>
          </a:xfrm>
          <a:prstGeom prst="rect">
            <a:avLst/>
          </a:prstGeom>
          <a:noFill/>
        </p:spPr>
        <p:txBody>
          <a:bodyPr wrap="square" lIns="0" tIns="0" rIns="0" bIns="0" anchor="ctr">
            <a:normAutofit/>
          </a:bodyPr>
          <a:lstStyle/>
          <a:p>
            <a:pPr marL="0" indent="0" algn="r">
              <a:buNone/>
            </a:pPr>
            <a:r>
              <a:rPr sz="2300" b="1">
                <a:solidFill>
                  <a:srgbClr val="2D7040"/>
                </a:solidFill>
                <a:latin typeface="Aptos"/>
                <a:ea typeface="Aptos"/>
                <a:cs typeface="Aptos"/>
              </a:rPr>
              <a:t>Questions?</a:t>
            </a:r>
            <a:endParaRPr sz="2300"/>
          </a:p>
        </p:txBody>
      </p:sp>
    </p:spTree>
    <p:extLst>
      <p:ext uri="{BB962C8B-B14F-4D97-AF65-F5344CB8AC3E}">
        <p14:creationId xmlns:p14="http://schemas.microsoft.com/office/powerpoint/2010/main" val="20527957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12080</TotalTime>
  <Words>5197</Words>
  <Application>Microsoft Macintosh PowerPoint</Application>
  <DocSecurity>0</DocSecurity>
  <PresentationFormat>Widescreen</PresentationFormat>
  <Paragraphs>452</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vt:lpstr>
      <vt:lpstr>Arial</vt:lpstr>
      <vt:lpstr>DejaVu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Rose McEwan</cp:lastModifiedBy>
  <cp:revision>3</cp:revision>
  <dcterms:created xsi:type="dcterms:W3CDTF">2026-10-09T19:01:53Z</dcterms:created>
  <dcterms:modified xsi:type="dcterms:W3CDTF">2026-10-18T04:54:01Z</dcterms:modified>
</cp:coreProperties>
</file>